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i="0">
                <a:solidFill>
                  <a:srgbClr val="1B2F5B"/>
                </a:solidFill>
                <a:latin typeface="Calibri"/>
              </a:rPr>
              <a:t>37 alertes Dependabot sur notre dépôt</a:t>
            </a:r>
          </a:p>
        </c:rich>
      </c:tx>
      <c:layout/>
      <c:overlay val="0"/>
    </c:title>
    <c:autoTitleDeleted val="0"/>
    <c:plotArea>
      <c:barChart>
        <c:barDir val="bar"/>
        <c:grouping val="clustered"/>
        <c:ser>
          <c:idx val="0"/>
          <c:order val="0"/>
          <c:tx>
            <c:strRef>
              <c:f>Sheet1!$B$1</c:f>
              <c:strCache>
                <c:ptCount val="1"/>
                <c:pt idx="0">
                  <c:v>Alertes</c:v>
                </c:pt>
              </c:strCache>
            </c:strRef>
          </c:tx>
          <c:spPr>
            <a:solidFill>
              <a:srgbClr val="1B2F5B"/>
            </a:solidFill>
          </c:spPr>
          <c:cat>
            <c:strRef>
              <c:f>Sheet1!$A$2:$A$5</c:f>
              <c:strCache>
                <c:ptCount val="4"/>
                <c:pt idx="0">
                  <c:v>esbuild</c:v>
                </c:pt>
                <c:pt idx="1">
                  <c:v>vite</c:v>
                </c:pt>
                <c:pt idx="2">
                  <c:v>lodash</c:v>
                </c:pt>
                <c:pt idx="3">
                  <c:v>axios</c:v>
                </c:pt>
              </c:strCache>
            </c:strRef>
          </c:cat>
          <c:val>
            <c:numRef>
              <c:f>Sheet1!$B$2:$B$5</c:f>
              <c:numCache>
                <c:formatCode>General</c:formatCode>
                <c:ptCount val="4"/>
                <c:pt idx="0">
                  <c:v>1</c:v>
                </c:pt>
                <c:pt idx="1">
                  <c:v>3</c:v>
                </c:pt>
                <c:pt idx="2">
                  <c:v>6</c:v>
                </c:pt>
                <c:pt idx="3">
                  <c:v>27</c:v>
                </c:pt>
              </c:numCache>
            </c:numRef>
          </c:val>
        </c:ser>
        <c:dLbls>
          <c:txPr>
            <a:bodyPr/>
            <a:lstStyle/>
            <a:p>
              <a:pPr>
                <a:defRPr sz="1600" b="1">
                  <a:solidFill>
                    <a:srgbClr val="1B2F5B"/>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600">
                <a:solidFill>
                  <a:srgbClr val="1B2F5B"/>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600">
          <a:solidFill>
            <a:srgbClr val="1B2F5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30 s.</a:t>
            </a:r>
          </a:p>
          <a:p>
            <a:r>
              <a:t>Bonjour. Nous allons vous présenter Dependabot, un outil de GitHub qu'aucun de nous deux n'avait utilisé avant ce projet.</a:t>
            </a:r>
          </a:p>
          <a:p>
            <a:r>
              <a:t>Retenez ces quatre mots, ils structurent toute la présentation et la démo : Détecter, Proposer, Vérifier, Décider. Dependabot fait les deux premiers ; le pipeline CI fait le troisième ; l'équipe fait le quatrième.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30.</a:t>
            </a:r>
          </a:p>
          <a:p>
            <a:r>
              <a:t>Notre application de démo est une petite appli React qui utilise axios, la bibliothèque la plus utilisée pour faire des requêtes HTTP en JavaScript. Nous sommes volontairement partis de la version 0.18.0, sortie en février 2018.</a:t>
            </a:r>
          </a:p>
          <a:p>
            <a:r>
              <a:t>Elle fonctionne parfaitement. Et pourtant : en mai 2019, une première faille est publiée ; à l'activation de Dependabot sur notre dépôt, 25 failles la concernaient, dont 11 de gravité élevée.</a:t>
            </a:r>
          </a:p>
          <a:p>
            <a:r>
              <a:t>À droite, tout ce que Dependabot a remonté sur notre dépôt en trois jours : 37 alertes, sur axios, lodash, vite et esbuild — esbuild que nous n'avons jamais installé nous-mêmes : c'est une dépendance de vite.</a:t>
            </a:r>
          </a:p>
          <a:p>
            <a:r>
              <a:t>Le message clé : le code n'a pas bougé, c'est le risque qui a augmenté. Et l'oubli coûte cher : chez Equifax en 2017, le correctif existait depuis deux mois ; il n'a pas été appliqué, 147 millions de personnes ont vu leurs données exposées.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Dependabot est un robot intégré à GitHub. Racheté par GitHub en 2019, il est gratuit et il n'y a rien à installer : on l'active dans les paramètres du dépôt (Settings, Advanced Security).</a:t>
            </a:r>
          </a:p>
          <a:p>
            <a:r>
              <a:t>Trois fonctions. Un : les alertes, qui signalent une dépendance vulnérable avec sa gravité et la version qui corrige. Deux : les security updates, une pull request ouverte automatiquement vers une version corrigée. Ces deux-là marchent sans aucune configuration.</a:t>
            </a:r>
          </a:p>
          <a:p>
            <a:r>
              <a:t>Trois : les version updates, des pull requests planifiées pour suivre les nouvelles versions, même sans faille. Pour celles-ci, il faut le fichier .github/dependabot.yml.</a:t>
            </a:r>
          </a:p>
          <a:p>
            <a:r>
              <a:t>Il couvre une trentaine d'écosystèmes : npm pour nous, mais aussi pip, Maven, Docker ou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30. C'est la diapo la plus importante.</a:t>
            </a:r>
          </a:p>
          <a:p>
            <a:r>
              <a:t>Étape 1, DÉTECTER : GitHub construit le graphe de dépendances, toutes les versions installées, même indirectes, et le compare à la GitHub Advisory Database, la base des failles connues. Version dans une plage vulnérable = alerte.</a:t>
            </a:r>
          </a:p>
          <a:p>
            <a:r>
              <a:t>Étape 2, PROPOSER : Dependabot ouvre une pull request avec la nouvelle version, les notes de version et le changelog. Il s'arrête là.</a:t>
            </a:r>
          </a:p>
          <a:p>
            <a:r>
              <a:t>Étape 3, VÉRIFIER : cette PR déclenche notre pipeline CI, un workflow GitHub Actions qui fait npm ci, npm test et npm run build. Dependabot, lui, ne lance aucun test.</a:t>
            </a:r>
          </a:p>
          <a:p>
            <a:r>
              <a:t>Étape 4, DÉCIDER : un humain relit et fusionne si le CI est vert.</a:t>
            </a:r>
          </a:p>
          <a:p>
            <a:r>
              <a:t>À retenir : Dependabot ne remplace pas le CI/CD, il l'alimente. Vous verrez dans la démo ce qui arrive quand on saute l'étape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Dependabot ouvre deux sortes de pull requests.</a:t>
            </a:r>
          </a:p>
          <a:p>
            <a:r>
              <a:t>À gauche, les mises à jour de SÉCURITÉ : déclenchées par une alerte, ouvertes tout de suite, sans limite de nombre, et elles visent une version qui corrige la faille, pas forcément la dernière. Chez nous : PR n° 9, axios 0.18.0 vers 0.33.0, juste ce qu'il faut pour fermer les 25 alertes.</a:t>
            </a:r>
          </a:p>
          <a:p>
            <a:r>
              <a:t>À droite, les mises à jour de VERSION : déclenchées par le calendrier de dependabot.yml, chez nous chaque jour, avec au maximum 5 PR ouvertes à la fois. Elles visent la dernière version publiée : PR n° 8, axios vers 1.20.0, une version majeure.</a:t>
            </a:r>
          </a:p>
          <a:p>
            <a:r>
              <a:t>Le 30 septembre, deux nouvelles failles ont été publiées sur axios : Dependabot a ouvert tout seul une PR de sécurité groupée, la n° 11, axios 0.34.0 et lodash 4.18.1.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Voici le fichier de notre dépôt, tel qu'il est aujourd'hui. Six lignes.</a:t>
            </a:r>
          </a:p>
          <a:p>
            <a:r>
              <a:t>version: 2, c'est la version du format. Sous updates, un bloc par écosystème.</a:t>
            </a:r>
          </a:p>
          <a:p>
            <a:r>
              <a:t>1, package-ecosystem : QUOI surveiller, ici npm, donc le package.json et le package-lock.json. 2, directory : OÙ se trouve le package.json, ici la racine. 3, schedule interval : QUAND vérifier, ici chaque jour.</a:t>
            </a:r>
          </a:p>
          <a:p>
            <a:r>
              <a:t>Tout ce qui n'est pas écrit prend sa valeur par défaut : 5 PR de version ouvertes au maximum — c'est exactement ce qu'on a dans le dépôt —, pas de regroupement, pas d'exclusion, et 3 jours d'attente avant de proposer une nouvelle version.</a:t>
            </a:r>
          </a:p>
          <a:p>
            <a:r>
              <a:t>Notre première version du fichier était plus riche, avec des groupes. Nous l'avons simplifiée le 28 septembre ; la démo va montrer ce que ça a changé.</a:t>
            </a:r>
          </a:p>
          <a:p>
            <a:r>
              <a:t>Et sans ce fichier du tout : les alertes et les PR de sécurité fonctionnent quand même.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30 s d'annonce, puis 6 à 7 min de démo.</a:t>
            </a:r>
          </a:p>
          <a:p>
            <a:r>
              <a:t>1. DÉTECTER : onglet Security, Dependabot alerts, filtre Closed : 37 alertes, axios en tête. Ouvrir CVE-2025-27152 (gravité élevée) : versions touchées, version corrigée.</a:t>
            </a:r>
          </a:p>
          <a:p>
            <a:r>
              <a:t>2. PROPOSER : onglet Pull requests, filtre author:app/dependabot. Ouvrir la n° 9 (sécurité, axios 0.18.0 → 0.33.0) : notes de version « Security Fixes », onglet Files changed (seuls package.json et package-lock.json changent). Comparer avec la n° 8 (version, axios → 1.20.0).</a:t>
            </a:r>
          </a:p>
          <a:p>
            <a:r>
              <a:t>3. VÉRIFIER : la n° 1 (vite + plugin-react groupés) a un check vert. La n° 10 (vite seul, 5 → 8) a un check rouge : ouvrir le log de npm ci, erreur ERESOLVE.</a:t>
            </a:r>
          </a:p>
          <a:p>
            <a:r>
              <a:t>4. DÉCIDER : la n° 10 a été fusionnée malgré le rouge. Onglet Actions : depuis, le CI échoue sur main. Message : sans protection de branche, rien n'empêche de fusionner du rouge.</a:t>
            </a:r>
          </a:p>
          <a:p>
            <a:r>
              <a:t>Plan B si le réseau fait défaut : commandes gh pr list / gh pr checks / gh run list, ou captures d'écran.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Ce que la démo vient de montrer, en une frise.</a:t>
            </a:r>
          </a:p>
          <a:p>
            <a:r>
              <a:t>15 h 34 : Dependabot propose vite 5 → 8 ET son plugin React ensemble, dans une PR groupée : le CI est vert.</a:t>
            </a:r>
          </a:p>
          <a:p>
            <a:r>
              <a:t>15 h 36 : il ouvre aussi une PR de sécurité qui monte vite seul. Le CI la marque en rouge : le plugin React 4 n'accepte pas vite 8.</a:t>
            </a:r>
          </a:p>
          <a:p>
            <a:r>
              <a:t>15 h 37 : nous simplifions dependabot.yml, les groupes disparaissent, Dependabot ferme la PR verte.</a:t>
            </a:r>
          </a:p>
          <a:p>
            <a:r>
              <a:t>15 h 45 : la PR rouge est fusionnée quand même — rien ne l'interdisait. Depuis, le CI échoue sur main.</a:t>
            </a:r>
          </a:p>
          <a:p>
            <a:r>
              <a:t>Dependabot a fait son travail, le CI aussi : il avait prévenu. C'est la règle « on ne fusionne que du vert » qui a manqué. Deux remèdes : protéger la branche main pour rendre le check obligatoire, et regrouper les paquets qui ne marchent qu'ensemble.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a:t>
            </a:r>
          </a:p>
          <a:p>
            <a:r>
              <a:t>Quatre choses à retenir. Un : Dependabot détecte et propose, rien de plus. Deux : deux modes, sécurité immédiate sans configuration, versions planifiées via dependabot.yml. Trois : il est indissociable du pipeline CI, et d'une branche protégée — notre dépôt l'a montré. Quatre : il se règle, avec les groupes, les exclusions, la limite de PR et le délai d'attente.</a:t>
            </a:r>
          </a:p>
          <a:p>
            <a:r>
              <a:t>Côté vigilance : trop de PR tue la relecture ; une mise à jour, même de sécurité, peut casser le projet ; une alerte ne veut pas dire que la faille est exploitable chez vous ; et une nouvelle version n'est pas forcément sûre : le 31 mars 2026, axios lui-même a été piraté sur npm pendant environ 3 heures. C'est pour ça que Dependabot attend désormais 3 jours avant de proposer une nouvelle version, sauf pour les correctifs de sécurité.</a:t>
            </a:r>
          </a:p>
          <a:p>
            <a:r>
              <a:t>Merci, nous prenons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Logo Dependabot" descr="Logo de Dependabot"/>
          <p:cNvPicPr>
            <a:picLocks noChangeAspect="1"/>
          </p:cNvPicPr>
          <p:nvPr/>
        </p:nvPicPr>
        <p:blipFill>
          <a:blip r:embed="rId2"/>
          <a:stretch>
            <a:fillRect/>
          </a:stretch>
        </p:blipFill>
        <p:spPr>
          <a:xfrm>
            <a:off x="914400" y="1600200"/>
            <a:ext cx="2468880" cy="2468880"/>
          </a:xfrm>
          <a:prstGeom prst="rect">
            <a:avLst/>
          </a:prstGeom>
        </p:spPr>
      </p:pic>
      <p:sp>
        <p:nvSpPr>
          <p:cNvPr id="3" name="Titre"/>
          <p:cNvSpPr txBox="1"/>
          <p:nvPr/>
        </p:nvSpPr>
        <p:spPr>
          <a:xfrm>
            <a:off x="3931920" y="1554480"/>
            <a:ext cx="7680960" cy="1097280"/>
          </a:xfrm>
          <a:prstGeom prst="rect">
            <a:avLst/>
          </a:prstGeom>
          <a:noFill/>
        </p:spPr>
        <p:txBody>
          <a:bodyPr wrap="square" lIns="0" rIns="0" tIns="0" bIns="0" anchor="ctr">
            <a:noAutofit/>
          </a:bodyPr>
          <a:lstStyle/>
          <a:p>
            <a:pPr algn="l"/>
            <a:r>
              <a:rPr sz="6000" b="1" i="0">
                <a:solidFill>
                  <a:srgbClr val="1B2F5B"/>
                </a:solidFill>
                <a:latin typeface="Calibri"/>
              </a:rPr>
              <a:t>Dependabot</a:t>
            </a:r>
          </a:p>
        </p:txBody>
      </p:sp>
      <p:sp>
        <p:nvSpPr>
          <p:cNvPr id="4" name="Sous-titre"/>
          <p:cNvSpPr txBox="1"/>
          <p:nvPr/>
        </p:nvSpPr>
        <p:spPr>
          <a:xfrm>
            <a:off x="3931920" y="2697480"/>
            <a:ext cx="7680960" cy="914400"/>
          </a:xfrm>
          <a:prstGeom prst="rect">
            <a:avLst/>
          </a:prstGeom>
          <a:noFill/>
        </p:spPr>
        <p:txBody>
          <a:bodyPr wrap="square" lIns="0" rIns="0" tIns="0" bIns="0" anchor="t">
            <a:noAutofit/>
          </a:bodyPr>
          <a:lstStyle/>
          <a:p>
            <a:pPr algn="l"/>
            <a:r>
              <a:rPr sz="2400" b="0" i="0">
                <a:solidFill>
                  <a:srgbClr val="2F6DB5"/>
                </a:solidFill>
                <a:latin typeface="Calibri"/>
              </a:rPr>
              <a:t>Mettre à jour ses dépendances automatiquement… sans casser son projet</a:t>
            </a:r>
          </a:p>
        </p:txBody>
      </p:sp>
      <p:sp>
        <p:nvSpPr>
          <p:cNvPr id="5" name="Étape 1"/>
          <p:cNvSpPr/>
          <p:nvPr/>
        </p:nvSpPr>
        <p:spPr>
          <a:xfrm>
            <a:off x="3931920" y="3840480"/>
            <a:ext cx="1691640" cy="548640"/>
          </a:xfrm>
          <a:prstGeom prst="roundRect">
            <a:avLst>
              <a:gd name="adj" fmla="val 16666"/>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Étape 1 texte"/>
          <p:cNvSpPr txBox="1"/>
          <p:nvPr/>
        </p:nvSpPr>
        <p:spPr>
          <a:xfrm>
            <a:off x="3931920" y="3840480"/>
            <a:ext cx="1691640" cy="548640"/>
          </a:xfrm>
          <a:prstGeom prst="rect">
            <a:avLst/>
          </a:prstGeom>
          <a:noFill/>
        </p:spPr>
        <p:txBody>
          <a:bodyPr wrap="square" lIns="0" rIns="0" tIns="0" bIns="0" anchor="ctr">
            <a:noAutofit/>
          </a:bodyPr>
          <a:lstStyle/>
          <a:p>
            <a:pPr algn="ctr"/>
            <a:r>
              <a:rPr sz="1600" b="1" i="0">
                <a:solidFill>
                  <a:srgbClr val="2F6DB5"/>
                </a:solidFill>
                <a:latin typeface="Calibri"/>
              </a:rPr>
              <a:t>1  </a:t>
            </a:r>
            <a:r>
              <a:rPr sz="1600" b="1" i="0">
                <a:solidFill>
                  <a:srgbClr val="1B2F5B"/>
                </a:solidFill>
                <a:latin typeface="Calibri"/>
              </a:rPr>
              <a:t>Détecter</a:t>
            </a:r>
          </a:p>
        </p:txBody>
      </p:sp>
      <p:sp>
        <p:nvSpPr>
          <p:cNvPr id="7" name="Étape 2"/>
          <p:cNvSpPr/>
          <p:nvPr/>
        </p:nvSpPr>
        <p:spPr>
          <a:xfrm>
            <a:off x="5852160" y="3840480"/>
            <a:ext cx="1691640" cy="548640"/>
          </a:xfrm>
          <a:prstGeom prst="roundRect">
            <a:avLst>
              <a:gd name="adj" fmla="val 16666"/>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Étape 2 texte"/>
          <p:cNvSpPr txBox="1"/>
          <p:nvPr/>
        </p:nvSpPr>
        <p:spPr>
          <a:xfrm>
            <a:off x="5852160" y="3840480"/>
            <a:ext cx="1691640" cy="548640"/>
          </a:xfrm>
          <a:prstGeom prst="rect">
            <a:avLst/>
          </a:prstGeom>
          <a:noFill/>
        </p:spPr>
        <p:txBody>
          <a:bodyPr wrap="square" lIns="0" rIns="0" tIns="0" bIns="0" anchor="ctr">
            <a:noAutofit/>
          </a:bodyPr>
          <a:lstStyle/>
          <a:p>
            <a:pPr algn="ctr"/>
            <a:r>
              <a:rPr sz="1600" b="1" i="0">
                <a:solidFill>
                  <a:srgbClr val="2F6DB5"/>
                </a:solidFill>
                <a:latin typeface="Calibri"/>
              </a:rPr>
              <a:t>2  </a:t>
            </a:r>
            <a:r>
              <a:rPr sz="1600" b="1" i="0">
                <a:solidFill>
                  <a:srgbClr val="1B2F5B"/>
                </a:solidFill>
                <a:latin typeface="Calibri"/>
              </a:rPr>
              <a:t>Proposer</a:t>
            </a:r>
          </a:p>
        </p:txBody>
      </p:sp>
      <p:sp>
        <p:nvSpPr>
          <p:cNvPr id="9" name="Étape 3"/>
          <p:cNvSpPr/>
          <p:nvPr/>
        </p:nvSpPr>
        <p:spPr>
          <a:xfrm>
            <a:off x="7772400" y="3840480"/>
            <a:ext cx="1691640" cy="548640"/>
          </a:xfrm>
          <a:prstGeom prst="roundRect">
            <a:avLst>
              <a:gd name="adj" fmla="val 16666"/>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Étape 3 texte"/>
          <p:cNvSpPr txBox="1"/>
          <p:nvPr/>
        </p:nvSpPr>
        <p:spPr>
          <a:xfrm>
            <a:off x="7772400" y="3840480"/>
            <a:ext cx="1691640" cy="548640"/>
          </a:xfrm>
          <a:prstGeom prst="rect">
            <a:avLst/>
          </a:prstGeom>
          <a:noFill/>
        </p:spPr>
        <p:txBody>
          <a:bodyPr wrap="square" lIns="0" rIns="0" tIns="0" bIns="0" anchor="ctr">
            <a:noAutofit/>
          </a:bodyPr>
          <a:lstStyle/>
          <a:p>
            <a:pPr algn="ctr"/>
            <a:r>
              <a:rPr sz="1600" b="1" i="0">
                <a:solidFill>
                  <a:srgbClr val="2F6DB5"/>
                </a:solidFill>
                <a:latin typeface="Calibri"/>
              </a:rPr>
              <a:t>3  </a:t>
            </a:r>
            <a:r>
              <a:rPr sz="1600" b="1" i="0">
                <a:solidFill>
                  <a:srgbClr val="1B2F5B"/>
                </a:solidFill>
                <a:latin typeface="Calibri"/>
              </a:rPr>
              <a:t>Vérifier</a:t>
            </a:r>
          </a:p>
        </p:txBody>
      </p:sp>
      <p:sp>
        <p:nvSpPr>
          <p:cNvPr id="11" name="Étape 4"/>
          <p:cNvSpPr/>
          <p:nvPr/>
        </p:nvSpPr>
        <p:spPr>
          <a:xfrm>
            <a:off x="9692640" y="3840480"/>
            <a:ext cx="1691640" cy="548640"/>
          </a:xfrm>
          <a:prstGeom prst="roundRect">
            <a:avLst>
              <a:gd name="adj" fmla="val 16666"/>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Étape 4 texte"/>
          <p:cNvSpPr txBox="1"/>
          <p:nvPr/>
        </p:nvSpPr>
        <p:spPr>
          <a:xfrm>
            <a:off x="9692640" y="3840480"/>
            <a:ext cx="1691640" cy="548640"/>
          </a:xfrm>
          <a:prstGeom prst="rect">
            <a:avLst/>
          </a:prstGeom>
          <a:noFill/>
        </p:spPr>
        <p:txBody>
          <a:bodyPr wrap="square" lIns="0" rIns="0" tIns="0" bIns="0" anchor="ctr">
            <a:noAutofit/>
          </a:bodyPr>
          <a:lstStyle/>
          <a:p>
            <a:pPr algn="ctr"/>
            <a:r>
              <a:rPr sz="1600" b="1" i="0">
                <a:solidFill>
                  <a:srgbClr val="2F6DB5"/>
                </a:solidFill>
                <a:latin typeface="Calibri"/>
              </a:rPr>
              <a:t>4  </a:t>
            </a:r>
            <a:r>
              <a:rPr sz="1600" b="1" i="0">
                <a:solidFill>
                  <a:srgbClr val="1B2F5B"/>
                </a:solidFill>
                <a:latin typeface="Calibri"/>
              </a:rPr>
              <a:t>Décider</a:t>
            </a:r>
          </a:p>
        </p:txBody>
      </p:sp>
      <p:sp>
        <p:nvSpPr>
          <p:cNvPr id="13" name="Auteurs"/>
          <p:cNvSpPr txBox="1"/>
          <p:nvPr/>
        </p:nvSpPr>
        <p:spPr>
          <a:xfrm>
            <a:off x="914400" y="5852160"/>
            <a:ext cx="10332720" cy="365760"/>
          </a:xfrm>
          <a:prstGeom prst="rect">
            <a:avLst/>
          </a:prstGeom>
          <a:noFill/>
        </p:spPr>
        <p:txBody>
          <a:bodyPr wrap="square" lIns="0" rIns="0" tIns="0" bIns="0" anchor="ctr">
            <a:noAutofit/>
          </a:bodyPr>
          <a:lstStyle/>
          <a:p>
            <a:pPr algn="l"/>
            <a:r>
              <a:rPr sz="1300" b="0" i="0">
                <a:solidFill>
                  <a:srgbClr val="5B6577"/>
                </a:solidFill>
                <a:latin typeface="Calibri"/>
              </a:rPr>
              <a:t>Cours DevOps · M1 SIGLIS · Madou DIAKAYETEBA &amp; Mouhamed S. CAMARA ·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Un code qui ne bouge pas, un risque qui grandit</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2</a:t>
            </a:fld>
          </a:p>
        </p:txBody>
      </p:sp>
      <p:sp>
        <p:nvSpPr>
          <p:cNvPr id="5" name="Chiffre clé"/>
          <p:cNvSpPr txBox="1"/>
          <p:nvPr/>
        </p:nvSpPr>
        <p:spPr>
          <a:xfrm>
            <a:off x="548640" y="1280160"/>
            <a:ext cx="3840480" cy="1691640"/>
          </a:xfrm>
          <a:prstGeom prst="rect">
            <a:avLst/>
          </a:prstGeom>
          <a:noFill/>
        </p:spPr>
        <p:txBody>
          <a:bodyPr wrap="square" lIns="0" rIns="0" tIns="0" bIns="0" anchor="ctr">
            <a:noAutofit/>
          </a:bodyPr>
          <a:lstStyle/>
          <a:p>
            <a:pPr algn="l"/>
            <a:r>
              <a:rPr sz="11000" b="1" i="0">
                <a:solidFill>
                  <a:srgbClr val="2F6DB5"/>
                </a:solidFill>
                <a:latin typeface="Calibri"/>
              </a:rPr>
              <a:t>25</a:t>
            </a:r>
          </a:p>
        </p:txBody>
      </p:sp>
      <p:sp>
        <p:nvSpPr>
          <p:cNvPr id="6" name="Libellé chiffre"/>
          <p:cNvSpPr txBox="1"/>
          <p:nvPr/>
        </p:nvSpPr>
        <p:spPr>
          <a:xfrm>
            <a:off x="548640" y="2971800"/>
            <a:ext cx="4389120" cy="457200"/>
          </a:xfrm>
          <a:prstGeom prst="rect">
            <a:avLst/>
          </a:prstGeom>
          <a:noFill/>
        </p:spPr>
        <p:txBody>
          <a:bodyPr wrap="square" lIns="0" rIns="0" tIns="0" bIns="0" anchor="t">
            <a:noAutofit/>
          </a:bodyPr>
          <a:lstStyle/>
          <a:p>
            <a:pPr algn="l"/>
            <a:r>
              <a:rPr sz="2200" b="1" i="0">
                <a:solidFill>
                  <a:srgbClr val="1B2F5B"/>
                </a:solidFill>
                <a:latin typeface="Calibri"/>
              </a:rPr>
              <a:t>failles connues sur axios 0.18.0</a:t>
            </a:r>
          </a:p>
        </p:txBody>
      </p:sp>
      <p:sp>
        <p:nvSpPr>
          <p:cNvPr id="7" name="Détail chiffre"/>
          <p:cNvSpPr txBox="1"/>
          <p:nvPr/>
        </p:nvSpPr>
        <p:spPr>
          <a:xfrm>
            <a:off x="548640" y="3429000"/>
            <a:ext cx="4389120" cy="365760"/>
          </a:xfrm>
          <a:prstGeom prst="rect">
            <a:avLst/>
          </a:prstGeom>
          <a:noFill/>
        </p:spPr>
        <p:txBody>
          <a:bodyPr wrap="square" lIns="0" rIns="0" tIns="0" bIns="0" anchor="t">
            <a:noAutofit/>
          </a:bodyPr>
          <a:lstStyle/>
          <a:p>
            <a:pPr algn="l"/>
            <a:r>
              <a:rPr sz="1800" b="0" i="0">
                <a:solidFill>
                  <a:srgbClr val="5B6577"/>
                </a:solidFill>
                <a:latin typeface="Calibri"/>
              </a:rPr>
              <a:t>dont 11 de gravité élevée</a:t>
            </a:r>
          </a:p>
        </p:txBody>
      </p:sp>
      <p:cxnSp>
        <p:nvCxnSpPr>
          <p:cNvPr id="8" name="Frise"/>
          <p:cNvCxnSpPr/>
          <p:nvPr/>
        </p:nvCxnSpPr>
        <p:spPr>
          <a:xfrm>
            <a:off x="685800" y="4526280"/>
            <a:ext cx="4023360" cy="0"/>
          </a:xfrm>
          <a:prstGeom prst="line">
            <a:avLst/>
          </a:prstGeom>
          <a:ln w="25400">
            <a:solidFill>
              <a:srgbClr val="C9D6EA"/>
            </a:solidFill>
          </a:ln>
        </p:spPr>
        <p:style>
          <a:lnRef idx="2">
            <a:schemeClr val="accent1"/>
          </a:lnRef>
          <a:fillRef idx="0">
            <a:schemeClr val="accent1"/>
          </a:fillRef>
          <a:effectRef idx="1">
            <a:schemeClr val="accent1"/>
          </a:effectRef>
          <a:fontRef idx="minor">
            <a:schemeClr val="tx1"/>
          </a:fontRef>
        </p:style>
      </p:cxnSp>
      <p:sp>
        <p:nvSpPr>
          <p:cNvPr id="9" name="Jalon 2018"/>
          <p:cNvSpPr/>
          <p:nvPr/>
        </p:nvSpPr>
        <p:spPr>
          <a:xfrm>
            <a:off x="594360" y="4416552"/>
            <a:ext cx="219456" cy="219456"/>
          </a:xfrm>
          <a:prstGeom prst="ellipse">
            <a:avLst/>
          </a:prstGeom>
          <a:solidFill>
            <a:srgbClr val="1B2F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Année 2018"/>
          <p:cNvSpPr txBox="1"/>
          <p:nvPr/>
        </p:nvSpPr>
        <p:spPr>
          <a:xfrm>
            <a:off x="548640" y="4709160"/>
            <a:ext cx="1463040" cy="320040"/>
          </a:xfrm>
          <a:prstGeom prst="rect">
            <a:avLst/>
          </a:prstGeom>
          <a:noFill/>
        </p:spPr>
        <p:txBody>
          <a:bodyPr wrap="square" lIns="0" rIns="0" tIns="0" bIns="0" anchor="t">
            <a:noAutofit/>
          </a:bodyPr>
          <a:lstStyle/>
          <a:p>
            <a:pPr algn="l"/>
            <a:r>
              <a:rPr sz="1600" b="1" i="0">
                <a:solidFill>
                  <a:srgbClr val="1B2F5B"/>
                </a:solidFill>
                <a:latin typeface="Calibri"/>
              </a:rPr>
              <a:t>2018</a:t>
            </a:r>
          </a:p>
        </p:txBody>
      </p:sp>
      <p:sp>
        <p:nvSpPr>
          <p:cNvPr id="11" name="Libellé 2018"/>
          <p:cNvSpPr txBox="1"/>
          <p:nvPr/>
        </p:nvSpPr>
        <p:spPr>
          <a:xfrm>
            <a:off x="548640" y="5029200"/>
            <a:ext cx="1645920" cy="320040"/>
          </a:xfrm>
          <a:prstGeom prst="rect">
            <a:avLst/>
          </a:prstGeom>
          <a:noFill/>
        </p:spPr>
        <p:txBody>
          <a:bodyPr wrap="square" lIns="0" rIns="0" tIns="0" bIns="0" anchor="t">
            <a:noAutofit/>
          </a:bodyPr>
          <a:lstStyle/>
          <a:p>
            <a:pPr algn="l"/>
            <a:r>
              <a:rPr sz="1400" b="0" i="0">
                <a:solidFill>
                  <a:srgbClr val="5B6577"/>
                </a:solidFill>
                <a:latin typeface="Calibri"/>
              </a:rPr>
              <a:t>publiée</a:t>
            </a:r>
          </a:p>
        </p:txBody>
      </p:sp>
      <p:sp>
        <p:nvSpPr>
          <p:cNvPr id="12" name="Jalon 2019"/>
          <p:cNvSpPr/>
          <p:nvPr/>
        </p:nvSpPr>
        <p:spPr>
          <a:xfrm>
            <a:off x="2606040" y="4416552"/>
            <a:ext cx="219456" cy="219456"/>
          </a:xfrm>
          <a:prstGeom prst="ellipse">
            <a:avLst/>
          </a:prstGeom>
          <a:solidFill>
            <a:srgbClr val="1B2F5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nnée 2019"/>
          <p:cNvSpPr txBox="1"/>
          <p:nvPr/>
        </p:nvSpPr>
        <p:spPr>
          <a:xfrm>
            <a:off x="2560320" y="4709160"/>
            <a:ext cx="1463040" cy="320040"/>
          </a:xfrm>
          <a:prstGeom prst="rect">
            <a:avLst/>
          </a:prstGeom>
          <a:noFill/>
        </p:spPr>
        <p:txBody>
          <a:bodyPr wrap="square" lIns="0" rIns="0" tIns="0" bIns="0" anchor="t">
            <a:noAutofit/>
          </a:bodyPr>
          <a:lstStyle/>
          <a:p>
            <a:pPr algn="l"/>
            <a:r>
              <a:rPr sz="1600" b="1" i="0">
                <a:solidFill>
                  <a:srgbClr val="1B2F5B"/>
                </a:solidFill>
                <a:latin typeface="Calibri"/>
              </a:rPr>
              <a:t>2019</a:t>
            </a:r>
          </a:p>
        </p:txBody>
      </p:sp>
      <p:sp>
        <p:nvSpPr>
          <p:cNvPr id="14" name="Libellé 2019"/>
          <p:cNvSpPr txBox="1"/>
          <p:nvPr/>
        </p:nvSpPr>
        <p:spPr>
          <a:xfrm>
            <a:off x="2560320" y="5029200"/>
            <a:ext cx="1645920" cy="320040"/>
          </a:xfrm>
          <a:prstGeom prst="rect">
            <a:avLst/>
          </a:prstGeom>
          <a:noFill/>
        </p:spPr>
        <p:txBody>
          <a:bodyPr wrap="square" lIns="0" rIns="0" tIns="0" bIns="0" anchor="t">
            <a:noAutofit/>
          </a:bodyPr>
          <a:lstStyle/>
          <a:p>
            <a:pPr algn="l"/>
            <a:r>
              <a:rPr sz="1400" b="0" i="0">
                <a:solidFill>
                  <a:srgbClr val="5B6577"/>
                </a:solidFill>
                <a:latin typeface="Calibri"/>
              </a:rPr>
              <a:t>1re faille</a:t>
            </a:r>
          </a:p>
        </p:txBody>
      </p:sp>
      <p:sp>
        <p:nvSpPr>
          <p:cNvPr id="15" name="Jalon 2026"/>
          <p:cNvSpPr/>
          <p:nvPr/>
        </p:nvSpPr>
        <p:spPr>
          <a:xfrm>
            <a:off x="4617720" y="4416552"/>
            <a:ext cx="219456" cy="219456"/>
          </a:xfrm>
          <a:prstGeom prst="ellipse">
            <a:avLst/>
          </a:prstGeom>
          <a:solidFill>
            <a:srgbClr val="2F6DB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nnée 2026"/>
          <p:cNvSpPr txBox="1"/>
          <p:nvPr/>
        </p:nvSpPr>
        <p:spPr>
          <a:xfrm>
            <a:off x="4572000" y="4709160"/>
            <a:ext cx="1463040" cy="320040"/>
          </a:xfrm>
          <a:prstGeom prst="rect">
            <a:avLst/>
          </a:prstGeom>
          <a:noFill/>
        </p:spPr>
        <p:txBody>
          <a:bodyPr wrap="square" lIns="0" rIns="0" tIns="0" bIns="0" anchor="t">
            <a:noAutofit/>
          </a:bodyPr>
          <a:lstStyle/>
          <a:p>
            <a:pPr algn="l"/>
            <a:r>
              <a:rPr sz="1600" b="1" i="0">
                <a:solidFill>
                  <a:srgbClr val="1B2F5B"/>
                </a:solidFill>
                <a:latin typeface="Calibri"/>
              </a:rPr>
              <a:t>2026</a:t>
            </a:r>
          </a:p>
        </p:txBody>
      </p:sp>
      <p:sp>
        <p:nvSpPr>
          <p:cNvPr id="17" name="Libellé 2026"/>
          <p:cNvSpPr txBox="1"/>
          <p:nvPr/>
        </p:nvSpPr>
        <p:spPr>
          <a:xfrm>
            <a:off x="4572000" y="5029200"/>
            <a:ext cx="1645920" cy="320040"/>
          </a:xfrm>
          <a:prstGeom prst="rect">
            <a:avLst/>
          </a:prstGeom>
          <a:noFill/>
        </p:spPr>
        <p:txBody>
          <a:bodyPr wrap="square" lIns="0" rIns="0" tIns="0" bIns="0" anchor="t">
            <a:noAutofit/>
          </a:bodyPr>
          <a:lstStyle/>
          <a:p>
            <a:pPr algn="l"/>
            <a:r>
              <a:rPr sz="1400" b="0" i="0">
                <a:solidFill>
                  <a:srgbClr val="5B6577"/>
                </a:solidFill>
                <a:latin typeface="Calibri"/>
              </a:rPr>
              <a:t>25 failles</a:t>
            </a:r>
          </a:p>
        </p:txBody>
      </p:sp>
      <p:graphicFrame>
        <p:nvGraphicFramePr>
          <p:cNvPr id="18" name="Graphique alertes"/>
          <p:cNvGraphicFramePr>
            <a:graphicFrameLocks noGrp="1"/>
          </p:cNvGraphicFramePr>
          <p:nvPr/>
        </p:nvGraphicFramePr>
        <p:xfrm>
          <a:off x="5760720" y="1417320"/>
          <a:ext cx="5852160" cy="4206240"/>
        </p:xfrm>
        <a:graphic>
          <a:graphicData uri="http://schemas.openxmlformats.org/drawingml/2006/chart">
            <c:chart xmlns:c="http://schemas.openxmlformats.org/drawingml/2006/chart" r:id="rId2"/>
          </a:graphicData>
        </a:graphic>
      </p:graphicFrame>
      <p:sp>
        <p:nvSpPr>
          <p:cNvPr id="19" name="Source"/>
          <p:cNvSpPr txBox="1"/>
          <p:nvPr/>
        </p:nvSpPr>
        <p:spPr>
          <a:xfrm>
            <a:off x="5760720" y="5715000"/>
            <a:ext cx="5852160" cy="274320"/>
          </a:xfrm>
          <a:prstGeom prst="rect">
            <a:avLst/>
          </a:prstGeom>
          <a:noFill/>
        </p:spPr>
        <p:txBody>
          <a:bodyPr wrap="square" lIns="0" rIns="0" tIns="0" bIns="0" anchor="t">
            <a:noAutofit/>
          </a:bodyPr>
          <a:lstStyle/>
          <a:p>
            <a:pPr algn="r"/>
            <a:r>
              <a:rPr sz="1100" b="0" i="0">
                <a:solidFill>
                  <a:srgbClr val="5B6577"/>
                </a:solidFill>
                <a:latin typeface="Calibri"/>
              </a:rPr>
              <a:t>Du 28 au 30/09/2026 · source : onglet Security du dépôt, GitHub Advisory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Dependabot, c'est quoi ?</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3</a:t>
            </a:fld>
          </a:p>
        </p:txBody>
      </p:sp>
      <p:sp>
        <p:nvSpPr>
          <p:cNvPr id="5" name="Définition"/>
          <p:cNvSpPr txBox="1"/>
          <p:nvPr/>
        </p:nvSpPr>
        <p:spPr>
          <a:xfrm>
            <a:off x="548640" y="1325880"/>
            <a:ext cx="11064240" cy="731520"/>
          </a:xfrm>
          <a:prstGeom prst="rect">
            <a:avLst/>
          </a:prstGeom>
          <a:noFill/>
        </p:spPr>
        <p:txBody>
          <a:bodyPr wrap="square" lIns="0" rIns="0" tIns="0" bIns="0" anchor="t">
            <a:noAutofit/>
          </a:bodyPr>
          <a:lstStyle/>
          <a:p>
            <a:pPr algn="l"/>
            <a:r>
              <a:rPr sz="2000" b="0" i="0">
                <a:solidFill>
                  <a:srgbClr val="1B2F5B"/>
                </a:solidFill>
                <a:latin typeface="Calibri"/>
              </a:rPr>
              <a:t>Un robot intégré à GitHub, gratuit, qui surveille vos dépendances et propose leurs mises à jour en pull requests.</a:t>
            </a:r>
          </a:p>
        </p:txBody>
      </p:sp>
      <p:sp>
        <p:nvSpPr>
          <p:cNvPr id="6" name="Carte Alerts"/>
          <p:cNvSpPr/>
          <p:nvPr/>
        </p:nvSpPr>
        <p:spPr>
          <a:xfrm>
            <a:off x="548640" y="2331720"/>
            <a:ext cx="3474720" cy="3520440"/>
          </a:xfrm>
          <a:prstGeom prst="roundRect">
            <a:avLst>
              <a:gd name="adj" fmla="val 394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Alerts cercle"/>
          <p:cNvSpPr/>
          <p:nvPr/>
        </p:nvSpPr>
        <p:spPr>
          <a:xfrm>
            <a:off x="914400" y="2697479"/>
            <a:ext cx="914400" cy="9144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Alerts icône" descr="bell.png"/>
          <p:cNvPicPr>
            <a:picLocks noChangeAspect="1"/>
          </p:cNvPicPr>
          <p:nvPr/>
        </p:nvPicPr>
        <p:blipFill>
          <a:blip r:embed="rId2"/>
          <a:stretch>
            <a:fillRect/>
          </a:stretch>
        </p:blipFill>
        <p:spPr>
          <a:xfrm>
            <a:off x="1143000" y="2926079"/>
            <a:ext cx="457200" cy="457200"/>
          </a:xfrm>
          <a:prstGeom prst="rect">
            <a:avLst/>
          </a:prstGeom>
        </p:spPr>
      </p:pic>
      <p:sp>
        <p:nvSpPr>
          <p:cNvPr id="9" name="Alerts titre"/>
          <p:cNvSpPr txBox="1"/>
          <p:nvPr/>
        </p:nvSpPr>
        <p:spPr>
          <a:xfrm>
            <a:off x="914400" y="3794760"/>
            <a:ext cx="2743200" cy="457200"/>
          </a:xfrm>
          <a:prstGeom prst="rect">
            <a:avLst/>
          </a:prstGeom>
          <a:noFill/>
        </p:spPr>
        <p:txBody>
          <a:bodyPr wrap="square" lIns="0" rIns="0" tIns="0" bIns="0" anchor="t">
            <a:noAutofit/>
          </a:bodyPr>
          <a:lstStyle/>
          <a:p>
            <a:pPr algn="l"/>
            <a:r>
              <a:rPr sz="2200" b="1" i="0">
                <a:solidFill>
                  <a:srgbClr val="1B2F5B"/>
                </a:solidFill>
                <a:latin typeface="Calibri"/>
              </a:rPr>
              <a:t>Alerts</a:t>
            </a:r>
          </a:p>
        </p:txBody>
      </p:sp>
      <p:sp>
        <p:nvSpPr>
          <p:cNvPr id="10" name="Alerts description"/>
          <p:cNvSpPr txBox="1"/>
          <p:nvPr/>
        </p:nvSpPr>
        <p:spPr>
          <a:xfrm>
            <a:off x="914400" y="4251960"/>
            <a:ext cx="2743200" cy="914400"/>
          </a:xfrm>
          <a:prstGeom prst="rect">
            <a:avLst/>
          </a:prstGeom>
          <a:noFill/>
        </p:spPr>
        <p:txBody>
          <a:bodyPr wrap="square" lIns="0" rIns="0" tIns="0" bIns="0" anchor="t">
            <a:noAutofit/>
          </a:bodyPr>
          <a:lstStyle/>
          <a:p>
            <a:pPr algn="l"/>
            <a:r>
              <a:rPr sz="1600" b="0" i="0">
                <a:solidFill>
                  <a:srgbClr val="1B2F5B"/>
                </a:solidFill>
                <a:latin typeface="Calibri"/>
              </a:rPr>
              <a:t>Signale une dépendance vulnérable, sa gravité et la version qui corrige</a:t>
            </a:r>
          </a:p>
        </p:txBody>
      </p:sp>
      <p:sp>
        <p:nvSpPr>
          <p:cNvPr id="11" name="Pastille Alerts"/>
          <p:cNvSpPr/>
          <p:nvPr/>
        </p:nvSpPr>
        <p:spPr>
          <a:xfrm>
            <a:off x="914400" y="5212079"/>
            <a:ext cx="1920240" cy="384048"/>
          </a:xfrm>
          <a:prstGeom prst="roundRect">
            <a:avLst>
              <a:gd name="adj" fmla="val 50000"/>
            </a:avLst>
          </a:prstGeom>
          <a:solidFill>
            <a:srgbClr val="FFFFFF"/>
          </a:solidFill>
          <a:ln w="12700">
            <a:solidFill>
              <a:srgbClr val="2F6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astille Alerts texte"/>
          <p:cNvSpPr txBox="1"/>
          <p:nvPr/>
        </p:nvSpPr>
        <p:spPr>
          <a:xfrm>
            <a:off x="914400" y="5212079"/>
            <a:ext cx="1920240" cy="384048"/>
          </a:xfrm>
          <a:prstGeom prst="rect">
            <a:avLst/>
          </a:prstGeom>
          <a:noFill/>
        </p:spPr>
        <p:txBody>
          <a:bodyPr wrap="square" lIns="0" rIns="0" tIns="0" bIns="0" anchor="ctr">
            <a:noAutofit/>
          </a:bodyPr>
          <a:lstStyle/>
          <a:p>
            <a:pPr algn="ctr"/>
            <a:r>
              <a:rPr sz="1300" b="1" i="0">
                <a:solidFill>
                  <a:srgbClr val="2F6DB5"/>
                </a:solidFill>
                <a:latin typeface="Calibri"/>
              </a:rPr>
              <a:t>sans configuration</a:t>
            </a:r>
          </a:p>
        </p:txBody>
      </p:sp>
      <p:sp>
        <p:nvSpPr>
          <p:cNvPr id="13" name="Carte Security updates"/>
          <p:cNvSpPr/>
          <p:nvPr/>
        </p:nvSpPr>
        <p:spPr>
          <a:xfrm>
            <a:off x="4297679" y="2331720"/>
            <a:ext cx="3474720" cy="3520440"/>
          </a:xfrm>
          <a:prstGeom prst="roundRect">
            <a:avLst>
              <a:gd name="adj" fmla="val 394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curity updates cercle"/>
          <p:cNvSpPr/>
          <p:nvPr/>
        </p:nvSpPr>
        <p:spPr>
          <a:xfrm>
            <a:off x="4663440" y="2697479"/>
            <a:ext cx="914400" cy="9144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Security updates icône" descr="shield.png"/>
          <p:cNvPicPr>
            <a:picLocks noChangeAspect="1"/>
          </p:cNvPicPr>
          <p:nvPr/>
        </p:nvPicPr>
        <p:blipFill>
          <a:blip r:embed="rId3"/>
          <a:stretch>
            <a:fillRect/>
          </a:stretch>
        </p:blipFill>
        <p:spPr>
          <a:xfrm>
            <a:off x="4892040" y="2926079"/>
            <a:ext cx="457200" cy="457200"/>
          </a:xfrm>
          <a:prstGeom prst="rect">
            <a:avLst/>
          </a:prstGeom>
        </p:spPr>
      </p:pic>
      <p:sp>
        <p:nvSpPr>
          <p:cNvPr id="16" name="Security updates titre"/>
          <p:cNvSpPr txBox="1"/>
          <p:nvPr/>
        </p:nvSpPr>
        <p:spPr>
          <a:xfrm>
            <a:off x="4663440" y="3794760"/>
            <a:ext cx="2743200" cy="457200"/>
          </a:xfrm>
          <a:prstGeom prst="rect">
            <a:avLst/>
          </a:prstGeom>
          <a:noFill/>
        </p:spPr>
        <p:txBody>
          <a:bodyPr wrap="square" lIns="0" rIns="0" tIns="0" bIns="0" anchor="t">
            <a:noAutofit/>
          </a:bodyPr>
          <a:lstStyle/>
          <a:p>
            <a:pPr algn="l"/>
            <a:r>
              <a:rPr sz="2200" b="1" i="0">
                <a:solidFill>
                  <a:srgbClr val="1B2F5B"/>
                </a:solidFill>
                <a:latin typeface="Calibri"/>
              </a:rPr>
              <a:t>Security updates</a:t>
            </a:r>
          </a:p>
        </p:txBody>
      </p:sp>
      <p:sp>
        <p:nvSpPr>
          <p:cNvPr id="17" name="Security updates description"/>
          <p:cNvSpPr txBox="1"/>
          <p:nvPr/>
        </p:nvSpPr>
        <p:spPr>
          <a:xfrm>
            <a:off x="4663440" y="4251960"/>
            <a:ext cx="2743200" cy="914400"/>
          </a:xfrm>
          <a:prstGeom prst="rect">
            <a:avLst/>
          </a:prstGeom>
          <a:noFill/>
        </p:spPr>
        <p:txBody>
          <a:bodyPr wrap="square" lIns="0" rIns="0" tIns="0" bIns="0" anchor="t">
            <a:noAutofit/>
          </a:bodyPr>
          <a:lstStyle/>
          <a:p>
            <a:pPr algn="l"/>
            <a:r>
              <a:rPr sz="1600" b="0" i="0">
                <a:solidFill>
                  <a:srgbClr val="1B2F5B"/>
                </a:solidFill>
                <a:latin typeface="Calibri"/>
              </a:rPr>
              <a:t>Ouvre une PR vers une version qui corrige la faille</a:t>
            </a:r>
          </a:p>
        </p:txBody>
      </p:sp>
      <p:sp>
        <p:nvSpPr>
          <p:cNvPr id="18" name="Pastille Security updates"/>
          <p:cNvSpPr/>
          <p:nvPr/>
        </p:nvSpPr>
        <p:spPr>
          <a:xfrm>
            <a:off x="4663440" y="5212079"/>
            <a:ext cx="1920240" cy="384048"/>
          </a:xfrm>
          <a:prstGeom prst="roundRect">
            <a:avLst>
              <a:gd name="adj" fmla="val 50000"/>
            </a:avLst>
          </a:prstGeom>
          <a:solidFill>
            <a:srgbClr val="FFFFFF"/>
          </a:solidFill>
          <a:ln w="12700">
            <a:solidFill>
              <a:srgbClr val="2F6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stille Security updates texte"/>
          <p:cNvSpPr txBox="1"/>
          <p:nvPr/>
        </p:nvSpPr>
        <p:spPr>
          <a:xfrm>
            <a:off x="4663440" y="5212079"/>
            <a:ext cx="1920240" cy="384048"/>
          </a:xfrm>
          <a:prstGeom prst="rect">
            <a:avLst/>
          </a:prstGeom>
          <a:noFill/>
        </p:spPr>
        <p:txBody>
          <a:bodyPr wrap="square" lIns="0" rIns="0" tIns="0" bIns="0" anchor="ctr">
            <a:noAutofit/>
          </a:bodyPr>
          <a:lstStyle/>
          <a:p>
            <a:pPr algn="ctr"/>
            <a:r>
              <a:rPr sz="1300" b="1" i="0">
                <a:solidFill>
                  <a:srgbClr val="2F6DB5"/>
                </a:solidFill>
                <a:latin typeface="Calibri"/>
              </a:rPr>
              <a:t>sans configuration</a:t>
            </a:r>
          </a:p>
        </p:txBody>
      </p:sp>
      <p:sp>
        <p:nvSpPr>
          <p:cNvPr id="20" name="Carte Version updates"/>
          <p:cNvSpPr/>
          <p:nvPr/>
        </p:nvSpPr>
        <p:spPr>
          <a:xfrm>
            <a:off x="8046719" y="2331720"/>
            <a:ext cx="3474720" cy="3520440"/>
          </a:xfrm>
          <a:prstGeom prst="roundRect">
            <a:avLst>
              <a:gd name="adj" fmla="val 394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ersion updates cercle"/>
          <p:cNvSpPr/>
          <p:nvPr/>
        </p:nvSpPr>
        <p:spPr>
          <a:xfrm>
            <a:off x="8412480" y="2697479"/>
            <a:ext cx="914400" cy="9144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Version updates icône" descr="sync.png"/>
          <p:cNvPicPr>
            <a:picLocks noChangeAspect="1"/>
          </p:cNvPicPr>
          <p:nvPr/>
        </p:nvPicPr>
        <p:blipFill>
          <a:blip r:embed="rId4"/>
          <a:stretch>
            <a:fillRect/>
          </a:stretch>
        </p:blipFill>
        <p:spPr>
          <a:xfrm>
            <a:off x="8641080" y="2926079"/>
            <a:ext cx="457200" cy="457200"/>
          </a:xfrm>
          <a:prstGeom prst="rect">
            <a:avLst/>
          </a:prstGeom>
        </p:spPr>
      </p:pic>
      <p:sp>
        <p:nvSpPr>
          <p:cNvPr id="23" name="Version updates titre"/>
          <p:cNvSpPr txBox="1"/>
          <p:nvPr/>
        </p:nvSpPr>
        <p:spPr>
          <a:xfrm>
            <a:off x="8412480" y="3794760"/>
            <a:ext cx="2743200" cy="457200"/>
          </a:xfrm>
          <a:prstGeom prst="rect">
            <a:avLst/>
          </a:prstGeom>
          <a:noFill/>
        </p:spPr>
        <p:txBody>
          <a:bodyPr wrap="square" lIns="0" rIns="0" tIns="0" bIns="0" anchor="t">
            <a:noAutofit/>
          </a:bodyPr>
          <a:lstStyle/>
          <a:p>
            <a:pPr algn="l"/>
            <a:r>
              <a:rPr sz="2200" b="1" i="0">
                <a:solidFill>
                  <a:srgbClr val="1B2F5B"/>
                </a:solidFill>
                <a:latin typeface="Calibri"/>
              </a:rPr>
              <a:t>Version updates</a:t>
            </a:r>
          </a:p>
        </p:txBody>
      </p:sp>
      <p:sp>
        <p:nvSpPr>
          <p:cNvPr id="24" name="Version updates description"/>
          <p:cNvSpPr txBox="1"/>
          <p:nvPr/>
        </p:nvSpPr>
        <p:spPr>
          <a:xfrm>
            <a:off x="8412480" y="4251960"/>
            <a:ext cx="2743200" cy="914400"/>
          </a:xfrm>
          <a:prstGeom prst="rect">
            <a:avLst/>
          </a:prstGeom>
          <a:noFill/>
        </p:spPr>
        <p:txBody>
          <a:bodyPr wrap="square" lIns="0" rIns="0" tIns="0" bIns="0" anchor="t">
            <a:noAutofit/>
          </a:bodyPr>
          <a:lstStyle/>
          <a:p>
            <a:pPr algn="l"/>
            <a:r>
              <a:rPr sz="1600" b="0" i="0">
                <a:solidFill>
                  <a:srgbClr val="1B2F5B"/>
                </a:solidFill>
                <a:latin typeface="Calibri"/>
              </a:rPr>
              <a:t>Ouvre des PR planifiées vers les dernières versions</a:t>
            </a:r>
          </a:p>
        </p:txBody>
      </p:sp>
      <p:sp>
        <p:nvSpPr>
          <p:cNvPr id="25" name="Pastille Version updates"/>
          <p:cNvSpPr/>
          <p:nvPr/>
        </p:nvSpPr>
        <p:spPr>
          <a:xfrm>
            <a:off x="8412480" y="5212079"/>
            <a:ext cx="1737360" cy="384048"/>
          </a:xfrm>
          <a:prstGeom prst="roundRect">
            <a:avLst>
              <a:gd name="adj" fmla="val 50000"/>
            </a:avLst>
          </a:prstGeom>
          <a:solidFill>
            <a:srgbClr val="FFFFFF"/>
          </a:solidFill>
          <a:ln w="12700">
            <a:solidFill>
              <a:srgbClr val="2F6D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astille Version updates texte"/>
          <p:cNvSpPr txBox="1"/>
          <p:nvPr/>
        </p:nvSpPr>
        <p:spPr>
          <a:xfrm>
            <a:off x="8412480" y="5212079"/>
            <a:ext cx="1737360" cy="384048"/>
          </a:xfrm>
          <a:prstGeom prst="rect">
            <a:avLst/>
          </a:prstGeom>
          <a:noFill/>
        </p:spPr>
        <p:txBody>
          <a:bodyPr wrap="square" lIns="0" rIns="0" tIns="0" bIns="0" anchor="ctr">
            <a:noAutofit/>
          </a:bodyPr>
          <a:lstStyle/>
          <a:p>
            <a:pPr algn="ctr"/>
            <a:r>
              <a:rPr sz="1300" b="1" i="0">
                <a:solidFill>
                  <a:srgbClr val="2F6DB5"/>
                </a:solidFill>
                <a:latin typeface="Consolas"/>
              </a:rPr>
              <a:t>dependabot.yml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Le cycle : quatre étapes</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4</a:t>
            </a:fld>
          </a:p>
        </p:txBody>
      </p:sp>
      <p:sp>
        <p:nvSpPr>
          <p:cNvPr id="5" name="Détecter cercle"/>
          <p:cNvSpPr/>
          <p:nvPr/>
        </p:nvSpPr>
        <p:spPr>
          <a:xfrm>
            <a:off x="1051560" y="1600200"/>
            <a:ext cx="1371600" cy="13716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Détecter icône" descr="search.png"/>
          <p:cNvPicPr>
            <a:picLocks noChangeAspect="1"/>
          </p:cNvPicPr>
          <p:nvPr/>
        </p:nvPicPr>
        <p:blipFill>
          <a:blip r:embed="rId2"/>
          <a:stretch>
            <a:fillRect/>
          </a:stretch>
        </p:blipFill>
        <p:spPr>
          <a:xfrm>
            <a:off x="1394460" y="1943100"/>
            <a:ext cx="685800" cy="685800"/>
          </a:xfrm>
          <a:prstGeom prst="rect">
            <a:avLst/>
          </a:prstGeom>
        </p:spPr>
      </p:pic>
      <p:sp>
        <p:nvSpPr>
          <p:cNvPr id="7" name="Détecter titre"/>
          <p:cNvSpPr txBox="1"/>
          <p:nvPr/>
        </p:nvSpPr>
        <p:spPr>
          <a:xfrm>
            <a:off x="548640" y="3154680"/>
            <a:ext cx="2377440" cy="502920"/>
          </a:xfrm>
          <a:prstGeom prst="rect">
            <a:avLst/>
          </a:prstGeom>
          <a:noFill/>
        </p:spPr>
        <p:txBody>
          <a:bodyPr wrap="square" lIns="0" rIns="0" tIns="0" bIns="0" anchor="t">
            <a:noAutofit/>
          </a:bodyPr>
          <a:lstStyle/>
          <a:p>
            <a:pPr algn="ctr"/>
            <a:r>
              <a:rPr sz="2400" b="1" i="0">
                <a:solidFill>
                  <a:srgbClr val="1B2F5B"/>
                </a:solidFill>
                <a:latin typeface="Calibri"/>
              </a:rPr>
              <a:t>1. Détecter</a:t>
            </a:r>
          </a:p>
        </p:txBody>
      </p:sp>
      <p:sp>
        <p:nvSpPr>
          <p:cNvPr id="8" name="Détecter description"/>
          <p:cNvSpPr txBox="1"/>
          <p:nvPr/>
        </p:nvSpPr>
        <p:spPr>
          <a:xfrm>
            <a:off x="548640" y="3657600"/>
            <a:ext cx="2377440" cy="685800"/>
          </a:xfrm>
          <a:prstGeom prst="rect">
            <a:avLst/>
          </a:prstGeom>
          <a:noFill/>
        </p:spPr>
        <p:txBody>
          <a:bodyPr wrap="square" lIns="0" rIns="0" tIns="0" bIns="0" anchor="t">
            <a:noAutofit/>
          </a:bodyPr>
          <a:lstStyle/>
          <a:p>
            <a:pPr algn="ctr"/>
            <a:r>
              <a:rPr sz="1600" b="0" i="0">
                <a:solidFill>
                  <a:srgbClr val="1B2F5B"/>
                </a:solidFill>
                <a:latin typeface="Calibri"/>
              </a:rPr>
              <a:t>graphe de dépendances × Advisory Database</a:t>
            </a:r>
          </a:p>
        </p:txBody>
      </p:sp>
      <p:sp>
        <p:nvSpPr>
          <p:cNvPr id="9" name="Détecter acteur"/>
          <p:cNvSpPr txBox="1"/>
          <p:nvPr/>
        </p:nvSpPr>
        <p:spPr>
          <a:xfrm>
            <a:off x="548640" y="4389120"/>
            <a:ext cx="2377440" cy="365760"/>
          </a:xfrm>
          <a:prstGeom prst="rect">
            <a:avLst/>
          </a:prstGeom>
          <a:noFill/>
        </p:spPr>
        <p:txBody>
          <a:bodyPr wrap="square" lIns="0" rIns="0" tIns="0" bIns="0" anchor="t">
            <a:noAutofit/>
          </a:bodyPr>
          <a:lstStyle/>
          <a:p>
            <a:pPr algn="ctr"/>
            <a:r>
              <a:rPr sz="1500" b="0" i="1">
                <a:solidFill>
                  <a:srgbClr val="5B6577"/>
                </a:solidFill>
                <a:latin typeface="Calibri"/>
              </a:rPr>
              <a:t>Dependabot</a:t>
            </a:r>
          </a:p>
        </p:txBody>
      </p:sp>
      <p:sp>
        <p:nvSpPr>
          <p:cNvPr id="10" name="Flèche 1"/>
          <p:cNvSpPr/>
          <p:nvPr/>
        </p:nvSpPr>
        <p:spPr>
          <a:xfrm>
            <a:off x="2971800" y="2103120"/>
            <a:ext cx="365760" cy="365760"/>
          </a:xfrm>
          <a:prstGeom prst="rightArrow">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poser cercle"/>
          <p:cNvSpPr/>
          <p:nvPr/>
        </p:nvSpPr>
        <p:spPr>
          <a:xfrm>
            <a:off x="3886200" y="1600200"/>
            <a:ext cx="1371600" cy="13716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roposer icône" descr="pr.png"/>
          <p:cNvPicPr>
            <a:picLocks noChangeAspect="1"/>
          </p:cNvPicPr>
          <p:nvPr/>
        </p:nvPicPr>
        <p:blipFill>
          <a:blip r:embed="rId3"/>
          <a:stretch>
            <a:fillRect/>
          </a:stretch>
        </p:blipFill>
        <p:spPr>
          <a:xfrm>
            <a:off x="4229100" y="1943100"/>
            <a:ext cx="685800" cy="685800"/>
          </a:xfrm>
          <a:prstGeom prst="rect">
            <a:avLst/>
          </a:prstGeom>
        </p:spPr>
      </p:pic>
      <p:sp>
        <p:nvSpPr>
          <p:cNvPr id="13" name="Proposer titre"/>
          <p:cNvSpPr txBox="1"/>
          <p:nvPr/>
        </p:nvSpPr>
        <p:spPr>
          <a:xfrm>
            <a:off x="3383280" y="3154680"/>
            <a:ext cx="2377440" cy="502920"/>
          </a:xfrm>
          <a:prstGeom prst="rect">
            <a:avLst/>
          </a:prstGeom>
          <a:noFill/>
        </p:spPr>
        <p:txBody>
          <a:bodyPr wrap="square" lIns="0" rIns="0" tIns="0" bIns="0" anchor="t">
            <a:noAutofit/>
          </a:bodyPr>
          <a:lstStyle/>
          <a:p>
            <a:pPr algn="ctr"/>
            <a:r>
              <a:rPr sz="2400" b="1" i="0">
                <a:solidFill>
                  <a:srgbClr val="1B2F5B"/>
                </a:solidFill>
                <a:latin typeface="Calibri"/>
              </a:rPr>
              <a:t>2. Proposer</a:t>
            </a:r>
          </a:p>
        </p:txBody>
      </p:sp>
      <p:sp>
        <p:nvSpPr>
          <p:cNvPr id="14" name="Proposer description"/>
          <p:cNvSpPr txBox="1"/>
          <p:nvPr/>
        </p:nvSpPr>
        <p:spPr>
          <a:xfrm>
            <a:off x="3383280" y="3657600"/>
            <a:ext cx="2377440" cy="685800"/>
          </a:xfrm>
          <a:prstGeom prst="rect">
            <a:avLst/>
          </a:prstGeom>
          <a:noFill/>
        </p:spPr>
        <p:txBody>
          <a:bodyPr wrap="square" lIns="0" rIns="0" tIns="0" bIns="0" anchor="t">
            <a:noAutofit/>
          </a:bodyPr>
          <a:lstStyle/>
          <a:p>
            <a:pPr algn="ctr"/>
            <a:r>
              <a:rPr sz="1600" b="0" i="0">
                <a:solidFill>
                  <a:srgbClr val="1B2F5B"/>
                </a:solidFill>
                <a:latin typeface="Calibri"/>
              </a:rPr>
              <a:t>ouvre une pull request</a:t>
            </a:r>
          </a:p>
        </p:txBody>
      </p:sp>
      <p:sp>
        <p:nvSpPr>
          <p:cNvPr id="15" name="Proposer acteur"/>
          <p:cNvSpPr txBox="1"/>
          <p:nvPr/>
        </p:nvSpPr>
        <p:spPr>
          <a:xfrm>
            <a:off x="3383280" y="4389120"/>
            <a:ext cx="2377440" cy="365760"/>
          </a:xfrm>
          <a:prstGeom prst="rect">
            <a:avLst/>
          </a:prstGeom>
          <a:noFill/>
        </p:spPr>
        <p:txBody>
          <a:bodyPr wrap="square" lIns="0" rIns="0" tIns="0" bIns="0" anchor="t">
            <a:noAutofit/>
          </a:bodyPr>
          <a:lstStyle/>
          <a:p>
            <a:pPr algn="ctr"/>
            <a:r>
              <a:rPr sz="1500" b="0" i="1">
                <a:solidFill>
                  <a:srgbClr val="5B6577"/>
                </a:solidFill>
                <a:latin typeface="Calibri"/>
              </a:rPr>
              <a:t>Dependabot</a:t>
            </a:r>
          </a:p>
        </p:txBody>
      </p:sp>
      <p:sp>
        <p:nvSpPr>
          <p:cNvPr id="16" name="Flèche 2"/>
          <p:cNvSpPr/>
          <p:nvPr/>
        </p:nvSpPr>
        <p:spPr>
          <a:xfrm>
            <a:off x="5806440" y="2103120"/>
            <a:ext cx="365760" cy="365760"/>
          </a:xfrm>
          <a:prstGeom prst="rightArrow">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érifier cercle"/>
          <p:cNvSpPr/>
          <p:nvPr/>
        </p:nvSpPr>
        <p:spPr>
          <a:xfrm>
            <a:off x="6720840" y="1600200"/>
            <a:ext cx="1371600" cy="137160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Vérifier icône" descr="check.png"/>
          <p:cNvPicPr>
            <a:picLocks noChangeAspect="1"/>
          </p:cNvPicPr>
          <p:nvPr/>
        </p:nvPicPr>
        <p:blipFill>
          <a:blip r:embed="rId4"/>
          <a:stretch>
            <a:fillRect/>
          </a:stretch>
        </p:blipFill>
        <p:spPr>
          <a:xfrm>
            <a:off x="7063740" y="1943100"/>
            <a:ext cx="685800" cy="685800"/>
          </a:xfrm>
          <a:prstGeom prst="rect">
            <a:avLst/>
          </a:prstGeom>
        </p:spPr>
      </p:pic>
      <p:sp>
        <p:nvSpPr>
          <p:cNvPr id="19" name="Vérifier titre"/>
          <p:cNvSpPr txBox="1"/>
          <p:nvPr/>
        </p:nvSpPr>
        <p:spPr>
          <a:xfrm>
            <a:off x="6217920" y="3154680"/>
            <a:ext cx="2377440" cy="502920"/>
          </a:xfrm>
          <a:prstGeom prst="rect">
            <a:avLst/>
          </a:prstGeom>
          <a:noFill/>
        </p:spPr>
        <p:txBody>
          <a:bodyPr wrap="square" lIns="0" rIns="0" tIns="0" bIns="0" anchor="t">
            <a:noAutofit/>
          </a:bodyPr>
          <a:lstStyle/>
          <a:p>
            <a:pPr algn="ctr"/>
            <a:r>
              <a:rPr sz="2400" b="1" i="0">
                <a:solidFill>
                  <a:srgbClr val="1B2F5B"/>
                </a:solidFill>
                <a:latin typeface="Calibri"/>
              </a:rPr>
              <a:t>3. Vérifier</a:t>
            </a:r>
          </a:p>
        </p:txBody>
      </p:sp>
      <p:sp>
        <p:nvSpPr>
          <p:cNvPr id="20" name="Vérifier description"/>
          <p:cNvSpPr txBox="1"/>
          <p:nvPr/>
        </p:nvSpPr>
        <p:spPr>
          <a:xfrm>
            <a:off x="6217920" y="3657600"/>
            <a:ext cx="2377440" cy="685800"/>
          </a:xfrm>
          <a:prstGeom prst="rect">
            <a:avLst/>
          </a:prstGeom>
          <a:noFill/>
        </p:spPr>
        <p:txBody>
          <a:bodyPr wrap="square" lIns="0" rIns="0" tIns="0" bIns="0" anchor="t">
            <a:noAutofit/>
          </a:bodyPr>
          <a:lstStyle/>
          <a:p>
            <a:pPr algn="ctr"/>
            <a:r>
              <a:rPr sz="1600" b="0" i="0">
                <a:solidFill>
                  <a:srgbClr val="1B2F5B"/>
                </a:solidFill>
                <a:latin typeface="Calibri"/>
              </a:rPr>
              <a:t>le CI installe, teste, compile</a:t>
            </a:r>
          </a:p>
        </p:txBody>
      </p:sp>
      <p:sp>
        <p:nvSpPr>
          <p:cNvPr id="21" name="Vérifier acteur"/>
          <p:cNvSpPr txBox="1"/>
          <p:nvPr/>
        </p:nvSpPr>
        <p:spPr>
          <a:xfrm>
            <a:off x="6217920" y="4389120"/>
            <a:ext cx="2377440" cy="365760"/>
          </a:xfrm>
          <a:prstGeom prst="rect">
            <a:avLst/>
          </a:prstGeom>
          <a:noFill/>
        </p:spPr>
        <p:txBody>
          <a:bodyPr wrap="square" lIns="0" rIns="0" tIns="0" bIns="0" anchor="t">
            <a:noAutofit/>
          </a:bodyPr>
          <a:lstStyle/>
          <a:p>
            <a:pPr algn="ctr"/>
            <a:r>
              <a:rPr sz="1500" b="0" i="1">
                <a:solidFill>
                  <a:srgbClr val="5B6577"/>
                </a:solidFill>
                <a:latin typeface="Calibri"/>
              </a:rPr>
              <a:t>Pipeline CI</a:t>
            </a:r>
          </a:p>
        </p:txBody>
      </p:sp>
      <p:sp>
        <p:nvSpPr>
          <p:cNvPr id="22" name="Flèche 3"/>
          <p:cNvSpPr/>
          <p:nvPr/>
        </p:nvSpPr>
        <p:spPr>
          <a:xfrm>
            <a:off x="8641080" y="2103120"/>
            <a:ext cx="365760" cy="365760"/>
          </a:xfrm>
          <a:prstGeom prst="rightArrow">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écider cercle"/>
          <p:cNvSpPr/>
          <p:nvPr/>
        </p:nvSpPr>
        <p:spPr>
          <a:xfrm>
            <a:off x="9555480" y="1600200"/>
            <a:ext cx="1371600" cy="137160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Décider icône" descr="merge.png"/>
          <p:cNvPicPr>
            <a:picLocks noChangeAspect="1"/>
          </p:cNvPicPr>
          <p:nvPr/>
        </p:nvPicPr>
        <p:blipFill>
          <a:blip r:embed="rId5"/>
          <a:stretch>
            <a:fillRect/>
          </a:stretch>
        </p:blipFill>
        <p:spPr>
          <a:xfrm>
            <a:off x="9898380" y="1943100"/>
            <a:ext cx="685800" cy="685800"/>
          </a:xfrm>
          <a:prstGeom prst="rect">
            <a:avLst/>
          </a:prstGeom>
        </p:spPr>
      </p:pic>
      <p:sp>
        <p:nvSpPr>
          <p:cNvPr id="25" name="Décider titre"/>
          <p:cNvSpPr txBox="1"/>
          <p:nvPr/>
        </p:nvSpPr>
        <p:spPr>
          <a:xfrm>
            <a:off x="9052560" y="3154680"/>
            <a:ext cx="2377440" cy="502920"/>
          </a:xfrm>
          <a:prstGeom prst="rect">
            <a:avLst/>
          </a:prstGeom>
          <a:noFill/>
        </p:spPr>
        <p:txBody>
          <a:bodyPr wrap="square" lIns="0" rIns="0" tIns="0" bIns="0" anchor="t">
            <a:noAutofit/>
          </a:bodyPr>
          <a:lstStyle/>
          <a:p>
            <a:pPr algn="ctr"/>
            <a:r>
              <a:rPr sz="2400" b="1" i="0">
                <a:solidFill>
                  <a:srgbClr val="1B2F5B"/>
                </a:solidFill>
                <a:latin typeface="Calibri"/>
              </a:rPr>
              <a:t>4. Décider</a:t>
            </a:r>
          </a:p>
        </p:txBody>
      </p:sp>
      <p:sp>
        <p:nvSpPr>
          <p:cNvPr id="26" name="Décider description"/>
          <p:cNvSpPr txBox="1"/>
          <p:nvPr/>
        </p:nvSpPr>
        <p:spPr>
          <a:xfrm>
            <a:off x="9052560" y="3657600"/>
            <a:ext cx="2377440" cy="685800"/>
          </a:xfrm>
          <a:prstGeom prst="rect">
            <a:avLst/>
          </a:prstGeom>
          <a:noFill/>
        </p:spPr>
        <p:txBody>
          <a:bodyPr wrap="square" lIns="0" rIns="0" tIns="0" bIns="0" anchor="t">
            <a:noAutofit/>
          </a:bodyPr>
          <a:lstStyle/>
          <a:p>
            <a:pPr algn="ctr"/>
            <a:r>
              <a:rPr sz="1600" b="0" i="0">
                <a:solidFill>
                  <a:srgbClr val="1B2F5B"/>
                </a:solidFill>
                <a:latin typeface="Calibri"/>
              </a:rPr>
              <a:t>revue, merge, déploiement</a:t>
            </a:r>
          </a:p>
        </p:txBody>
      </p:sp>
      <p:sp>
        <p:nvSpPr>
          <p:cNvPr id="27" name="Décider acteur"/>
          <p:cNvSpPr txBox="1"/>
          <p:nvPr/>
        </p:nvSpPr>
        <p:spPr>
          <a:xfrm>
            <a:off x="9052560" y="4389120"/>
            <a:ext cx="2377440" cy="365760"/>
          </a:xfrm>
          <a:prstGeom prst="rect">
            <a:avLst/>
          </a:prstGeom>
          <a:noFill/>
        </p:spPr>
        <p:txBody>
          <a:bodyPr wrap="square" lIns="0" rIns="0" tIns="0" bIns="0" anchor="t">
            <a:noAutofit/>
          </a:bodyPr>
          <a:lstStyle/>
          <a:p>
            <a:pPr algn="ctr"/>
            <a:r>
              <a:rPr sz="1500" b="0" i="1">
                <a:solidFill>
                  <a:srgbClr val="5B6577"/>
                </a:solidFill>
                <a:latin typeface="Calibri"/>
              </a:rPr>
              <a:t>L'équipe</a:t>
            </a:r>
          </a:p>
        </p:txBody>
      </p:sp>
      <p:sp>
        <p:nvSpPr>
          <p:cNvPr id="28" name="Slogan fond"/>
          <p:cNvSpPr/>
          <p:nvPr/>
        </p:nvSpPr>
        <p:spPr>
          <a:xfrm>
            <a:off x="2194560" y="5074920"/>
            <a:ext cx="7772400" cy="777240"/>
          </a:xfrm>
          <a:prstGeom prst="roundRect">
            <a:avLst>
              <a:gd name="adj" fmla="val 1411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logan"/>
          <p:cNvSpPr txBox="1"/>
          <p:nvPr/>
        </p:nvSpPr>
        <p:spPr>
          <a:xfrm>
            <a:off x="2194560" y="5074920"/>
            <a:ext cx="7772400" cy="777240"/>
          </a:xfrm>
          <a:prstGeom prst="rect">
            <a:avLst/>
          </a:prstGeom>
          <a:noFill/>
        </p:spPr>
        <p:txBody>
          <a:bodyPr wrap="square" lIns="0" rIns="0" tIns="0" bIns="0" anchor="ctr">
            <a:noAutofit/>
          </a:bodyPr>
          <a:lstStyle/>
          <a:p>
            <a:pPr algn="ctr"/>
            <a:r>
              <a:rPr sz="2400" b="1" i="0">
                <a:solidFill>
                  <a:srgbClr val="1B2F5B"/>
                </a:solidFill>
                <a:latin typeface="Calibri"/>
              </a:rPr>
              <a:t>Dependabot propose.   Le CI vérifie.   L'humain décide.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Deux types de mises à jour</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5</a:t>
            </a:fld>
          </a:p>
        </p:txBody>
      </p:sp>
      <p:sp>
        <p:nvSpPr>
          <p:cNvPr id="5" name="Colonne Sécurité"/>
          <p:cNvSpPr/>
          <p:nvPr/>
        </p:nvSpPr>
        <p:spPr>
          <a:xfrm>
            <a:off x="548640" y="1417320"/>
            <a:ext cx="5394960" cy="4526280"/>
          </a:xfrm>
          <a:prstGeom prst="roundRect">
            <a:avLst>
              <a:gd name="adj" fmla="val 3030"/>
            </a:avLst>
          </a:prstGeom>
          <a:solidFill>
            <a:srgbClr val="FFFFFF"/>
          </a:solidFill>
          <a:ln w="15875">
            <a:solidFill>
              <a:srgbClr val="C9D6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écurité cercle"/>
          <p:cNvSpPr/>
          <p:nvPr/>
        </p:nvSpPr>
        <p:spPr>
          <a:xfrm>
            <a:off x="960120" y="1783080"/>
            <a:ext cx="822960" cy="82296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Sécurité icône" descr="shield.png"/>
          <p:cNvPicPr>
            <a:picLocks noChangeAspect="1"/>
          </p:cNvPicPr>
          <p:nvPr/>
        </p:nvPicPr>
        <p:blipFill>
          <a:blip r:embed="rId2"/>
          <a:stretch>
            <a:fillRect/>
          </a:stretch>
        </p:blipFill>
        <p:spPr>
          <a:xfrm>
            <a:off x="1165860" y="1988820"/>
            <a:ext cx="411480" cy="411480"/>
          </a:xfrm>
          <a:prstGeom prst="rect">
            <a:avLst/>
          </a:prstGeom>
        </p:spPr>
      </p:pic>
      <p:sp>
        <p:nvSpPr>
          <p:cNvPr id="8" name="Sécurité titre"/>
          <p:cNvSpPr txBox="1"/>
          <p:nvPr/>
        </p:nvSpPr>
        <p:spPr>
          <a:xfrm>
            <a:off x="2011680" y="1828800"/>
            <a:ext cx="3657600" cy="731520"/>
          </a:xfrm>
          <a:prstGeom prst="rect">
            <a:avLst/>
          </a:prstGeom>
          <a:noFill/>
        </p:spPr>
        <p:txBody>
          <a:bodyPr wrap="square" lIns="0" rIns="0" tIns="0" bIns="0" anchor="ctr">
            <a:noAutofit/>
          </a:bodyPr>
          <a:lstStyle/>
          <a:p>
            <a:pPr algn="l"/>
            <a:r>
              <a:rPr sz="2800" b="1" i="0">
                <a:solidFill>
                  <a:srgbClr val="1B2F5B"/>
                </a:solidFill>
                <a:latin typeface="Calibri"/>
              </a:rPr>
              <a:t>Sécurité</a:t>
            </a:r>
          </a:p>
        </p:txBody>
      </p:sp>
      <p:sp>
        <p:nvSpPr>
          <p:cNvPr id="9" name="Sécurité points"/>
          <p:cNvSpPr txBox="1"/>
          <p:nvPr/>
        </p:nvSpPr>
        <p:spPr>
          <a:xfrm>
            <a:off x="960120" y="2834640"/>
            <a:ext cx="4572000" cy="1645920"/>
          </a:xfrm>
          <a:prstGeom prst="rect">
            <a:avLst/>
          </a:prstGeom>
          <a:noFill/>
        </p:spPr>
        <p:txBody>
          <a:bodyPr wrap="square" lIns="0" rIns="0" tIns="0" bIns="0" anchor="t">
            <a:noAutofit/>
          </a:bodyPr>
          <a:lstStyle/>
          <a:p>
            <a:pPr algn="l" marL="228600" indent="-228600">
              <a:spcAft>
                <a:spcPts val="800"/>
              </a:spcAft>
              <a:buClr>
                <a:srgbClr val="2F6DB5"/>
              </a:buClr>
              <a:buFont typeface="Arial"/>
              <a:buChar char="•"/>
            </a:pPr>
            <a:r>
              <a:rPr sz="1800" b="0" i="0">
                <a:solidFill>
                  <a:srgbClr val="1B2F5B"/>
                </a:solidFill>
                <a:latin typeface="Calibri"/>
              </a:rPr>
              <a:t>Déclenchée par une alerte</a:t>
            </a:r>
          </a:p>
          <a:p>
            <a:pPr algn="l" marL="228600" indent="-228600">
              <a:spcAft>
                <a:spcPts val="800"/>
              </a:spcAft>
              <a:buClr>
                <a:srgbClr val="2F6DB5"/>
              </a:buClr>
              <a:buFont typeface="Arial"/>
              <a:buChar char="•"/>
            </a:pPr>
            <a:r>
              <a:rPr sz="1800" b="0" i="0">
                <a:solidFill>
                  <a:srgbClr val="1B2F5B"/>
                </a:solidFill>
                <a:latin typeface="Calibri"/>
              </a:rPr>
              <a:t>Immédiate, sans limite de PR</a:t>
            </a:r>
          </a:p>
          <a:p>
            <a:pPr algn="l" marL="228600" indent="-228600">
              <a:spcAft>
                <a:spcPts val="800"/>
              </a:spcAft>
              <a:buClr>
                <a:srgbClr val="2F6DB5"/>
              </a:buClr>
              <a:buFont typeface="Arial"/>
              <a:buChar char="•"/>
            </a:pPr>
            <a:r>
              <a:rPr sz="1800" b="0" i="0">
                <a:solidFill>
                  <a:srgbClr val="1B2F5B"/>
                </a:solidFill>
                <a:latin typeface="Calibri"/>
              </a:rPr>
              <a:t>Une version qui corrige la faille</a:t>
            </a:r>
          </a:p>
        </p:txBody>
      </p:sp>
      <p:sp>
        <p:nvSpPr>
          <p:cNvPr id="10" name="Exemple Sécurité"/>
          <p:cNvSpPr/>
          <p:nvPr/>
        </p:nvSpPr>
        <p:spPr>
          <a:xfrm>
            <a:off x="960120" y="4663440"/>
            <a:ext cx="4572000" cy="914400"/>
          </a:xfrm>
          <a:prstGeom prst="roundRect">
            <a:avLst>
              <a:gd name="adj" fmla="val 10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emple Sécurité texte"/>
          <p:cNvSpPr txBox="1"/>
          <p:nvPr/>
        </p:nvSpPr>
        <p:spPr>
          <a:xfrm>
            <a:off x="960120" y="4663440"/>
            <a:ext cx="4572000" cy="914400"/>
          </a:xfrm>
          <a:prstGeom prst="rect">
            <a:avLst/>
          </a:prstGeom>
          <a:noFill/>
        </p:spPr>
        <p:txBody>
          <a:bodyPr wrap="square" lIns="0" rIns="0" tIns="0" bIns="0" anchor="ctr">
            <a:noAutofit/>
          </a:bodyPr>
          <a:lstStyle/>
          <a:p>
            <a:pPr algn="ctr"/>
            <a:r>
              <a:rPr sz="1800" b="1" i="0">
                <a:solidFill>
                  <a:srgbClr val="2F6DB5"/>
                </a:solidFill>
                <a:latin typeface="Calibri"/>
              </a:rPr>
              <a:t>PR n° 9  </a:t>
            </a:r>
            <a:r>
              <a:rPr sz="1800" b="1" i="0">
                <a:solidFill>
                  <a:srgbClr val="1B2F5B"/>
                </a:solidFill>
                <a:latin typeface="Consolas"/>
              </a:rPr>
              <a:t>axios 0.18.0 → 0.33.0</a:t>
            </a:r>
          </a:p>
        </p:txBody>
      </p:sp>
      <p:sp>
        <p:nvSpPr>
          <p:cNvPr id="12" name="Colonne Version"/>
          <p:cNvSpPr/>
          <p:nvPr/>
        </p:nvSpPr>
        <p:spPr>
          <a:xfrm>
            <a:off x="6217920" y="1417320"/>
            <a:ext cx="5394960" cy="4526280"/>
          </a:xfrm>
          <a:prstGeom prst="roundRect">
            <a:avLst>
              <a:gd name="adj" fmla="val 3030"/>
            </a:avLst>
          </a:prstGeom>
          <a:solidFill>
            <a:srgbClr val="FFFFFF"/>
          </a:solidFill>
          <a:ln w="15875">
            <a:solidFill>
              <a:srgbClr val="C9D6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ersion cercle"/>
          <p:cNvSpPr/>
          <p:nvPr/>
        </p:nvSpPr>
        <p:spPr>
          <a:xfrm>
            <a:off x="6629400" y="1783080"/>
            <a:ext cx="822960" cy="82296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Version icône" descr="sync.png"/>
          <p:cNvPicPr>
            <a:picLocks noChangeAspect="1"/>
          </p:cNvPicPr>
          <p:nvPr/>
        </p:nvPicPr>
        <p:blipFill>
          <a:blip r:embed="rId3"/>
          <a:stretch>
            <a:fillRect/>
          </a:stretch>
        </p:blipFill>
        <p:spPr>
          <a:xfrm>
            <a:off x="6835140" y="1988820"/>
            <a:ext cx="411480" cy="411480"/>
          </a:xfrm>
          <a:prstGeom prst="rect">
            <a:avLst/>
          </a:prstGeom>
        </p:spPr>
      </p:pic>
      <p:sp>
        <p:nvSpPr>
          <p:cNvPr id="15" name="Version titre"/>
          <p:cNvSpPr txBox="1"/>
          <p:nvPr/>
        </p:nvSpPr>
        <p:spPr>
          <a:xfrm>
            <a:off x="7680960" y="1828800"/>
            <a:ext cx="3657600" cy="731520"/>
          </a:xfrm>
          <a:prstGeom prst="rect">
            <a:avLst/>
          </a:prstGeom>
          <a:noFill/>
        </p:spPr>
        <p:txBody>
          <a:bodyPr wrap="square" lIns="0" rIns="0" tIns="0" bIns="0" anchor="ctr">
            <a:noAutofit/>
          </a:bodyPr>
          <a:lstStyle/>
          <a:p>
            <a:pPr algn="l"/>
            <a:r>
              <a:rPr sz="2800" b="1" i="0">
                <a:solidFill>
                  <a:srgbClr val="1B2F5B"/>
                </a:solidFill>
                <a:latin typeface="Calibri"/>
              </a:rPr>
              <a:t>Version</a:t>
            </a:r>
          </a:p>
        </p:txBody>
      </p:sp>
      <p:sp>
        <p:nvSpPr>
          <p:cNvPr id="16" name="Version points"/>
          <p:cNvSpPr txBox="1"/>
          <p:nvPr/>
        </p:nvSpPr>
        <p:spPr>
          <a:xfrm>
            <a:off x="6629400" y="2834640"/>
            <a:ext cx="4572000" cy="1645920"/>
          </a:xfrm>
          <a:prstGeom prst="rect">
            <a:avLst/>
          </a:prstGeom>
          <a:noFill/>
        </p:spPr>
        <p:txBody>
          <a:bodyPr wrap="square" lIns="0" rIns="0" tIns="0" bIns="0" anchor="t">
            <a:noAutofit/>
          </a:bodyPr>
          <a:lstStyle/>
          <a:p>
            <a:pPr algn="l" marL="228600" indent="-228600">
              <a:spcAft>
                <a:spcPts val="800"/>
              </a:spcAft>
              <a:buClr>
                <a:srgbClr val="2F6DB5"/>
              </a:buClr>
              <a:buFont typeface="Arial"/>
              <a:buChar char="•"/>
            </a:pPr>
            <a:r>
              <a:rPr sz="1800" b="0" i="0">
                <a:solidFill>
                  <a:srgbClr val="1B2F5B"/>
                </a:solidFill>
                <a:latin typeface="Calibri"/>
              </a:rPr>
              <a:t>Déclenchée par le calendrier (daily)</a:t>
            </a:r>
          </a:p>
          <a:p>
            <a:pPr algn="l" marL="228600" indent="-228600">
              <a:spcAft>
                <a:spcPts val="800"/>
              </a:spcAft>
              <a:buClr>
                <a:srgbClr val="2F6DB5"/>
              </a:buClr>
              <a:buFont typeface="Arial"/>
              <a:buChar char="•"/>
            </a:pPr>
            <a:r>
              <a:rPr sz="1800" b="0" i="0">
                <a:solidFill>
                  <a:srgbClr val="1B2F5B"/>
                </a:solidFill>
                <a:latin typeface="Calibri"/>
              </a:rPr>
              <a:t>5 PR ouvertes au maximum</a:t>
            </a:r>
          </a:p>
          <a:p>
            <a:pPr algn="l" marL="228600" indent="-228600">
              <a:spcAft>
                <a:spcPts val="800"/>
              </a:spcAft>
              <a:buClr>
                <a:srgbClr val="2F6DB5"/>
              </a:buClr>
              <a:buFont typeface="Arial"/>
              <a:buChar char="•"/>
            </a:pPr>
            <a:r>
              <a:rPr sz="1800" b="0" i="0">
                <a:solidFill>
                  <a:srgbClr val="1B2F5B"/>
                </a:solidFill>
                <a:latin typeface="Calibri"/>
              </a:rPr>
              <a:t>La dernière version publiée</a:t>
            </a:r>
          </a:p>
        </p:txBody>
      </p:sp>
      <p:sp>
        <p:nvSpPr>
          <p:cNvPr id="17" name="Exemple Version"/>
          <p:cNvSpPr/>
          <p:nvPr/>
        </p:nvSpPr>
        <p:spPr>
          <a:xfrm>
            <a:off x="6629400" y="4663440"/>
            <a:ext cx="4572000" cy="914400"/>
          </a:xfrm>
          <a:prstGeom prst="roundRect">
            <a:avLst>
              <a:gd name="adj" fmla="val 10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xemple Version texte"/>
          <p:cNvSpPr txBox="1"/>
          <p:nvPr/>
        </p:nvSpPr>
        <p:spPr>
          <a:xfrm>
            <a:off x="6629400" y="4663440"/>
            <a:ext cx="4572000" cy="914400"/>
          </a:xfrm>
          <a:prstGeom prst="rect">
            <a:avLst/>
          </a:prstGeom>
          <a:noFill/>
        </p:spPr>
        <p:txBody>
          <a:bodyPr wrap="square" lIns="0" rIns="0" tIns="0" bIns="0" anchor="ctr">
            <a:noAutofit/>
          </a:bodyPr>
          <a:lstStyle/>
          <a:p>
            <a:pPr algn="ctr"/>
            <a:r>
              <a:rPr sz="1800" b="1" i="0">
                <a:solidFill>
                  <a:srgbClr val="2F6DB5"/>
                </a:solidFill>
                <a:latin typeface="Calibri"/>
              </a:rPr>
              <a:t>PR n° 8  </a:t>
            </a:r>
            <a:r>
              <a:rPr sz="1800" b="1" i="0">
                <a:solidFill>
                  <a:srgbClr val="1B2F5B"/>
                </a:solidFill>
                <a:latin typeface="Consolas"/>
              </a:rPr>
              <a:t>axios 0.34.0 → 1.20.0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Notre fichier dependabot.yml</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6</a:t>
            </a:fld>
          </a:p>
        </p:txBody>
      </p:sp>
      <p:sp>
        <p:nvSpPr>
          <p:cNvPr id="5" name="Bloc de code"/>
          <p:cNvSpPr/>
          <p:nvPr/>
        </p:nvSpPr>
        <p:spPr>
          <a:xfrm>
            <a:off x="548640" y="1417320"/>
            <a:ext cx="5577840" cy="3291840"/>
          </a:xfrm>
          <a:prstGeom prst="roundRect">
            <a:avLst>
              <a:gd name="adj" fmla="val 3333"/>
            </a:avLst>
          </a:prstGeom>
          <a:solidFill>
            <a:srgbClr val="F4F6FA"/>
          </a:solidFill>
          <a:ln w="12700">
            <a:solidFill>
              <a:srgbClr val="C9D6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om du fichier"/>
          <p:cNvSpPr txBox="1"/>
          <p:nvPr/>
        </p:nvSpPr>
        <p:spPr>
          <a:xfrm>
            <a:off x="868680" y="1554480"/>
            <a:ext cx="4572000" cy="320040"/>
          </a:xfrm>
          <a:prstGeom prst="rect">
            <a:avLst/>
          </a:prstGeom>
          <a:noFill/>
        </p:spPr>
        <p:txBody>
          <a:bodyPr wrap="square" lIns="0" rIns="0" tIns="0" bIns="0" anchor="t">
            <a:noAutofit/>
          </a:bodyPr>
          <a:lstStyle/>
          <a:p>
            <a:pPr algn="l"/>
            <a:r>
              <a:rPr sz="1300" b="0" i="0">
                <a:solidFill>
                  <a:srgbClr val="5B6577"/>
                </a:solidFill>
                <a:latin typeface="Consolas"/>
              </a:rPr>
              <a:t>.github/dependabot.yml</a:t>
            </a:r>
          </a:p>
        </p:txBody>
      </p:sp>
      <p:sp>
        <p:nvSpPr>
          <p:cNvPr id="7" name="Code ligne 1"/>
          <p:cNvSpPr txBox="1"/>
          <p:nvPr/>
        </p:nvSpPr>
        <p:spPr>
          <a:xfrm>
            <a:off x="868680" y="1965960"/>
            <a:ext cx="4663440" cy="384048"/>
          </a:xfrm>
          <a:prstGeom prst="rect">
            <a:avLst/>
          </a:prstGeom>
          <a:noFill/>
        </p:spPr>
        <p:txBody>
          <a:bodyPr wrap="square" lIns="0" rIns="0" tIns="0" bIns="0" anchor="ctr">
            <a:noAutofit/>
          </a:bodyPr>
          <a:lstStyle/>
          <a:p>
            <a:pPr algn="l"/>
            <a:r>
              <a:rPr sz="2000" b="1" i="0">
                <a:solidFill>
                  <a:srgbClr val="1B2F5B"/>
                </a:solidFill>
                <a:latin typeface="Consolas"/>
              </a:rPr>
              <a:t>version</a:t>
            </a:r>
            <a:r>
              <a:rPr sz="2000" b="0" i="0">
                <a:solidFill>
                  <a:srgbClr val="5B6577"/>
                </a:solidFill>
                <a:latin typeface="Consolas"/>
              </a:rPr>
              <a:t>: </a:t>
            </a:r>
            <a:r>
              <a:rPr sz="2000" b="0" i="0">
                <a:solidFill>
                  <a:srgbClr val="2F6DB5"/>
                </a:solidFill>
                <a:latin typeface="Consolas"/>
              </a:rPr>
              <a:t>2</a:t>
            </a:r>
          </a:p>
        </p:txBody>
      </p:sp>
      <p:sp>
        <p:nvSpPr>
          <p:cNvPr id="8" name="Code ligne 2"/>
          <p:cNvSpPr txBox="1"/>
          <p:nvPr/>
        </p:nvSpPr>
        <p:spPr>
          <a:xfrm>
            <a:off x="868680" y="2350008"/>
            <a:ext cx="4663440" cy="384048"/>
          </a:xfrm>
          <a:prstGeom prst="rect">
            <a:avLst/>
          </a:prstGeom>
          <a:noFill/>
        </p:spPr>
        <p:txBody>
          <a:bodyPr wrap="square" lIns="0" rIns="0" tIns="0" bIns="0" anchor="ctr">
            <a:noAutofit/>
          </a:bodyPr>
          <a:lstStyle/>
          <a:p>
            <a:pPr algn="l"/>
            <a:r>
              <a:rPr sz="2000" b="1" i="0">
                <a:solidFill>
                  <a:srgbClr val="1B2F5B"/>
                </a:solidFill>
                <a:latin typeface="Consolas"/>
              </a:rPr>
              <a:t>updates</a:t>
            </a:r>
            <a:r>
              <a:rPr sz="2000" b="0" i="0">
                <a:solidFill>
                  <a:srgbClr val="5B6577"/>
                </a:solidFill>
                <a:latin typeface="Consolas"/>
              </a:rPr>
              <a:t>:</a:t>
            </a:r>
          </a:p>
        </p:txBody>
      </p:sp>
      <p:sp>
        <p:nvSpPr>
          <p:cNvPr id="9" name="Code ligne 3"/>
          <p:cNvSpPr txBox="1"/>
          <p:nvPr/>
        </p:nvSpPr>
        <p:spPr>
          <a:xfrm>
            <a:off x="868680" y="2734056"/>
            <a:ext cx="4663440" cy="384048"/>
          </a:xfrm>
          <a:prstGeom prst="rect">
            <a:avLst/>
          </a:prstGeom>
          <a:noFill/>
        </p:spPr>
        <p:txBody>
          <a:bodyPr wrap="square" lIns="0" rIns="0" tIns="0" bIns="0" anchor="ctr">
            <a:noAutofit/>
          </a:bodyPr>
          <a:lstStyle/>
          <a:p>
            <a:pPr algn="l"/>
            <a:r>
              <a:rPr sz="2000" b="0" i="0">
                <a:solidFill>
                  <a:srgbClr val="5B6577"/>
                </a:solidFill>
                <a:latin typeface="Consolas"/>
              </a:rPr>
              <a:t>  - </a:t>
            </a:r>
            <a:r>
              <a:rPr sz="2000" b="1" i="0">
                <a:solidFill>
                  <a:srgbClr val="1B2F5B"/>
                </a:solidFill>
                <a:latin typeface="Consolas"/>
              </a:rPr>
              <a:t>package-ecosystem</a:t>
            </a:r>
            <a:r>
              <a:rPr sz="2000" b="0" i="0">
                <a:solidFill>
                  <a:srgbClr val="5B6577"/>
                </a:solidFill>
                <a:latin typeface="Consolas"/>
              </a:rPr>
              <a:t>: </a:t>
            </a:r>
            <a:r>
              <a:rPr sz="2000" b="0" i="0">
                <a:solidFill>
                  <a:srgbClr val="2F6DB5"/>
                </a:solidFill>
                <a:latin typeface="Consolas"/>
              </a:rPr>
              <a:t>"npm"</a:t>
            </a:r>
          </a:p>
        </p:txBody>
      </p:sp>
      <p:sp>
        <p:nvSpPr>
          <p:cNvPr id="10" name="Repère 1"/>
          <p:cNvSpPr/>
          <p:nvPr/>
        </p:nvSpPr>
        <p:spPr>
          <a:xfrm>
            <a:off x="5623560" y="2761487"/>
            <a:ext cx="329184" cy="32918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père 1 numéro"/>
          <p:cNvSpPr txBox="1"/>
          <p:nvPr/>
        </p:nvSpPr>
        <p:spPr>
          <a:xfrm>
            <a:off x="5623560" y="2761487"/>
            <a:ext cx="329184" cy="329184"/>
          </a:xfrm>
          <a:prstGeom prst="rect">
            <a:avLst/>
          </a:prstGeom>
          <a:noFill/>
        </p:spPr>
        <p:txBody>
          <a:bodyPr wrap="square" lIns="0" rIns="0" tIns="0" bIns="0" anchor="ctr">
            <a:noAutofit/>
          </a:bodyPr>
          <a:lstStyle/>
          <a:p>
            <a:pPr algn="ctr"/>
            <a:r>
              <a:rPr sz="900" b="1" i="0">
                <a:solidFill>
                  <a:srgbClr val="FFFFFF"/>
                </a:solidFill>
                <a:latin typeface="Calibri"/>
              </a:rPr>
              <a:t>1</a:t>
            </a:r>
          </a:p>
        </p:txBody>
      </p:sp>
      <p:sp>
        <p:nvSpPr>
          <p:cNvPr id="12" name="Code ligne 4"/>
          <p:cNvSpPr txBox="1"/>
          <p:nvPr/>
        </p:nvSpPr>
        <p:spPr>
          <a:xfrm>
            <a:off x="868680" y="3118104"/>
            <a:ext cx="4663440" cy="384048"/>
          </a:xfrm>
          <a:prstGeom prst="rect">
            <a:avLst/>
          </a:prstGeom>
          <a:noFill/>
        </p:spPr>
        <p:txBody>
          <a:bodyPr wrap="square" lIns="0" rIns="0" tIns="0" bIns="0" anchor="ctr">
            <a:noAutofit/>
          </a:bodyPr>
          <a:lstStyle/>
          <a:p>
            <a:pPr algn="l"/>
            <a:r>
              <a:rPr sz="2000" b="0" i="0">
                <a:solidFill>
                  <a:srgbClr val="5B6577"/>
                </a:solidFill>
                <a:latin typeface="Consolas"/>
              </a:rPr>
              <a:t>    </a:t>
            </a:r>
            <a:r>
              <a:rPr sz="2000" b="1" i="0">
                <a:solidFill>
                  <a:srgbClr val="1B2F5B"/>
                </a:solidFill>
                <a:latin typeface="Consolas"/>
              </a:rPr>
              <a:t>directory</a:t>
            </a:r>
            <a:r>
              <a:rPr sz="2000" b="0" i="0">
                <a:solidFill>
                  <a:srgbClr val="5B6577"/>
                </a:solidFill>
                <a:latin typeface="Consolas"/>
              </a:rPr>
              <a:t>: </a:t>
            </a:r>
            <a:r>
              <a:rPr sz="2000" b="0" i="0">
                <a:solidFill>
                  <a:srgbClr val="2F6DB5"/>
                </a:solidFill>
                <a:latin typeface="Consolas"/>
              </a:rPr>
              <a:t>"/"</a:t>
            </a:r>
          </a:p>
        </p:txBody>
      </p:sp>
      <p:sp>
        <p:nvSpPr>
          <p:cNvPr id="13" name="Repère 2"/>
          <p:cNvSpPr/>
          <p:nvPr/>
        </p:nvSpPr>
        <p:spPr>
          <a:xfrm>
            <a:off x="5623560" y="3145536"/>
            <a:ext cx="329184" cy="32918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père 2 numéro"/>
          <p:cNvSpPr txBox="1"/>
          <p:nvPr/>
        </p:nvSpPr>
        <p:spPr>
          <a:xfrm>
            <a:off x="5623560" y="3145536"/>
            <a:ext cx="329184" cy="329184"/>
          </a:xfrm>
          <a:prstGeom prst="rect">
            <a:avLst/>
          </a:prstGeom>
          <a:noFill/>
        </p:spPr>
        <p:txBody>
          <a:bodyPr wrap="square" lIns="0" rIns="0" tIns="0" bIns="0" anchor="ctr">
            <a:noAutofit/>
          </a:bodyPr>
          <a:lstStyle/>
          <a:p>
            <a:pPr algn="ctr"/>
            <a:r>
              <a:rPr sz="900" b="1" i="0">
                <a:solidFill>
                  <a:srgbClr val="FFFFFF"/>
                </a:solidFill>
                <a:latin typeface="Calibri"/>
              </a:rPr>
              <a:t>2</a:t>
            </a:r>
          </a:p>
        </p:txBody>
      </p:sp>
      <p:sp>
        <p:nvSpPr>
          <p:cNvPr id="15" name="Code ligne 5"/>
          <p:cNvSpPr txBox="1"/>
          <p:nvPr/>
        </p:nvSpPr>
        <p:spPr>
          <a:xfrm>
            <a:off x="868680" y="3502152"/>
            <a:ext cx="4663440" cy="384048"/>
          </a:xfrm>
          <a:prstGeom prst="rect">
            <a:avLst/>
          </a:prstGeom>
          <a:noFill/>
        </p:spPr>
        <p:txBody>
          <a:bodyPr wrap="square" lIns="0" rIns="0" tIns="0" bIns="0" anchor="ctr">
            <a:noAutofit/>
          </a:bodyPr>
          <a:lstStyle/>
          <a:p>
            <a:pPr algn="l"/>
            <a:r>
              <a:rPr sz="2000" b="0" i="0">
                <a:solidFill>
                  <a:srgbClr val="5B6577"/>
                </a:solidFill>
                <a:latin typeface="Consolas"/>
              </a:rPr>
              <a:t>    </a:t>
            </a:r>
            <a:r>
              <a:rPr sz="2000" b="1" i="0">
                <a:solidFill>
                  <a:srgbClr val="1B2F5B"/>
                </a:solidFill>
                <a:latin typeface="Consolas"/>
              </a:rPr>
              <a:t>schedule</a:t>
            </a:r>
            <a:r>
              <a:rPr sz="2000" b="0" i="0">
                <a:solidFill>
                  <a:srgbClr val="5B6577"/>
                </a:solidFill>
                <a:latin typeface="Consolas"/>
              </a:rPr>
              <a:t>:</a:t>
            </a:r>
          </a:p>
        </p:txBody>
      </p:sp>
      <p:sp>
        <p:nvSpPr>
          <p:cNvPr id="16" name="Code ligne 6"/>
          <p:cNvSpPr txBox="1"/>
          <p:nvPr/>
        </p:nvSpPr>
        <p:spPr>
          <a:xfrm>
            <a:off x="868680" y="3886200"/>
            <a:ext cx="4663440" cy="384048"/>
          </a:xfrm>
          <a:prstGeom prst="rect">
            <a:avLst/>
          </a:prstGeom>
          <a:noFill/>
        </p:spPr>
        <p:txBody>
          <a:bodyPr wrap="square" lIns="0" rIns="0" tIns="0" bIns="0" anchor="ctr">
            <a:noAutofit/>
          </a:bodyPr>
          <a:lstStyle/>
          <a:p>
            <a:pPr algn="l"/>
            <a:r>
              <a:rPr sz="2000" b="0" i="0">
                <a:solidFill>
                  <a:srgbClr val="5B6577"/>
                </a:solidFill>
                <a:latin typeface="Consolas"/>
              </a:rPr>
              <a:t>      </a:t>
            </a:r>
            <a:r>
              <a:rPr sz="2000" b="1" i="0">
                <a:solidFill>
                  <a:srgbClr val="1B2F5B"/>
                </a:solidFill>
                <a:latin typeface="Consolas"/>
              </a:rPr>
              <a:t>interval</a:t>
            </a:r>
            <a:r>
              <a:rPr sz="2000" b="0" i="0">
                <a:solidFill>
                  <a:srgbClr val="5B6577"/>
                </a:solidFill>
                <a:latin typeface="Consolas"/>
              </a:rPr>
              <a:t>: </a:t>
            </a:r>
            <a:r>
              <a:rPr sz="2000" b="0" i="0">
                <a:solidFill>
                  <a:srgbClr val="2F6DB5"/>
                </a:solidFill>
                <a:latin typeface="Consolas"/>
              </a:rPr>
              <a:t>"daily"</a:t>
            </a:r>
          </a:p>
        </p:txBody>
      </p:sp>
      <p:sp>
        <p:nvSpPr>
          <p:cNvPr id="17" name="Repère 3"/>
          <p:cNvSpPr/>
          <p:nvPr/>
        </p:nvSpPr>
        <p:spPr>
          <a:xfrm>
            <a:off x="5623560" y="3913632"/>
            <a:ext cx="329184" cy="32918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père 3 numéro"/>
          <p:cNvSpPr txBox="1"/>
          <p:nvPr/>
        </p:nvSpPr>
        <p:spPr>
          <a:xfrm>
            <a:off x="5623560" y="3913632"/>
            <a:ext cx="329184" cy="329184"/>
          </a:xfrm>
          <a:prstGeom prst="rect">
            <a:avLst/>
          </a:prstGeom>
          <a:noFill/>
        </p:spPr>
        <p:txBody>
          <a:bodyPr wrap="square" lIns="0" rIns="0" tIns="0" bIns="0" anchor="ctr">
            <a:noAutofit/>
          </a:bodyPr>
          <a:lstStyle/>
          <a:p>
            <a:pPr algn="ctr"/>
            <a:r>
              <a:rPr sz="900" b="1" i="0">
                <a:solidFill>
                  <a:srgbClr val="FFFFFF"/>
                </a:solidFill>
                <a:latin typeface="Calibri"/>
              </a:rPr>
              <a:t>3</a:t>
            </a:r>
          </a:p>
        </p:txBody>
      </p:sp>
      <p:sp>
        <p:nvSpPr>
          <p:cNvPr id="19" name="Clé 1"/>
          <p:cNvSpPr/>
          <p:nvPr/>
        </p:nvSpPr>
        <p:spPr>
          <a:xfrm>
            <a:off x="6675120" y="1600200"/>
            <a:ext cx="502920" cy="50292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lé 1 numéro"/>
          <p:cNvSpPr txBox="1"/>
          <p:nvPr/>
        </p:nvSpPr>
        <p:spPr>
          <a:xfrm>
            <a:off x="6675120" y="1600200"/>
            <a:ext cx="502920" cy="502920"/>
          </a:xfrm>
          <a:prstGeom prst="rect">
            <a:avLst/>
          </a:prstGeom>
          <a:noFill/>
        </p:spPr>
        <p:txBody>
          <a:bodyPr wrap="square" lIns="0" rIns="0" tIns="0" bIns="0" anchor="ctr">
            <a:noAutofit/>
          </a:bodyPr>
          <a:lstStyle/>
          <a:p>
            <a:pPr algn="ctr"/>
            <a:r>
              <a:rPr sz="1400" b="1" i="0">
                <a:solidFill>
                  <a:srgbClr val="FFFFFF"/>
                </a:solidFill>
                <a:latin typeface="Calibri"/>
              </a:rPr>
              <a:t>1</a:t>
            </a:r>
          </a:p>
        </p:txBody>
      </p:sp>
      <p:sp>
        <p:nvSpPr>
          <p:cNvPr id="21" name="Clé 1 titre"/>
          <p:cNvSpPr txBox="1"/>
          <p:nvPr/>
        </p:nvSpPr>
        <p:spPr>
          <a:xfrm>
            <a:off x="7406640" y="1554480"/>
            <a:ext cx="4206240" cy="411480"/>
          </a:xfrm>
          <a:prstGeom prst="rect">
            <a:avLst/>
          </a:prstGeom>
          <a:noFill/>
        </p:spPr>
        <p:txBody>
          <a:bodyPr wrap="square" lIns="0" rIns="0" tIns="0" bIns="0" anchor="ctr">
            <a:noAutofit/>
          </a:bodyPr>
          <a:lstStyle/>
          <a:p>
            <a:pPr algn="l"/>
            <a:r>
              <a:rPr sz="2200" b="1" i="0">
                <a:solidFill>
                  <a:srgbClr val="1B2F5B"/>
                </a:solidFill>
                <a:latin typeface="Calibri"/>
              </a:rPr>
              <a:t>Quoi</a:t>
            </a:r>
          </a:p>
        </p:txBody>
      </p:sp>
      <p:sp>
        <p:nvSpPr>
          <p:cNvPr id="22" name="Clé 1 détail"/>
          <p:cNvSpPr txBox="1"/>
          <p:nvPr/>
        </p:nvSpPr>
        <p:spPr>
          <a:xfrm>
            <a:off x="7406640" y="1965960"/>
            <a:ext cx="4206240" cy="411480"/>
          </a:xfrm>
          <a:prstGeom prst="rect">
            <a:avLst/>
          </a:prstGeom>
          <a:noFill/>
        </p:spPr>
        <p:txBody>
          <a:bodyPr wrap="square" lIns="0" rIns="0" tIns="0" bIns="0" anchor="ctr">
            <a:noAutofit/>
          </a:bodyPr>
          <a:lstStyle/>
          <a:p>
            <a:pPr algn="l"/>
            <a:r>
              <a:rPr sz="1600" b="0" i="0">
                <a:solidFill>
                  <a:srgbClr val="5B6577"/>
                </a:solidFill>
                <a:latin typeface="Calibri"/>
              </a:rPr>
              <a:t>npm : package.json + package-lock.json</a:t>
            </a:r>
          </a:p>
        </p:txBody>
      </p:sp>
      <p:sp>
        <p:nvSpPr>
          <p:cNvPr id="23" name="Clé 2"/>
          <p:cNvSpPr/>
          <p:nvPr/>
        </p:nvSpPr>
        <p:spPr>
          <a:xfrm>
            <a:off x="6675120" y="2651759"/>
            <a:ext cx="502920" cy="50292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lé 2 numéro"/>
          <p:cNvSpPr txBox="1"/>
          <p:nvPr/>
        </p:nvSpPr>
        <p:spPr>
          <a:xfrm>
            <a:off x="6675120" y="2651759"/>
            <a:ext cx="502920" cy="502920"/>
          </a:xfrm>
          <a:prstGeom prst="rect">
            <a:avLst/>
          </a:prstGeom>
          <a:noFill/>
        </p:spPr>
        <p:txBody>
          <a:bodyPr wrap="square" lIns="0" rIns="0" tIns="0" bIns="0" anchor="ctr">
            <a:noAutofit/>
          </a:bodyPr>
          <a:lstStyle/>
          <a:p>
            <a:pPr algn="ctr"/>
            <a:r>
              <a:rPr sz="1400" b="1" i="0">
                <a:solidFill>
                  <a:srgbClr val="FFFFFF"/>
                </a:solidFill>
                <a:latin typeface="Calibri"/>
              </a:rPr>
              <a:t>2</a:t>
            </a:r>
          </a:p>
        </p:txBody>
      </p:sp>
      <p:sp>
        <p:nvSpPr>
          <p:cNvPr id="25" name="Clé 2 titre"/>
          <p:cNvSpPr txBox="1"/>
          <p:nvPr/>
        </p:nvSpPr>
        <p:spPr>
          <a:xfrm>
            <a:off x="7406640" y="2606039"/>
            <a:ext cx="4206240" cy="411480"/>
          </a:xfrm>
          <a:prstGeom prst="rect">
            <a:avLst/>
          </a:prstGeom>
          <a:noFill/>
        </p:spPr>
        <p:txBody>
          <a:bodyPr wrap="square" lIns="0" rIns="0" tIns="0" bIns="0" anchor="ctr">
            <a:noAutofit/>
          </a:bodyPr>
          <a:lstStyle/>
          <a:p>
            <a:pPr algn="l"/>
            <a:r>
              <a:rPr sz="2200" b="1" i="0">
                <a:solidFill>
                  <a:srgbClr val="1B2F5B"/>
                </a:solidFill>
                <a:latin typeface="Calibri"/>
              </a:rPr>
              <a:t>Où</a:t>
            </a:r>
          </a:p>
        </p:txBody>
      </p:sp>
      <p:sp>
        <p:nvSpPr>
          <p:cNvPr id="26" name="Clé 2 détail"/>
          <p:cNvSpPr txBox="1"/>
          <p:nvPr/>
        </p:nvSpPr>
        <p:spPr>
          <a:xfrm>
            <a:off x="7406640" y="3017520"/>
            <a:ext cx="4206240" cy="411480"/>
          </a:xfrm>
          <a:prstGeom prst="rect">
            <a:avLst/>
          </a:prstGeom>
          <a:noFill/>
        </p:spPr>
        <p:txBody>
          <a:bodyPr wrap="square" lIns="0" rIns="0" tIns="0" bIns="0" anchor="ctr">
            <a:noAutofit/>
          </a:bodyPr>
          <a:lstStyle/>
          <a:p>
            <a:pPr algn="l"/>
            <a:r>
              <a:rPr sz="1600" b="0" i="0">
                <a:solidFill>
                  <a:srgbClr val="5B6577"/>
                </a:solidFill>
                <a:latin typeface="Calibri"/>
              </a:rPr>
              <a:t>"/" : la racine du dépôt</a:t>
            </a:r>
          </a:p>
        </p:txBody>
      </p:sp>
      <p:sp>
        <p:nvSpPr>
          <p:cNvPr id="27" name="Clé 3"/>
          <p:cNvSpPr/>
          <p:nvPr/>
        </p:nvSpPr>
        <p:spPr>
          <a:xfrm>
            <a:off x="6675120" y="3703320"/>
            <a:ext cx="502920" cy="50292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lé 3 numéro"/>
          <p:cNvSpPr txBox="1"/>
          <p:nvPr/>
        </p:nvSpPr>
        <p:spPr>
          <a:xfrm>
            <a:off x="6675120" y="3703320"/>
            <a:ext cx="502920" cy="502920"/>
          </a:xfrm>
          <a:prstGeom prst="rect">
            <a:avLst/>
          </a:prstGeom>
          <a:noFill/>
        </p:spPr>
        <p:txBody>
          <a:bodyPr wrap="square" lIns="0" rIns="0" tIns="0" bIns="0" anchor="ctr">
            <a:noAutofit/>
          </a:bodyPr>
          <a:lstStyle/>
          <a:p>
            <a:pPr algn="ctr"/>
            <a:r>
              <a:rPr sz="1400" b="1" i="0">
                <a:solidFill>
                  <a:srgbClr val="FFFFFF"/>
                </a:solidFill>
                <a:latin typeface="Calibri"/>
              </a:rPr>
              <a:t>3</a:t>
            </a:r>
          </a:p>
        </p:txBody>
      </p:sp>
      <p:sp>
        <p:nvSpPr>
          <p:cNvPr id="29" name="Clé 3 titre"/>
          <p:cNvSpPr txBox="1"/>
          <p:nvPr/>
        </p:nvSpPr>
        <p:spPr>
          <a:xfrm>
            <a:off x="7406640" y="3657600"/>
            <a:ext cx="4206240" cy="411480"/>
          </a:xfrm>
          <a:prstGeom prst="rect">
            <a:avLst/>
          </a:prstGeom>
          <a:noFill/>
        </p:spPr>
        <p:txBody>
          <a:bodyPr wrap="square" lIns="0" rIns="0" tIns="0" bIns="0" anchor="ctr">
            <a:noAutofit/>
          </a:bodyPr>
          <a:lstStyle/>
          <a:p>
            <a:pPr algn="l"/>
            <a:r>
              <a:rPr sz="2200" b="1" i="0">
                <a:solidFill>
                  <a:srgbClr val="1B2F5B"/>
                </a:solidFill>
                <a:latin typeface="Calibri"/>
              </a:rPr>
              <a:t>Quand</a:t>
            </a:r>
          </a:p>
        </p:txBody>
      </p:sp>
      <p:sp>
        <p:nvSpPr>
          <p:cNvPr id="30" name="Clé 3 détail"/>
          <p:cNvSpPr txBox="1"/>
          <p:nvPr/>
        </p:nvSpPr>
        <p:spPr>
          <a:xfrm>
            <a:off x="7406640" y="4069080"/>
            <a:ext cx="4206240" cy="411480"/>
          </a:xfrm>
          <a:prstGeom prst="rect">
            <a:avLst/>
          </a:prstGeom>
          <a:noFill/>
        </p:spPr>
        <p:txBody>
          <a:bodyPr wrap="square" lIns="0" rIns="0" tIns="0" bIns="0" anchor="ctr">
            <a:noAutofit/>
          </a:bodyPr>
          <a:lstStyle/>
          <a:p>
            <a:pPr algn="l"/>
            <a:r>
              <a:rPr sz="1600" b="0" i="0">
                <a:solidFill>
                  <a:srgbClr val="5B6577"/>
                </a:solidFill>
                <a:latin typeface="Calibri"/>
              </a:rPr>
              <a:t>daily : une vérification par jour</a:t>
            </a:r>
          </a:p>
        </p:txBody>
      </p:sp>
      <p:sp>
        <p:nvSpPr>
          <p:cNvPr id="31" name="Valeurs par défaut fond"/>
          <p:cNvSpPr/>
          <p:nvPr/>
        </p:nvSpPr>
        <p:spPr>
          <a:xfrm>
            <a:off x="548640" y="5029200"/>
            <a:ext cx="11064240" cy="914400"/>
          </a:xfrm>
          <a:prstGeom prst="roundRect">
            <a:avLst>
              <a:gd name="adj" fmla="val 10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Valeurs par défaut"/>
          <p:cNvSpPr txBox="1"/>
          <p:nvPr/>
        </p:nvSpPr>
        <p:spPr>
          <a:xfrm>
            <a:off x="822960" y="5029200"/>
            <a:ext cx="10515600" cy="914400"/>
          </a:xfrm>
          <a:prstGeom prst="rect">
            <a:avLst/>
          </a:prstGeom>
          <a:noFill/>
        </p:spPr>
        <p:txBody>
          <a:bodyPr wrap="square" lIns="0" rIns="0" tIns="0" bIns="0" anchor="ctr">
            <a:noAutofit/>
          </a:bodyPr>
          <a:lstStyle/>
          <a:p>
            <a:pPr algn="l"/>
            <a:r>
              <a:rPr sz="1800" b="1" i="0">
                <a:solidFill>
                  <a:srgbClr val="1B2F5B"/>
                </a:solidFill>
                <a:latin typeface="Calibri"/>
              </a:rPr>
              <a:t>Non écrit = valeur par défaut :  </a:t>
            </a:r>
            <a:r>
              <a:rPr sz="1800" b="0" i="0">
                <a:solidFill>
                  <a:srgbClr val="1B2F5B"/>
                </a:solidFill>
                <a:latin typeface="Calibri"/>
              </a:rPr>
              <a:t>5 PR de version max  ·  pas de groupes  ·  pas d'exclusion  ·  3 jours d'attente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Démo en direct</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7</a:t>
            </a:fld>
          </a:p>
        </p:txBody>
      </p:sp>
      <p:pic>
        <p:nvPicPr>
          <p:cNvPr id="5" name="Logo GitHub" descr="github.png"/>
          <p:cNvPicPr>
            <a:picLocks noChangeAspect="1"/>
          </p:cNvPicPr>
          <p:nvPr/>
        </p:nvPicPr>
        <p:blipFill>
          <a:blip r:embed="rId2"/>
          <a:stretch>
            <a:fillRect/>
          </a:stretch>
        </p:blipFill>
        <p:spPr>
          <a:xfrm>
            <a:off x="548640" y="1371600"/>
            <a:ext cx="384048" cy="384048"/>
          </a:xfrm>
          <a:prstGeom prst="rect">
            <a:avLst/>
          </a:prstGeom>
        </p:spPr>
      </p:pic>
      <p:sp>
        <p:nvSpPr>
          <p:cNvPr id="6" name="Adresse du dépôt"/>
          <p:cNvSpPr txBox="1"/>
          <p:nvPr/>
        </p:nvSpPr>
        <p:spPr>
          <a:xfrm>
            <a:off x="1051560" y="1371600"/>
            <a:ext cx="10058400" cy="384048"/>
          </a:xfrm>
          <a:prstGeom prst="rect">
            <a:avLst/>
          </a:prstGeom>
          <a:noFill/>
        </p:spPr>
        <p:txBody>
          <a:bodyPr wrap="square" lIns="0" rIns="0" tIns="0" bIns="0" anchor="ctr">
            <a:noAutofit/>
          </a:bodyPr>
          <a:lstStyle/>
          <a:p>
            <a:pPr algn="l"/>
            <a:r>
              <a:rPr sz="1800" b="0" i="0">
                <a:solidFill>
                  <a:srgbClr val="1B2F5B"/>
                </a:solidFill>
                <a:latin typeface="Consolas"/>
              </a:rPr>
              <a:t>github.com/camanalyste-hub/demo-dependabotv1</a:t>
            </a:r>
          </a:p>
        </p:txBody>
      </p:sp>
      <p:sp>
        <p:nvSpPr>
          <p:cNvPr id="7" name="Démo étape 1"/>
          <p:cNvSpPr/>
          <p:nvPr/>
        </p:nvSpPr>
        <p:spPr>
          <a:xfrm>
            <a:off x="548640" y="2103120"/>
            <a:ext cx="11064240" cy="822960"/>
          </a:xfrm>
          <a:prstGeom prst="roundRect">
            <a:avLst>
              <a:gd name="adj" fmla="val 11111"/>
            </a:avLst>
          </a:prstGeom>
          <a:solidFill>
            <a:srgbClr val="EAF1FB"/>
          </a:solidFill>
          <a:ln w="12700">
            <a:solidFill>
              <a:srgbClr val="EAF1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émo numéro 1"/>
          <p:cNvSpPr/>
          <p:nvPr/>
        </p:nvSpPr>
        <p:spPr>
          <a:xfrm>
            <a:off x="777240" y="2258568"/>
            <a:ext cx="512064" cy="51206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émo numéro 1 numéro"/>
          <p:cNvSpPr txBox="1"/>
          <p:nvPr/>
        </p:nvSpPr>
        <p:spPr>
          <a:xfrm>
            <a:off x="777240" y="2258568"/>
            <a:ext cx="512064" cy="512064"/>
          </a:xfrm>
          <a:prstGeom prst="rect">
            <a:avLst/>
          </a:prstGeom>
          <a:noFill/>
        </p:spPr>
        <p:txBody>
          <a:bodyPr wrap="square" lIns="0" rIns="0" tIns="0" bIns="0" anchor="ctr">
            <a:noAutofit/>
          </a:bodyPr>
          <a:lstStyle/>
          <a:p>
            <a:pPr algn="ctr"/>
            <a:r>
              <a:rPr sz="1500" b="1" i="0">
                <a:solidFill>
                  <a:srgbClr val="FFFFFF"/>
                </a:solidFill>
                <a:latin typeface="Calibri"/>
              </a:rPr>
              <a:t>1</a:t>
            </a:r>
          </a:p>
        </p:txBody>
      </p:sp>
      <p:sp>
        <p:nvSpPr>
          <p:cNvPr id="10" name="Démo verbe 1"/>
          <p:cNvSpPr txBox="1"/>
          <p:nvPr/>
        </p:nvSpPr>
        <p:spPr>
          <a:xfrm>
            <a:off x="1508760" y="2103120"/>
            <a:ext cx="1737360" cy="822960"/>
          </a:xfrm>
          <a:prstGeom prst="rect">
            <a:avLst/>
          </a:prstGeom>
          <a:noFill/>
        </p:spPr>
        <p:txBody>
          <a:bodyPr wrap="square" lIns="0" rIns="0" tIns="0" bIns="0" anchor="ctr">
            <a:noAutofit/>
          </a:bodyPr>
          <a:lstStyle/>
          <a:p>
            <a:pPr algn="l"/>
            <a:r>
              <a:rPr sz="2000" b="1" i="0">
                <a:solidFill>
                  <a:srgbClr val="1B2F5B"/>
                </a:solidFill>
                <a:latin typeface="Calibri"/>
              </a:rPr>
              <a:t>Détecter</a:t>
            </a:r>
          </a:p>
        </p:txBody>
      </p:sp>
      <p:sp>
        <p:nvSpPr>
          <p:cNvPr id="11" name="Démo lieu 1"/>
          <p:cNvSpPr txBox="1"/>
          <p:nvPr/>
        </p:nvSpPr>
        <p:spPr>
          <a:xfrm>
            <a:off x="3291840" y="2103120"/>
            <a:ext cx="3383280" cy="822960"/>
          </a:xfrm>
          <a:prstGeom prst="rect">
            <a:avLst/>
          </a:prstGeom>
          <a:noFill/>
        </p:spPr>
        <p:txBody>
          <a:bodyPr wrap="square" lIns="0" rIns="0" tIns="0" bIns="0" anchor="ctr">
            <a:noAutofit/>
          </a:bodyPr>
          <a:lstStyle/>
          <a:p>
            <a:pPr algn="l"/>
            <a:r>
              <a:rPr sz="1700" b="1" i="0">
                <a:solidFill>
                  <a:srgbClr val="2F6DB5"/>
                </a:solidFill>
                <a:latin typeface="Calibri"/>
              </a:rPr>
              <a:t>Security › Dependabot alerts</a:t>
            </a:r>
          </a:p>
        </p:txBody>
      </p:sp>
      <p:sp>
        <p:nvSpPr>
          <p:cNvPr id="12" name="Démo contenu 1"/>
          <p:cNvSpPr txBox="1"/>
          <p:nvPr/>
        </p:nvSpPr>
        <p:spPr>
          <a:xfrm>
            <a:off x="6720840" y="2103120"/>
            <a:ext cx="4754880" cy="822960"/>
          </a:xfrm>
          <a:prstGeom prst="rect">
            <a:avLst/>
          </a:prstGeom>
          <a:noFill/>
        </p:spPr>
        <p:txBody>
          <a:bodyPr wrap="square" lIns="0" rIns="0" tIns="0" bIns="0" anchor="ctr">
            <a:noAutofit/>
          </a:bodyPr>
          <a:lstStyle/>
          <a:p>
            <a:pPr algn="l"/>
            <a:r>
              <a:rPr sz="1700" b="0" i="0">
                <a:solidFill>
                  <a:srgbClr val="1B2F5B"/>
                </a:solidFill>
                <a:latin typeface="Calibri"/>
              </a:rPr>
              <a:t>37 alertes : axios, lodash, vite, esbuild</a:t>
            </a:r>
          </a:p>
        </p:txBody>
      </p:sp>
      <p:sp>
        <p:nvSpPr>
          <p:cNvPr id="13" name="Démo étape 2"/>
          <p:cNvSpPr/>
          <p:nvPr/>
        </p:nvSpPr>
        <p:spPr>
          <a:xfrm>
            <a:off x="548640" y="3090672"/>
            <a:ext cx="11064240" cy="822960"/>
          </a:xfrm>
          <a:prstGeom prst="roundRect">
            <a:avLst>
              <a:gd name="adj" fmla="val 11111"/>
            </a:avLst>
          </a:prstGeom>
          <a:solidFill>
            <a:srgbClr val="FFFFFF"/>
          </a:solidFill>
          <a:ln w="12700">
            <a:solidFill>
              <a:srgbClr val="EAF1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émo numéro 2"/>
          <p:cNvSpPr/>
          <p:nvPr/>
        </p:nvSpPr>
        <p:spPr>
          <a:xfrm>
            <a:off x="777240" y="3246120"/>
            <a:ext cx="512064" cy="51206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émo numéro 2 numéro"/>
          <p:cNvSpPr txBox="1"/>
          <p:nvPr/>
        </p:nvSpPr>
        <p:spPr>
          <a:xfrm>
            <a:off x="777240" y="3246120"/>
            <a:ext cx="512064" cy="512064"/>
          </a:xfrm>
          <a:prstGeom prst="rect">
            <a:avLst/>
          </a:prstGeom>
          <a:noFill/>
        </p:spPr>
        <p:txBody>
          <a:bodyPr wrap="square" lIns="0" rIns="0" tIns="0" bIns="0" anchor="ctr">
            <a:noAutofit/>
          </a:bodyPr>
          <a:lstStyle/>
          <a:p>
            <a:pPr algn="ctr"/>
            <a:r>
              <a:rPr sz="1500" b="1" i="0">
                <a:solidFill>
                  <a:srgbClr val="FFFFFF"/>
                </a:solidFill>
                <a:latin typeface="Calibri"/>
              </a:rPr>
              <a:t>2</a:t>
            </a:r>
          </a:p>
        </p:txBody>
      </p:sp>
      <p:sp>
        <p:nvSpPr>
          <p:cNvPr id="16" name="Démo verbe 2"/>
          <p:cNvSpPr txBox="1"/>
          <p:nvPr/>
        </p:nvSpPr>
        <p:spPr>
          <a:xfrm>
            <a:off x="1508760" y="3090672"/>
            <a:ext cx="1737360" cy="822960"/>
          </a:xfrm>
          <a:prstGeom prst="rect">
            <a:avLst/>
          </a:prstGeom>
          <a:noFill/>
        </p:spPr>
        <p:txBody>
          <a:bodyPr wrap="square" lIns="0" rIns="0" tIns="0" bIns="0" anchor="ctr">
            <a:noAutofit/>
          </a:bodyPr>
          <a:lstStyle/>
          <a:p>
            <a:pPr algn="l"/>
            <a:r>
              <a:rPr sz="2000" b="1" i="0">
                <a:solidFill>
                  <a:srgbClr val="1B2F5B"/>
                </a:solidFill>
                <a:latin typeface="Calibri"/>
              </a:rPr>
              <a:t>Proposer</a:t>
            </a:r>
          </a:p>
        </p:txBody>
      </p:sp>
      <p:sp>
        <p:nvSpPr>
          <p:cNvPr id="17" name="Démo lieu 2"/>
          <p:cNvSpPr txBox="1"/>
          <p:nvPr/>
        </p:nvSpPr>
        <p:spPr>
          <a:xfrm>
            <a:off x="3291840" y="3090672"/>
            <a:ext cx="3383280" cy="822960"/>
          </a:xfrm>
          <a:prstGeom prst="rect">
            <a:avLst/>
          </a:prstGeom>
          <a:noFill/>
        </p:spPr>
        <p:txBody>
          <a:bodyPr wrap="square" lIns="0" rIns="0" tIns="0" bIns="0" anchor="ctr">
            <a:noAutofit/>
          </a:bodyPr>
          <a:lstStyle/>
          <a:p>
            <a:pPr algn="l"/>
            <a:r>
              <a:rPr sz="1700" b="1" i="0">
                <a:solidFill>
                  <a:srgbClr val="2F6DB5"/>
                </a:solidFill>
                <a:latin typeface="Calibri"/>
              </a:rPr>
              <a:t>Pull requests</a:t>
            </a:r>
          </a:p>
        </p:txBody>
      </p:sp>
      <p:sp>
        <p:nvSpPr>
          <p:cNvPr id="18" name="Démo contenu 2"/>
          <p:cNvSpPr txBox="1"/>
          <p:nvPr/>
        </p:nvSpPr>
        <p:spPr>
          <a:xfrm>
            <a:off x="6720840" y="3090672"/>
            <a:ext cx="4754880" cy="822960"/>
          </a:xfrm>
          <a:prstGeom prst="rect">
            <a:avLst/>
          </a:prstGeom>
          <a:noFill/>
        </p:spPr>
        <p:txBody>
          <a:bodyPr wrap="square" lIns="0" rIns="0" tIns="0" bIns="0" anchor="ctr">
            <a:noAutofit/>
          </a:bodyPr>
          <a:lstStyle/>
          <a:p>
            <a:pPr algn="l"/>
            <a:r>
              <a:rPr sz="1700" b="0" i="0">
                <a:solidFill>
                  <a:srgbClr val="1B2F5B"/>
                </a:solidFill>
                <a:latin typeface="Calibri"/>
              </a:rPr>
              <a:t>n° 9 sécurité (0.33.0)  vs  n° 8 version (1.20.0)</a:t>
            </a:r>
          </a:p>
        </p:txBody>
      </p:sp>
      <p:sp>
        <p:nvSpPr>
          <p:cNvPr id="19" name="Démo étape 3"/>
          <p:cNvSpPr/>
          <p:nvPr/>
        </p:nvSpPr>
        <p:spPr>
          <a:xfrm>
            <a:off x="548640" y="4078224"/>
            <a:ext cx="11064240" cy="822960"/>
          </a:xfrm>
          <a:prstGeom prst="roundRect">
            <a:avLst>
              <a:gd name="adj" fmla="val 11111"/>
            </a:avLst>
          </a:prstGeom>
          <a:solidFill>
            <a:srgbClr val="EAF1FB"/>
          </a:solidFill>
          <a:ln w="12700">
            <a:solidFill>
              <a:srgbClr val="EAF1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émo numéro 3"/>
          <p:cNvSpPr/>
          <p:nvPr/>
        </p:nvSpPr>
        <p:spPr>
          <a:xfrm>
            <a:off x="777240" y="4233672"/>
            <a:ext cx="512064" cy="51206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émo numéro 3 numéro"/>
          <p:cNvSpPr txBox="1"/>
          <p:nvPr/>
        </p:nvSpPr>
        <p:spPr>
          <a:xfrm>
            <a:off x="777240" y="4233672"/>
            <a:ext cx="512064" cy="512064"/>
          </a:xfrm>
          <a:prstGeom prst="rect">
            <a:avLst/>
          </a:prstGeom>
          <a:noFill/>
        </p:spPr>
        <p:txBody>
          <a:bodyPr wrap="square" lIns="0" rIns="0" tIns="0" bIns="0" anchor="ctr">
            <a:noAutofit/>
          </a:bodyPr>
          <a:lstStyle/>
          <a:p>
            <a:pPr algn="ctr"/>
            <a:r>
              <a:rPr sz="1500" b="1" i="0">
                <a:solidFill>
                  <a:srgbClr val="FFFFFF"/>
                </a:solidFill>
                <a:latin typeface="Calibri"/>
              </a:rPr>
              <a:t>3</a:t>
            </a:r>
          </a:p>
        </p:txBody>
      </p:sp>
      <p:sp>
        <p:nvSpPr>
          <p:cNvPr id="22" name="Démo verbe 3"/>
          <p:cNvSpPr txBox="1"/>
          <p:nvPr/>
        </p:nvSpPr>
        <p:spPr>
          <a:xfrm>
            <a:off x="1508760" y="4078224"/>
            <a:ext cx="1737360" cy="822960"/>
          </a:xfrm>
          <a:prstGeom prst="rect">
            <a:avLst/>
          </a:prstGeom>
          <a:noFill/>
        </p:spPr>
        <p:txBody>
          <a:bodyPr wrap="square" lIns="0" rIns="0" tIns="0" bIns="0" anchor="ctr">
            <a:noAutofit/>
          </a:bodyPr>
          <a:lstStyle/>
          <a:p>
            <a:pPr algn="l"/>
            <a:r>
              <a:rPr sz="2000" b="1" i="0">
                <a:solidFill>
                  <a:srgbClr val="1B2F5B"/>
                </a:solidFill>
                <a:latin typeface="Calibri"/>
              </a:rPr>
              <a:t>Vérifier</a:t>
            </a:r>
          </a:p>
        </p:txBody>
      </p:sp>
      <p:sp>
        <p:nvSpPr>
          <p:cNvPr id="23" name="Démo lieu 3"/>
          <p:cNvSpPr txBox="1"/>
          <p:nvPr/>
        </p:nvSpPr>
        <p:spPr>
          <a:xfrm>
            <a:off x="3291840" y="4078224"/>
            <a:ext cx="3383280" cy="822960"/>
          </a:xfrm>
          <a:prstGeom prst="rect">
            <a:avLst/>
          </a:prstGeom>
          <a:noFill/>
        </p:spPr>
        <p:txBody>
          <a:bodyPr wrap="square" lIns="0" rIns="0" tIns="0" bIns="0" anchor="ctr">
            <a:noAutofit/>
          </a:bodyPr>
          <a:lstStyle/>
          <a:p>
            <a:pPr algn="l"/>
            <a:r>
              <a:rPr sz="1700" b="1" i="0">
                <a:solidFill>
                  <a:srgbClr val="2F6DB5"/>
                </a:solidFill>
                <a:latin typeface="Calibri"/>
              </a:rPr>
              <a:t>Checks d'une PR</a:t>
            </a:r>
          </a:p>
        </p:txBody>
      </p:sp>
      <p:sp>
        <p:nvSpPr>
          <p:cNvPr id="24" name="Démo contenu 3"/>
          <p:cNvSpPr txBox="1"/>
          <p:nvPr/>
        </p:nvSpPr>
        <p:spPr>
          <a:xfrm>
            <a:off x="6720840" y="4078224"/>
            <a:ext cx="4754880" cy="822960"/>
          </a:xfrm>
          <a:prstGeom prst="rect">
            <a:avLst/>
          </a:prstGeom>
          <a:noFill/>
        </p:spPr>
        <p:txBody>
          <a:bodyPr wrap="square" lIns="0" rIns="0" tIns="0" bIns="0" anchor="ctr">
            <a:noAutofit/>
          </a:bodyPr>
          <a:lstStyle/>
          <a:p>
            <a:pPr algn="l"/>
            <a:r>
              <a:rPr sz="1700" b="0" i="0">
                <a:solidFill>
                  <a:srgbClr val="1B2F5B"/>
                </a:solidFill>
                <a:latin typeface="Calibri"/>
              </a:rPr>
              <a:t>n° 1 vite groupé : </a:t>
            </a:r>
            <a:r>
              <a:rPr sz="1700" b="1" i="0">
                <a:solidFill>
                  <a:srgbClr val="2E7D32"/>
                </a:solidFill>
                <a:latin typeface="Calibri"/>
              </a:rPr>
              <a:t>vert</a:t>
            </a:r>
            <a:r>
              <a:rPr sz="1700" b="0" i="0">
                <a:solidFill>
                  <a:srgbClr val="1B2F5B"/>
                </a:solidFill>
                <a:latin typeface="Calibri"/>
              </a:rPr>
              <a:t>  vs  n° 10 vite seul : </a:t>
            </a:r>
            <a:r>
              <a:rPr sz="1700" b="1" i="0">
                <a:solidFill>
                  <a:srgbClr val="C62828"/>
                </a:solidFill>
                <a:latin typeface="Calibri"/>
              </a:rPr>
              <a:t>rouge</a:t>
            </a:r>
          </a:p>
        </p:txBody>
      </p:sp>
      <p:sp>
        <p:nvSpPr>
          <p:cNvPr id="25" name="Démo étape 4"/>
          <p:cNvSpPr/>
          <p:nvPr/>
        </p:nvSpPr>
        <p:spPr>
          <a:xfrm>
            <a:off x="548640" y="5065776"/>
            <a:ext cx="11064240" cy="822960"/>
          </a:xfrm>
          <a:prstGeom prst="roundRect">
            <a:avLst>
              <a:gd name="adj" fmla="val 11111"/>
            </a:avLst>
          </a:prstGeom>
          <a:solidFill>
            <a:srgbClr val="FFFFFF"/>
          </a:solidFill>
          <a:ln w="12700">
            <a:solidFill>
              <a:srgbClr val="EAF1F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émo numéro 4"/>
          <p:cNvSpPr/>
          <p:nvPr/>
        </p:nvSpPr>
        <p:spPr>
          <a:xfrm>
            <a:off x="777240" y="5221224"/>
            <a:ext cx="512064" cy="512064"/>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émo numéro 4 numéro"/>
          <p:cNvSpPr txBox="1"/>
          <p:nvPr/>
        </p:nvSpPr>
        <p:spPr>
          <a:xfrm>
            <a:off x="777240" y="5221224"/>
            <a:ext cx="512064" cy="512064"/>
          </a:xfrm>
          <a:prstGeom prst="rect">
            <a:avLst/>
          </a:prstGeom>
          <a:noFill/>
        </p:spPr>
        <p:txBody>
          <a:bodyPr wrap="square" lIns="0" rIns="0" tIns="0" bIns="0" anchor="ctr">
            <a:noAutofit/>
          </a:bodyPr>
          <a:lstStyle/>
          <a:p>
            <a:pPr algn="ctr"/>
            <a:r>
              <a:rPr sz="1500" b="1" i="0">
                <a:solidFill>
                  <a:srgbClr val="FFFFFF"/>
                </a:solidFill>
                <a:latin typeface="Calibri"/>
              </a:rPr>
              <a:t>4</a:t>
            </a:r>
          </a:p>
        </p:txBody>
      </p:sp>
      <p:sp>
        <p:nvSpPr>
          <p:cNvPr id="28" name="Démo verbe 4"/>
          <p:cNvSpPr txBox="1"/>
          <p:nvPr/>
        </p:nvSpPr>
        <p:spPr>
          <a:xfrm>
            <a:off x="1508760" y="5065776"/>
            <a:ext cx="1737360" cy="822960"/>
          </a:xfrm>
          <a:prstGeom prst="rect">
            <a:avLst/>
          </a:prstGeom>
          <a:noFill/>
        </p:spPr>
        <p:txBody>
          <a:bodyPr wrap="square" lIns="0" rIns="0" tIns="0" bIns="0" anchor="ctr">
            <a:noAutofit/>
          </a:bodyPr>
          <a:lstStyle/>
          <a:p>
            <a:pPr algn="l"/>
            <a:r>
              <a:rPr sz="2000" b="1" i="0">
                <a:solidFill>
                  <a:srgbClr val="1B2F5B"/>
                </a:solidFill>
                <a:latin typeface="Calibri"/>
              </a:rPr>
              <a:t>Décider</a:t>
            </a:r>
          </a:p>
        </p:txBody>
      </p:sp>
      <p:sp>
        <p:nvSpPr>
          <p:cNvPr id="29" name="Démo lieu 4"/>
          <p:cNvSpPr txBox="1"/>
          <p:nvPr/>
        </p:nvSpPr>
        <p:spPr>
          <a:xfrm>
            <a:off x="3291840" y="5065776"/>
            <a:ext cx="3383280" cy="822960"/>
          </a:xfrm>
          <a:prstGeom prst="rect">
            <a:avLst/>
          </a:prstGeom>
          <a:noFill/>
        </p:spPr>
        <p:txBody>
          <a:bodyPr wrap="square" lIns="0" rIns="0" tIns="0" bIns="0" anchor="ctr">
            <a:noAutofit/>
          </a:bodyPr>
          <a:lstStyle/>
          <a:p>
            <a:pPr algn="l"/>
            <a:r>
              <a:rPr sz="1700" b="1" i="0">
                <a:solidFill>
                  <a:srgbClr val="2F6DB5"/>
                </a:solidFill>
                <a:latin typeface="Calibri"/>
              </a:rPr>
              <a:t>Actions › CI sur main</a:t>
            </a:r>
          </a:p>
        </p:txBody>
      </p:sp>
      <p:sp>
        <p:nvSpPr>
          <p:cNvPr id="30" name="Démo contenu 4"/>
          <p:cNvSpPr txBox="1"/>
          <p:nvPr/>
        </p:nvSpPr>
        <p:spPr>
          <a:xfrm>
            <a:off x="6720840" y="5065776"/>
            <a:ext cx="4754880" cy="822960"/>
          </a:xfrm>
          <a:prstGeom prst="rect">
            <a:avLst/>
          </a:prstGeom>
          <a:noFill/>
        </p:spPr>
        <p:txBody>
          <a:bodyPr wrap="square" lIns="0" rIns="0" tIns="0" bIns="0" anchor="ctr">
            <a:noAutofit/>
          </a:bodyPr>
          <a:lstStyle/>
          <a:p>
            <a:pPr algn="l"/>
            <a:r>
              <a:rPr sz="1700" b="0" i="0">
                <a:solidFill>
                  <a:srgbClr val="1B2F5B"/>
                </a:solidFill>
                <a:latin typeface="Calibri"/>
              </a:rPr>
              <a:t>n° 10 fusionnée en </a:t>
            </a:r>
            <a:r>
              <a:rPr sz="1700" b="1" i="0">
                <a:solidFill>
                  <a:srgbClr val="C62828"/>
                </a:solidFill>
                <a:latin typeface="Calibri"/>
              </a:rPr>
              <a:t>rouge</a:t>
            </a:r>
            <a:r>
              <a:rPr sz="1700" b="0" i="0">
                <a:solidFill>
                  <a:srgbClr val="1B2F5B"/>
                </a:solidFill>
                <a:latin typeface="Calibri"/>
              </a:rPr>
              <a:t> : main cassé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Ce que notre dépôt prouve</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8</a:t>
            </a:fld>
          </a:p>
        </p:txBody>
      </p:sp>
      <p:sp>
        <p:nvSpPr>
          <p:cNvPr id="5" name="Contexte"/>
          <p:cNvSpPr txBox="1"/>
          <p:nvPr/>
        </p:nvSpPr>
        <p:spPr>
          <a:xfrm>
            <a:off x="548640" y="1280160"/>
            <a:ext cx="10972800" cy="411480"/>
          </a:xfrm>
          <a:prstGeom prst="rect">
            <a:avLst/>
          </a:prstGeom>
          <a:noFill/>
        </p:spPr>
        <p:txBody>
          <a:bodyPr wrap="square" lIns="0" rIns="0" tIns="0" bIns="0" anchor="t">
            <a:noAutofit/>
          </a:bodyPr>
          <a:lstStyle/>
          <a:p>
            <a:pPr algn="l"/>
            <a:r>
              <a:rPr sz="1800" b="0" i="0">
                <a:solidFill>
                  <a:srgbClr val="5B6577"/>
                </a:solidFill>
                <a:latin typeface="Calibri"/>
              </a:rPr>
              <a:t>28 septembre 2026, mise à jour de vite</a:t>
            </a:r>
          </a:p>
        </p:txBody>
      </p:sp>
      <p:cxnSp>
        <p:nvCxnSpPr>
          <p:cNvPr id="6" name="Frise vite"/>
          <p:cNvCxnSpPr/>
          <p:nvPr/>
        </p:nvCxnSpPr>
        <p:spPr>
          <a:xfrm>
            <a:off x="914400" y="2240280"/>
            <a:ext cx="10332720" cy="0"/>
          </a:xfrm>
          <a:prstGeom prst="line">
            <a:avLst/>
          </a:prstGeom>
          <a:ln w="31750">
            <a:solidFill>
              <a:srgbClr val="C9D6EA"/>
            </a:solidFill>
          </a:ln>
        </p:spPr>
        <p:style>
          <a:lnRef idx="2">
            <a:schemeClr val="accent1"/>
          </a:lnRef>
          <a:fillRef idx="0">
            <a:schemeClr val="accent1"/>
          </a:fillRef>
          <a:effectRef idx="1">
            <a:schemeClr val="accent1"/>
          </a:effectRef>
          <a:fontRef idx="minor">
            <a:schemeClr val="tx1"/>
          </a:fontRef>
        </p:style>
      </p:cxnSp>
      <p:sp>
        <p:nvSpPr>
          <p:cNvPr id="7" name="Jalon 15:34"/>
          <p:cNvSpPr/>
          <p:nvPr/>
        </p:nvSpPr>
        <p:spPr>
          <a:xfrm>
            <a:off x="777240" y="2075688"/>
            <a:ext cx="329184" cy="329184"/>
          </a:xfrm>
          <a:prstGeom prst="ellipse">
            <a:avLst/>
          </a:prstGeom>
          <a:solidFill>
            <a:srgbClr val="2E7D3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Heure 15:34"/>
          <p:cNvSpPr txBox="1"/>
          <p:nvPr/>
        </p:nvSpPr>
        <p:spPr>
          <a:xfrm>
            <a:off x="548640" y="2560320"/>
            <a:ext cx="2651760" cy="411480"/>
          </a:xfrm>
          <a:prstGeom prst="rect">
            <a:avLst/>
          </a:prstGeom>
          <a:noFill/>
        </p:spPr>
        <p:txBody>
          <a:bodyPr wrap="square" lIns="0" rIns="0" tIns="0" bIns="0" anchor="t">
            <a:noAutofit/>
          </a:bodyPr>
          <a:lstStyle/>
          <a:p>
            <a:pPr algn="l"/>
            <a:r>
              <a:rPr sz="1800" b="1" i="0">
                <a:solidFill>
                  <a:srgbClr val="2F6DB5"/>
                </a:solidFill>
                <a:latin typeface="Calibri"/>
              </a:rPr>
              <a:t>15:34</a:t>
            </a:r>
          </a:p>
        </p:txBody>
      </p:sp>
      <p:sp>
        <p:nvSpPr>
          <p:cNvPr id="9" name="Événement 15:34"/>
          <p:cNvSpPr txBox="1"/>
          <p:nvPr/>
        </p:nvSpPr>
        <p:spPr>
          <a:xfrm>
            <a:off x="548640" y="2971800"/>
            <a:ext cx="2651760" cy="411480"/>
          </a:xfrm>
          <a:prstGeom prst="rect">
            <a:avLst/>
          </a:prstGeom>
          <a:noFill/>
        </p:spPr>
        <p:txBody>
          <a:bodyPr wrap="square" lIns="0" rIns="0" tIns="0" bIns="0" anchor="t">
            <a:noAutofit/>
          </a:bodyPr>
          <a:lstStyle/>
          <a:p>
            <a:pPr algn="l"/>
            <a:r>
              <a:rPr sz="1800" b="1" i="0">
                <a:solidFill>
                  <a:srgbClr val="1B2F5B"/>
                </a:solidFill>
                <a:latin typeface="Calibri"/>
              </a:rPr>
              <a:t>PR n° 1</a:t>
            </a:r>
          </a:p>
        </p:txBody>
      </p:sp>
      <p:sp>
        <p:nvSpPr>
          <p:cNvPr id="10" name="Détail 15:34"/>
          <p:cNvSpPr txBox="1"/>
          <p:nvPr/>
        </p:nvSpPr>
        <p:spPr>
          <a:xfrm>
            <a:off x="548640" y="3383280"/>
            <a:ext cx="2651760" cy="411480"/>
          </a:xfrm>
          <a:prstGeom prst="rect">
            <a:avLst/>
          </a:prstGeom>
          <a:noFill/>
        </p:spPr>
        <p:txBody>
          <a:bodyPr wrap="square" lIns="0" rIns="0" tIns="0" bIns="0" anchor="t">
            <a:noAutofit/>
          </a:bodyPr>
          <a:lstStyle/>
          <a:p>
            <a:pPr algn="l"/>
            <a:r>
              <a:rPr sz="1500" b="0" i="0">
                <a:solidFill>
                  <a:srgbClr val="5B6577"/>
                </a:solidFill>
                <a:latin typeface="Calibri"/>
              </a:rPr>
              <a:t>vite + plugin-react groupés</a:t>
            </a:r>
          </a:p>
        </p:txBody>
      </p:sp>
      <p:sp>
        <p:nvSpPr>
          <p:cNvPr id="11" name="Statut 15:34"/>
          <p:cNvSpPr txBox="1"/>
          <p:nvPr/>
        </p:nvSpPr>
        <p:spPr>
          <a:xfrm>
            <a:off x="548640" y="3794760"/>
            <a:ext cx="2651760" cy="411480"/>
          </a:xfrm>
          <a:prstGeom prst="rect">
            <a:avLst/>
          </a:prstGeom>
          <a:noFill/>
        </p:spPr>
        <p:txBody>
          <a:bodyPr wrap="square" lIns="0" rIns="0" tIns="0" bIns="0" anchor="t">
            <a:noAutofit/>
          </a:bodyPr>
          <a:lstStyle/>
          <a:p>
            <a:pPr algn="l"/>
            <a:r>
              <a:rPr sz="1700" b="1" i="0">
                <a:solidFill>
                  <a:srgbClr val="2E7D32"/>
                </a:solidFill>
                <a:latin typeface="Calibri"/>
              </a:rPr>
              <a:t>CI vert</a:t>
            </a:r>
          </a:p>
        </p:txBody>
      </p:sp>
      <p:sp>
        <p:nvSpPr>
          <p:cNvPr id="12" name="Jalon 15:36"/>
          <p:cNvSpPr/>
          <p:nvPr/>
        </p:nvSpPr>
        <p:spPr>
          <a:xfrm>
            <a:off x="3611880" y="2075688"/>
            <a:ext cx="329184" cy="329184"/>
          </a:xfrm>
          <a:prstGeom prst="ellipse">
            <a:avLst/>
          </a:prstGeom>
          <a:solidFill>
            <a:srgbClr val="C6282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Heure 15:36"/>
          <p:cNvSpPr txBox="1"/>
          <p:nvPr/>
        </p:nvSpPr>
        <p:spPr>
          <a:xfrm>
            <a:off x="3383280" y="2560320"/>
            <a:ext cx="2651760" cy="411480"/>
          </a:xfrm>
          <a:prstGeom prst="rect">
            <a:avLst/>
          </a:prstGeom>
          <a:noFill/>
        </p:spPr>
        <p:txBody>
          <a:bodyPr wrap="square" lIns="0" rIns="0" tIns="0" bIns="0" anchor="t">
            <a:noAutofit/>
          </a:bodyPr>
          <a:lstStyle/>
          <a:p>
            <a:pPr algn="l"/>
            <a:r>
              <a:rPr sz="1800" b="1" i="0">
                <a:solidFill>
                  <a:srgbClr val="2F6DB5"/>
                </a:solidFill>
                <a:latin typeface="Calibri"/>
              </a:rPr>
              <a:t>15:36</a:t>
            </a:r>
          </a:p>
        </p:txBody>
      </p:sp>
      <p:sp>
        <p:nvSpPr>
          <p:cNvPr id="14" name="Événement 15:36"/>
          <p:cNvSpPr txBox="1"/>
          <p:nvPr/>
        </p:nvSpPr>
        <p:spPr>
          <a:xfrm>
            <a:off x="3383280" y="2971800"/>
            <a:ext cx="2651760" cy="411480"/>
          </a:xfrm>
          <a:prstGeom prst="rect">
            <a:avLst/>
          </a:prstGeom>
          <a:noFill/>
        </p:spPr>
        <p:txBody>
          <a:bodyPr wrap="square" lIns="0" rIns="0" tIns="0" bIns="0" anchor="t">
            <a:noAutofit/>
          </a:bodyPr>
          <a:lstStyle/>
          <a:p>
            <a:pPr algn="l"/>
            <a:r>
              <a:rPr sz="1800" b="1" i="0">
                <a:solidFill>
                  <a:srgbClr val="1B2F5B"/>
                </a:solidFill>
                <a:latin typeface="Calibri"/>
              </a:rPr>
              <a:t>PR n° 10</a:t>
            </a:r>
          </a:p>
        </p:txBody>
      </p:sp>
      <p:sp>
        <p:nvSpPr>
          <p:cNvPr id="15" name="Détail 15:36"/>
          <p:cNvSpPr txBox="1"/>
          <p:nvPr/>
        </p:nvSpPr>
        <p:spPr>
          <a:xfrm>
            <a:off x="3383280" y="3383280"/>
            <a:ext cx="2651760" cy="411480"/>
          </a:xfrm>
          <a:prstGeom prst="rect">
            <a:avLst/>
          </a:prstGeom>
          <a:noFill/>
        </p:spPr>
        <p:txBody>
          <a:bodyPr wrap="square" lIns="0" rIns="0" tIns="0" bIns="0" anchor="t">
            <a:noAutofit/>
          </a:bodyPr>
          <a:lstStyle/>
          <a:p>
            <a:pPr algn="l"/>
            <a:r>
              <a:rPr sz="1500" b="0" i="0">
                <a:solidFill>
                  <a:srgbClr val="5B6577"/>
                </a:solidFill>
                <a:latin typeface="Calibri"/>
              </a:rPr>
              <a:t>vite seul, 5 → 8</a:t>
            </a:r>
          </a:p>
        </p:txBody>
      </p:sp>
      <p:sp>
        <p:nvSpPr>
          <p:cNvPr id="16" name="Statut 15:36"/>
          <p:cNvSpPr txBox="1"/>
          <p:nvPr/>
        </p:nvSpPr>
        <p:spPr>
          <a:xfrm>
            <a:off x="3383280" y="3794760"/>
            <a:ext cx="2651760" cy="411480"/>
          </a:xfrm>
          <a:prstGeom prst="rect">
            <a:avLst/>
          </a:prstGeom>
          <a:noFill/>
        </p:spPr>
        <p:txBody>
          <a:bodyPr wrap="square" lIns="0" rIns="0" tIns="0" bIns="0" anchor="t">
            <a:noAutofit/>
          </a:bodyPr>
          <a:lstStyle/>
          <a:p>
            <a:pPr algn="l"/>
            <a:r>
              <a:rPr sz="1700" b="1" i="0">
                <a:solidFill>
                  <a:srgbClr val="C62828"/>
                </a:solidFill>
                <a:latin typeface="Calibri"/>
              </a:rPr>
              <a:t>CI rouge</a:t>
            </a:r>
          </a:p>
        </p:txBody>
      </p:sp>
      <p:sp>
        <p:nvSpPr>
          <p:cNvPr id="17" name="Jalon 15:37"/>
          <p:cNvSpPr/>
          <p:nvPr/>
        </p:nvSpPr>
        <p:spPr>
          <a:xfrm>
            <a:off x="6446520" y="2075688"/>
            <a:ext cx="329184" cy="329184"/>
          </a:xfrm>
          <a:prstGeom prst="ellipse">
            <a:avLst/>
          </a:prstGeom>
          <a:solidFill>
            <a:srgbClr val="1B2F5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ure 15:37"/>
          <p:cNvSpPr txBox="1"/>
          <p:nvPr/>
        </p:nvSpPr>
        <p:spPr>
          <a:xfrm>
            <a:off x="6217920" y="2560320"/>
            <a:ext cx="2651760" cy="411480"/>
          </a:xfrm>
          <a:prstGeom prst="rect">
            <a:avLst/>
          </a:prstGeom>
          <a:noFill/>
        </p:spPr>
        <p:txBody>
          <a:bodyPr wrap="square" lIns="0" rIns="0" tIns="0" bIns="0" anchor="t">
            <a:noAutofit/>
          </a:bodyPr>
          <a:lstStyle/>
          <a:p>
            <a:pPr algn="l"/>
            <a:r>
              <a:rPr sz="1800" b="1" i="0">
                <a:solidFill>
                  <a:srgbClr val="2F6DB5"/>
                </a:solidFill>
                <a:latin typeface="Calibri"/>
              </a:rPr>
              <a:t>15:37</a:t>
            </a:r>
          </a:p>
        </p:txBody>
      </p:sp>
      <p:sp>
        <p:nvSpPr>
          <p:cNvPr id="19" name="Événement 15:37"/>
          <p:cNvSpPr txBox="1"/>
          <p:nvPr/>
        </p:nvSpPr>
        <p:spPr>
          <a:xfrm>
            <a:off x="6217920" y="2971800"/>
            <a:ext cx="2651760" cy="411480"/>
          </a:xfrm>
          <a:prstGeom prst="rect">
            <a:avLst/>
          </a:prstGeom>
          <a:noFill/>
        </p:spPr>
        <p:txBody>
          <a:bodyPr wrap="square" lIns="0" rIns="0" tIns="0" bIns="0" anchor="t">
            <a:noAutofit/>
          </a:bodyPr>
          <a:lstStyle/>
          <a:p>
            <a:pPr algn="l"/>
            <a:r>
              <a:rPr sz="1800" b="1" i="0">
                <a:solidFill>
                  <a:srgbClr val="1B2F5B"/>
                </a:solidFill>
                <a:latin typeface="Calibri"/>
              </a:rPr>
              <a:t>Config simplifiée</a:t>
            </a:r>
          </a:p>
        </p:txBody>
      </p:sp>
      <p:sp>
        <p:nvSpPr>
          <p:cNvPr id="20" name="Détail 15:37"/>
          <p:cNvSpPr txBox="1"/>
          <p:nvPr/>
        </p:nvSpPr>
        <p:spPr>
          <a:xfrm>
            <a:off x="6217920" y="3383280"/>
            <a:ext cx="2651760" cy="411480"/>
          </a:xfrm>
          <a:prstGeom prst="rect">
            <a:avLst/>
          </a:prstGeom>
          <a:noFill/>
        </p:spPr>
        <p:txBody>
          <a:bodyPr wrap="square" lIns="0" rIns="0" tIns="0" bIns="0" anchor="t">
            <a:noAutofit/>
          </a:bodyPr>
          <a:lstStyle/>
          <a:p>
            <a:pPr algn="l"/>
            <a:r>
              <a:rPr sz="1500" b="0" i="0">
                <a:solidFill>
                  <a:srgbClr val="5B6577"/>
                </a:solidFill>
                <a:latin typeface="Calibri"/>
              </a:rPr>
              <a:t>groupes retirés : n° 1 fermée</a:t>
            </a:r>
          </a:p>
        </p:txBody>
      </p:sp>
      <p:sp>
        <p:nvSpPr>
          <p:cNvPr id="21" name="Jalon 15:45"/>
          <p:cNvSpPr/>
          <p:nvPr/>
        </p:nvSpPr>
        <p:spPr>
          <a:xfrm>
            <a:off x="9281160" y="2075688"/>
            <a:ext cx="329184" cy="329184"/>
          </a:xfrm>
          <a:prstGeom prst="ellipse">
            <a:avLst/>
          </a:prstGeom>
          <a:solidFill>
            <a:srgbClr val="C6282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Heure 15:45"/>
          <p:cNvSpPr txBox="1"/>
          <p:nvPr/>
        </p:nvSpPr>
        <p:spPr>
          <a:xfrm>
            <a:off x="9052560" y="2560320"/>
            <a:ext cx="2651760" cy="411480"/>
          </a:xfrm>
          <a:prstGeom prst="rect">
            <a:avLst/>
          </a:prstGeom>
          <a:noFill/>
        </p:spPr>
        <p:txBody>
          <a:bodyPr wrap="square" lIns="0" rIns="0" tIns="0" bIns="0" anchor="t">
            <a:noAutofit/>
          </a:bodyPr>
          <a:lstStyle/>
          <a:p>
            <a:pPr algn="l"/>
            <a:r>
              <a:rPr sz="1800" b="1" i="0">
                <a:solidFill>
                  <a:srgbClr val="2F6DB5"/>
                </a:solidFill>
                <a:latin typeface="Calibri"/>
              </a:rPr>
              <a:t>15:45</a:t>
            </a:r>
          </a:p>
        </p:txBody>
      </p:sp>
      <p:sp>
        <p:nvSpPr>
          <p:cNvPr id="23" name="Événement 15:45"/>
          <p:cNvSpPr txBox="1"/>
          <p:nvPr/>
        </p:nvSpPr>
        <p:spPr>
          <a:xfrm>
            <a:off x="9052560" y="2971800"/>
            <a:ext cx="2651760" cy="411480"/>
          </a:xfrm>
          <a:prstGeom prst="rect">
            <a:avLst/>
          </a:prstGeom>
          <a:noFill/>
        </p:spPr>
        <p:txBody>
          <a:bodyPr wrap="square" lIns="0" rIns="0" tIns="0" bIns="0" anchor="t">
            <a:noAutofit/>
          </a:bodyPr>
          <a:lstStyle/>
          <a:p>
            <a:pPr algn="l"/>
            <a:r>
              <a:rPr sz="1800" b="1" i="0">
                <a:solidFill>
                  <a:srgbClr val="1B2F5B"/>
                </a:solidFill>
                <a:latin typeface="Calibri"/>
              </a:rPr>
              <a:t>PR n° 10 fusionnée</a:t>
            </a:r>
          </a:p>
        </p:txBody>
      </p:sp>
      <p:sp>
        <p:nvSpPr>
          <p:cNvPr id="24" name="Détail 15:45"/>
          <p:cNvSpPr txBox="1"/>
          <p:nvPr/>
        </p:nvSpPr>
        <p:spPr>
          <a:xfrm>
            <a:off x="9052560" y="3383280"/>
            <a:ext cx="2651760" cy="411480"/>
          </a:xfrm>
          <a:prstGeom prst="rect">
            <a:avLst/>
          </a:prstGeom>
          <a:noFill/>
        </p:spPr>
        <p:txBody>
          <a:bodyPr wrap="square" lIns="0" rIns="0" tIns="0" bIns="0" anchor="t">
            <a:noAutofit/>
          </a:bodyPr>
          <a:lstStyle/>
          <a:p>
            <a:pPr algn="l"/>
            <a:r>
              <a:rPr sz="1500" b="0" i="0">
                <a:solidFill>
                  <a:srgbClr val="5B6577"/>
                </a:solidFill>
                <a:latin typeface="Calibri"/>
              </a:rPr>
              <a:t>malgré le rouge</a:t>
            </a:r>
          </a:p>
        </p:txBody>
      </p:sp>
      <p:sp>
        <p:nvSpPr>
          <p:cNvPr id="25" name="Statut 15:45"/>
          <p:cNvSpPr txBox="1"/>
          <p:nvPr/>
        </p:nvSpPr>
        <p:spPr>
          <a:xfrm>
            <a:off x="9052560" y="3794760"/>
            <a:ext cx="2651760" cy="411480"/>
          </a:xfrm>
          <a:prstGeom prst="rect">
            <a:avLst/>
          </a:prstGeom>
          <a:noFill/>
        </p:spPr>
        <p:txBody>
          <a:bodyPr wrap="square" lIns="0" rIns="0" tIns="0" bIns="0" anchor="t">
            <a:noAutofit/>
          </a:bodyPr>
          <a:lstStyle/>
          <a:p>
            <a:pPr algn="l"/>
            <a:r>
              <a:rPr sz="1700" b="1" i="0">
                <a:solidFill>
                  <a:srgbClr val="C62828"/>
                </a:solidFill>
                <a:latin typeface="Calibri"/>
              </a:rPr>
              <a:t>main cassé</a:t>
            </a:r>
          </a:p>
        </p:txBody>
      </p:sp>
      <p:sp>
        <p:nvSpPr>
          <p:cNvPr id="26" name="Erreur npm"/>
          <p:cNvSpPr txBox="1"/>
          <p:nvPr/>
        </p:nvSpPr>
        <p:spPr>
          <a:xfrm>
            <a:off x="548640" y="4434840"/>
            <a:ext cx="11064240" cy="365760"/>
          </a:xfrm>
          <a:prstGeom prst="rect">
            <a:avLst/>
          </a:prstGeom>
          <a:noFill/>
        </p:spPr>
        <p:txBody>
          <a:bodyPr wrap="square" lIns="0" rIns="0" tIns="0" bIns="0" anchor="t">
            <a:noAutofit/>
          </a:bodyPr>
          <a:lstStyle/>
          <a:p>
            <a:pPr algn="l"/>
            <a:r>
              <a:rPr sz="1400" b="0" i="0">
                <a:solidFill>
                  <a:srgbClr val="C62828"/>
                </a:solidFill>
                <a:latin typeface="Consolas"/>
              </a:rPr>
              <a:t>npm error ERESOLVE : @vitejs/plugin-react 4.7.0 n'accepte que vite 4 à 7</a:t>
            </a:r>
          </a:p>
        </p:txBody>
      </p:sp>
      <p:sp>
        <p:nvSpPr>
          <p:cNvPr id="27" name="Leçon fond"/>
          <p:cNvSpPr/>
          <p:nvPr/>
        </p:nvSpPr>
        <p:spPr>
          <a:xfrm>
            <a:off x="548640" y="4983480"/>
            <a:ext cx="11064240" cy="960120"/>
          </a:xfrm>
          <a:prstGeom prst="roundRect">
            <a:avLst>
              <a:gd name="adj" fmla="val 9523"/>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Leçon cercle"/>
          <p:cNvSpPr/>
          <p:nvPr/>
        </p:nvSpPr>
        <p:spPr>
          <a:xfrm>
            <a:off x="777240" y="5120640"/>
            <a:ext cx="685800" cy="685800"/>
          </a:xfrm>
          <a:prstGeom prst="ellipse">
            <a:avLst/>
          </a:prstGeom>
          <a:solidFill>
            <a:srgbClr val="1B2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Leçon icône" descr="lock.png"/>
          <p:cNvPicPr>
            <a:picLocks noChangeAspect="1"/>
          </p:cNvPicPr>
          <p:nvPr/>
        </p:nvPicPr>
        <p:blipFill>
          <a:blip r:embed="rId2"/>
          <a:stretch>
            <a:fillRect/>
          </a:stretch>
        </p:blipFill>
        <p:spPr>
          <a:xfrm>
            <a:off x="948690" y="5292090"/>
            <a:ext cx="342900" cy="342900"/>
          </a:xfrm>
          <a:prstGeom prst="rect">
            <a:avLst/>
          </a:prstGeom>
        </p:spPr>
      </p:pic>
      <p:sp>
        <p:nvSpPr>
          <p:cNvPr id="30" name="Leçon"/>
          <p:cNvSpPr txBox="1"/>
          <p:nvPr/>
        </p:nvSpPr>
        <p:spPr>
          <a:xfrm>
            <a:off x="1691640" y="4983480"/>
            <a:ext cx="9692640" cy="960120"/>
          </a:xfrm>
          <a:prstGeom prst="rect">
            <a:avLst/>
          </a:prstGeom>
          <a:noFill/>
        </p:spPr>
        <p:txBody>
          <a:bodyPr wrap="square" lIns="0" rIns="0" tIns="0" bIns="0" anchor="ctr">
            <a:noAutofit/>
          </a:bodyPr>
          <a:lstStyle/>
          <a:p>
            <a:pPr algn="l"/>
            <a:r>
              <a:rPr sz="1900" b="1" i="0">
                <a:solidFill>
                  <a:srgbClr val="1B2F5B"/>
                </a:solidFill>
                <a:latin typeface="Calibri"/>
              </a:rPr>
              <a:t>La leçon : </a:t>
            </a:r>
            <a:r>
              <a:rPr sz="1900" b="0" i="0">
                <a:solidFill>
                  <a:srgbClr val="1B2F5B"/>
                </a:solidFill>
                <a:latin typeface="Calibri"/>
              </a:rPr>
              <a:t>protéger main (« Require status checks to pass ») et regrouper les paquets liés (groups).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65760"/>
            <a:ext cx="11064240" cy="822960"/>
          </a:xfrm>
          <a:prstGeom prst="rect">
            <a:avLst/>
          </a:prstGeom>
          <a:noFill/>
        </p:spPr>
        <p:txBody>
          <a:bodyPr wrap="square" lIns="0" rIns="0" tIns="0" bIns="0" anchor="ctr">
            <a:noAutofit/>
          </a:bodyPr>
          <a:lstStyle/>
          <a:p>
            <a:pPr algn="l"/>
            <a:r>
              <a:rPr sz="3400" b="1" i="0">
                <a:solidFill>
                  <a:srgbClr val="1B2F5B"/>
                </a:solidFill>
                <a:latin typeface="Calibri"/>
              </a:rPr>
              <a:t>Ce qu'il faut retenir</a:t>
            </a:r>
          </a:p>
        </p:txBody>
      </p:sp>
      <p:sp>
        <p:nvSpPr>
          <p:cNvPr id="3" name="Pied de page"/>
          <p:cNvSpPr txBox="1"/>
          <p:nvPr/>
        </p:nvSpPr>
        <p:spPr>
          <a:xfrm>
            <a:off x="548640" y="6355080"/>
            <a:ext cx="5486400" cy="274320"/>
          </a:xfrm>
          <a:prstGeom prst="rect">
            <a:avLst/>
          </a:prstGeom>
          <a:noFill/>
        </p:spPr>
        <p:txBody>
          <a:bodyPr wrap="square" lIns="0" rIns="0" tIns="0" bIns="0" anchor="ctr">
            <a:noAutofit/>
          </a:bodyPr>
          <a:lstStyle/>
          <a:p>
            <a:pPr algn="l"/>
            <a:r>
              <a:rPr sz="1000" b="0" i="0">
                <a:solidFill>
                  <a:srgbClr val="5B6577"/>
                </a:solidFill>
                <a:latin typeface="Calibri"/>
              </a:rPr>
              <a:t>Dependabot · Cours DevOps · M1 SIGLIS</a:t>
            </a:r>
          </a:p>
        </p:txBody>
      </p:sp>
      <p:sp>
        <p:nvSpPr>
          <p:cNvPr id="4" name="Numéro de diapositive"/>
          <p:cNvSpPr txBox="1"/>
          <p:nvPr/>
        </p:nvSpPr>
        <p:spPr>
          <a:xfrm>
            <a:off x="11064240" y="6355080"/>
            <a:ext cx="548640" cy="274320"/>
          </a:xfrm>
          <a:prstGeom prst="rect">
            <a:avLst/>
          </a:prstGeom>
          <a:noFill/>
        </p:spPr>
        <p:txBody>
          <a:bodyPr wrap="square" lIns="0" rIns="0" tIns="0" bIns="0" anchor="ctr">
            <a:noAutofit/>
          </a:bodyPr>
          <a:lstStyle/>
          <a:p>
            <a:pPr algn="r"/>
            <a:fld id="{B6F15528-21DE-4FAA-801E-634DDDAF4B2B}" type="slidenum">
              <a:rPr lang="fr-FR" sz="1000" dirty="0">
                <a:solidFill>
                  <a:srgbClr val="5B6577"/>
                </a:solidFill>
                <a:latin typeface="Calibri"/>
              </a:rPr>
              <a:t>9</a:t>
            </a:fld>
          </a:p>
        </p:txBody>
      </p:sp>
      <p:sp>
        <p:nvSpPr>
          <p:cNvPr id="5" name="Point 1"/>
          <p:cNvSpPr/>
          <p:nvPr/>
        </p:nvSpPr>
        <p:spPr>
          <a:xfrm>
            <a:off x="548640" y="1490472"/>
            <a:ext cx="640080" cy="64008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oint 1 numéro"/>
          <p:cNvSpPr txBox="1"/>
          <p:nvPr/>
        </p:nvSpPr>
        <p:spPr>
          <a:xfrm>
            <a:off x="548640" y="1490472"/>
            <a:ext cx="640080" cy="640080"/>
          </a:xfrm>
          <a:prstGeom prst="rect">
            <a:avLst/>
          </a:prstGeom>
          <a:noFill/>
        </p:spPr>
        <p:txBody>
          <a:bodyPr wrap="square" lIns="0" rIns="0" tIns="0" bIns="0" anchor="ctr">
            <a:noAutofit/>
          </a:bodyPr>
          <a:lstStyle/>
          <a:p>
            <a:pPr algn="ctr"/>
            <a:r>
              <a:rPr sz="1800" b="1" i="0">
                <a:solidFill>
                  <a:srgbClr val="FFFFFF"/>
                </a:solidFill>
                <a:latin typeface="Calibri"/>
              </a:rPr>
              <a:t>1</a:t>
            </a:r>
          </a:p>
        </p:txBody>
      </p:sp>
      <p:sp>
        <p:nvSpPr>
          <p:cNvPr id="7" name="Point 1 titre"/>
          <p:cNvSpPr txBox="1"/>
          <p:nvPr/>
        </p:nvSpPr>
        <p:spPr>
          <a:xfrm>
            <a:off x="1417319" y="1417320"/>
            <a:ext cx="4480560" cy="457200"/>
          </a:xfrm>
          <a:prstGeom prst="rect">
            <a:avLst/>
          </a:prstGeom>
          <a:noFill/>
        </p:spPr>
        <p:txBody>
          <a:bodyPr wrap="square" lIns="0" rIns="0" tIns="0" bIns="0" anchor="t">
            <a:noAutofit/>
          </a:bodyPr>
          <a:lstStyle/>
          <a:p>
            <a:pPr algn="l"/>
            <a:r>
              <a:rPr sz="2200" b="1" i="0">
                <a:solidFill>
                  <a:srgbClr val="1B2F5B"/>
                </a:solidFill>
                <a:latin typeface="Calibri"/>
              </a:rPr>
              <a:t>Détecte et propose</a:t>
            </a:r>
          </a:p>
        </p:txBody>
      </p:sp>
      <p:sp>
        <p:nvSpPr>
          <p:cNvPr id="8" name="Point 1 détail"/>
          <p:cNvSpPr txBox="1"/>
          <p:nvPr/>
        </p:nvSpPr>
        <p:spPr>
          <a:xfrm>
            <a:off x="1417319" y="1874519"/>
            <a:ext cx="4480560" cy="731520"/>
          </a:xfrm>
          <a:prstGeom prst="rect">
            <a:avLst/>
          </a:prstGeom>
          <a:noFill/>
        </p:spPr>
        <p:txBody>
          <a:bodyPr wrap="square" lIns="0" rIns="0" tIns="0" bIns="0" anchor="t">
            <a:noAutofit/>
          </a:bodyPr>
          <a:lstStyle/>
          <a:p>
            <a:pPr algn="l"/>
            <a:r>
              <a:rPr sz="1600" b="0" i="0">
                <a:solidFill>
                  <a:srgbClr val="5B6577"/>
                </a:solidFill>
                <a:latin typeface="Calibri"/>
              </a:rPr>
              <a:t>Il ne teste pas et ne fusionne rien seul.</a:t>
            </a:r>
          </a:p>
        </p:txBody>
      </p:sp>
      <p:sp>
        <p:nvSpPr>
          <p:cNvPr id="9" name="Point 2"/>
          <p:cNvSpPr/>
          <p:nvPr/>
        </p:nvSpPr>
        <p:spPr>
          <a:xfrm>
            <a:off x="6217920" y="1490472"/>
            <a:ext cx="640080" cy="64008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oint 2 numéro"/>
          <p:cNvSpPr txBox="1"/>
          <p:nvPr/>
        </p:nvSpPr>
        <p:spPr>
          <a:xfrm>
            <a:off x="6217920" y="1490472"/>
            <a:ext cx="640080" cy="640080"/>
          </a:xfrm>
          <a:prstGeom prst="rect">
            <a:avLst/>
          </a:prstGeom>
          <a:noFill/>
        </p:spPr>
        <p:txBody>
          <a:bodyPr wrap="square" lIns="0" rIns="0" tIns="0" bIns="0" anchor="ctr">
            <a:noAutofit/>
          </a:bodyPr>
          <a:lstStyle/>
          <a:p>
            <a:pPr algn="ctr"/>
            <a:r>
              <a:rPr sz="1800" b="1" i="0">
                <a:solidFill>
                  <a:srgbClr val="FFFFFF"/>
                </a:solidFill>
                <a:latin typeface="Calibri"/>
              </a:rPr>
              <a:t>2</a:t>
            </a:r>
          </a:p>
        </p:txBody>
      </p:sp>
      <p:sp>
        <p:nvSpPr>
          <p:cNvPr id="11" name="Point 2 titre"/>
          <p:cNvSpPr txBox="1"/>
          <p:nvPr/>
        </p:nvSpPr>
        <p:spPr>
          <a:xfrm>
            <a:off x="7086600" y="1417320"/>
            <a:ext cx="4480560" cy="457200"/>
          </a:xfrm>
          <a:prstGeom prst="rect">
            <a:avLst/>
          </a:prstGeom>
          <a:noFill/>
        </p:spPr>
        <p:txBody>
          <a:bodyPr wrap="square" lIns="0" rIns="0" tIns="0" bIns="0" anchor="t">
            <a:noAutofit/>
          </a:bodyPr>
          <a:lstStyle/>
          <a:p>
            <a:pPr algn="l"/>
            <a:r>
              <a:rPr sz="2200" b="1" i="0">
                <a:solidFill>
                  <a:srgbClr val="1B2F5B"/>
                </a:solidFill>
                <a:latin typeface="Calibri"/>
              </a:rPr>
              <a:t>Deux modes</a:t>
            </a:r>
          </a:p>
        </p:txBody>
      </p:sp>
      <p:sp>
        <p:nvSpPr>
          <p:cNvPr id="12" name="Point 2 détail"/>
          <p:cNvSpPr txBox="1"/>
          <p:nvPr/>
        </p:nvSpPr>
        <p:spPr>
          <a:xfrm>
            <a:off x="7086600" y="1874519"/>
            <a:ext cx="4480560" cy="731520"/>
          </a:xfrm>
          <a:prstGeom prst="rect">
            <a:avLst/>
          </a:prstGeom>
          <a:noFill/>
        </p:spPr>
        <p:txBody>
          <a:bodyPr wrap="square" lIns="0" rIns="0" tIns="0" bIns="0" anchor="t">
            <a:noAutofit/>
          </a:bodyPr>
          <a:lstStyle/>
          <a:p>
            <a:pPr algn="l"/>
            <a:r>
              <a:rPr sz="1600" b="0" i="0">
                <a:solidFill>
                  <a:srgbClr val="5B6577"/>
                </a:solidFill>
                <a:latin typeface="Calibri"/>
              </a:rPr>
              <a:t>Sécurité : immédiat. Versions : planifié, via dependabot.yml.</a:t>
            </a:r>
          </a:p>
        </p:txBody>
      </p:sp>
      <p:sp>
        <p:nvSpPr>
          <p:cNvPr id="13" name="Point 3"/>
          <p:cNvSpPr/>
          <p:nvPr/>
        </p:nvSpPr>
        <p:spPr>
          <a:xfrm>
            <a:off x="548640" y="2907792"/>
            <a:ext cx="640080" cy="64008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oint 3 numéro"/>
          <p:cNvSpPr txBox="1"/>
          <p:nvPr/>
        </p:nvSpPr>
        <p:spPr>
          <a:xfrm>
            <a:off x="548640" y="2907792"/>
            <a:ext cx="640080" cy="640080"/>
          </a:xfrm>
          <a:prstGeom prst="rect">
            <a:avLst/>
          </a:prstGeom>
          <a:noFill/>
        </p:spPr>
        <p:txBody>
          <a:bodyPr wrap="square" lIns="0" rIns="0" tIns="0" bIns="0" anchor="ctr">
            <a:noAutofit/>
          </a:bodyPr>
          <a:lstStyle/>
          <a:p>
            <a:pPr algn="ctr"/>
            <a:r>
              <a:rPr sz="1800" b="1" i="0">
                <a:solidFill>
                  <a:srgbClr val="FFFFFF"/>
                </a:solidFill>
                <a:latin typeface="Calibri"/>
              </a:rPr>
              <a:t>3</a:t>
            </a:r>
          </a:p>
        </p:txBody>
      </p:sp>
      <p:sp>
        <p:nvSpPr>
          <p:cNvPr id="15" name="Point 3 titre"/>
          <p:cNvSpPr txBox="1"/>
          <p:nvPr/>
        </p:nvSpPr>
        <p:spPr>
          <a:xfrm>
            <a:off x="1417319" y="2834640"/>
            <a:ext cx="4480560" cy="457200"/>
          </a:xfrm>
          <a:prstGeom prst="rect">
            <a:avLst/>
          </a:prstGeom>
          <a:noFill/>
        </p:spPr>
        <p:txBody>
          <a:bodyPr wrap="square" lIns="0" rIns="0" tIns="0" bIns="0" anchor="t">
            <a:noAutofit/>
          </a:bodyPr>
          <a:lstStyle/>
          <a:p>
            <a:pPr algn="l"/>
            <a:r>
              <a:rPr sz="2200" b="1" i="0">
                <a:solidFill>
                  <a:srgbClr val="1B2F5B"/>
                </a:solidFill>
                <a:latin typeface="Calibri"/>
              </a:rPr>
              <a:t>Indissociable du CI</a:t>
            </a:r>
          </a:p>
        </p:txBody>
      </p:sp>
      <p:sp>
        <p:nvSpPr>
          <p:cNvPr id="16" name="Point 3 détail"/>
          <p:cNvSpPr txBox="1"/>
          <p:nvPr/>
        </p:nvSpPr>
        <p:spPr>
          <a:xfrm>
            <a:off x="1417319" y="3291840"/>
            <a:ext cx="4480560" cy="731520"/>
          </a:xfrm>
          <a:prstGeom prst="rect">
            <a:avLst/>
          </a:prstGeom>
          <a:noFill/>
        </p:spPr>
        <p:txBody>
          <a:bodyPr wrap="square" lIns="0" rIns="0" tIns="0" bIns="0" anchor="t">
            <a:noAutofit/>
          </a:bodyPr>
          <a:lstStyle/>
          <a:p>
            <a:pPr algn="l"/>
            <a:r>
              <a:rPr sz="1600" b="0" i="0">
                <a:solidFill>
                  <a:srgbClr val="5B6577"/>
                </a:solidFill>
                <a:latin typeface="Calibri"/>
              </a:rPr>
              <a:t>Chaque PR est testée ; main doit être protégée.</a:t>
            </a:r>
          </a:p>
        </p:txBody>
      </p:sp>
      <p:sp>
        <p:nvSpPr>
          <p:cNvPr id="17" name="Point 4"/>
          <p:cNvSpPr/>
          <p:nvPr/>
        </p:nvSpPr>
        <p:spPr>
          <a:xfrm>
            <a:off x="6217920" y="2907792"/>
            <a:ext cx="640080" cy="640080"/>
          </a:xfrm>
          <a:prstGeom prst="ellipse">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oint 4 numéro"/>
          <p:cNvSpPr txBox="1"/>
          <p:nvPr/>
        </p:nvSpPr>
        <p:spPr>
          <a:xfrm>
            <a:off x="6217920" y="2907792"/>
            <a:ext cx="640080" cy="640080"/>
          </a:xfrm>
          <a:prstGeom prst="rect">
            <a:avLst/>
          </a:prstGeom>
          <a:noFill/>
        </p:spPr>
        <p:txBody>
          <a:bodyPr wrap="square" lIns="0" rIns="0" tIns="0" bIns="0" anchor="ctr">
            <a:noAutofit/>
          </a:bodyPr>
          <a:lstStyle/>
          <a:p>
            <a:pPr algn="ctr"/>
            <a:r>
              <a:rPr sz="1800" b="1" i="0">
                <a:solidFill>
                  <a:srgbClr val="FFFFFF"/>
                </a:solidFill>
                <a:latin typeface="Calibri"/>
              </a:rPr>
              <a:t>4</a:t>
            </a:r>
          </a:p>
        </p:txBody>
      </p:sp>
      <p:sp>
        <p:nvSpPr>
          <p:cNvPr id="19" name="Point 4 titre"/>
          <p:cNvSpPr txBox="1"/>
          <p:nvPr/>
        </p:nvSpPr>
        <p:spPr>
          <a:xfrm>
            <a:off x="7086600" y="2834640"/>
            <a:ext cx="4480560" cy="457200"/>
          </a:xfrm>
          <a:prstGeom prst="rect">
            <a:avLst/>
          </a:prstGeom>
          <a:noFill/>
        </p:spPr>
        <p:txBody>
          <a:bodyPr wrap="square" lIns="0" rIns="0" tIns="0" bIns="0" anchor="t">
            <a:noAutofit/>
          </a:bodyPr>
          <a:lstStyle/>
          <a:p>
            <a:pPr algn="l"/>
            <a:r>
              <a:rPr sz="2200" b="1" i="0">
                <a:solidFill>
                  <a:srgbClr val="1B2F5B"/>
                </a:solidFill>
                <a:latin typeface="Calibri"/>
              </a:rPr>
              <a:t>Se règle</a:t>
            </a:r>
          </a:p>
        </p:txBody>
      </p:sp>
      <p:sp>
        <p:nvSpPr>
          <p:cNvPr id="20" name="Point 4 détail"/>
          <p:cNvSpPr txBox="1"/>
          <p:nvPr/>
        </p:nvSpPr>
        <p:spPr>
          <a:xfrm>
            <a:off x="7086600" y="3291840"/>
            <a:ext cx="4480560" cy="731520"/>
          </a:xfrm>
          <a:prstGeom prst="rect">
            <a:avLst/>
          </a:prstGeom>
          <a:noFill/>
        </p:spPr>
        <p:txBody>
          <a:bodyPr wrap="square" lIns="0" rIns="0" tIns="0" bIns="0" anchor="t">
            <a:noAutofit/>
          </a:bodyPr>
          <a:lstStyle/>
          <a:p>
            <a:pPr algn="l"/>
            <a:r>
              <a:rPr sz="1600" b="0" i="0">
                <a:solidFill>
                  <a:srgbClr val="5B6577"/>
                </a:solidFill>
                <a:latin typeface="Calibri"/>
              </a:rPr>
              <a:t>groups, ignore, limite de PR, cooldown.</a:t>
            </a:r>
          </a:p>
        </p:txBody>
      </p:sp>
      <p:pic>
        <p:nvPicPr>
          <p:cNvPr id="21" name="Icône vigilance" descr="warn.png"/>
          <p:cNvPicPr>
            <a:picLocks noChangeAspect="1"/>
          </p:cNvPicPr>
          <p:nvPr/>
        </p:nvPicPr>
        <p:blipFill>
          <a:blip r:embed="rId2"/>
          <a:stretch>
            <a:fillRect/>
          </a:stretch>
        </p:blipFill>
        <p:spPr>
          <a:xfrm>
            <a:off x="548640" y="4343400"/>
            <a:ext cx="365760" cy="365760"/>
          </a:xfrm>
          <a:prstGeom prst="rect">
            <a:avLst/>
          </a:prstGeom>
        </p:spPr>
      </p:pic>
      <p:sp>
        <p:nvSpPr>
          <p:cNvPr id="22" name="Vigilance"/>
          <p:cNvSpPr txBox="1"/>
          <p:nvPr/>
        </p:nvSpPr>
        <p:spPr>
          <a:xfrm>
            <a:off x="1051560" y="4297680"/>
            <a:ext cx="10515600" cy="685800"/>
          </a:xfrm>
          <a:prstGeom prst="rect">
            <a:avLst/>
          </a:prstGeom>
          <a:noFill/>
        </p:spPr>
        <p:txBody>
          <a:bodyPr wrap="square" lIns="0" rIns="0" tIns="0" bIns="0" anchor="ctr">
            <a:noAutofit/>
          </a:bodyPr>
          <a:lstStyle/>
          <a:p>
            <a:pPr algn="l"/>
            <a:r>
              <a:rPr sz="1600" b="1" i="0">
                <a:solidFill>
                  <a:srgbClr val="1B2F5B"/>
                </a:solidFill>
                <a:latin typeface="Calibri"/>
              </a:rPr>
              <a:t>Vigilance : </a:t>
            </a:r>
            <a:r>
              <a:rPr sz="1600" b="0" i="0">
                <a:solidFill>
                  <a:srgbClr val="1B2F5B"/>
                </a:solidFill>
                <a:latin typeface="Calibri"/>
              </a:rPr>
              <a:t>trop de PR · mises à jour cassantes, même de sécurité · alertes pas toujours pertinentes · versions piégées (axios piraté le 31/03/2026)</a:t>
            </a:r>
          </a:p>
        </p:txBody>
      </p:sp>
      <p:sp>
        <p:nvSpPr>
          <p:cNvPr id="23" name="Merci"/>
          <p:cNvSpPr txBox="1"/>
          <p:nvPr/>
        </p:nvSpPr>
        <p:spPr>
          <a:xfrm>
            <a:off x="548640" y="5257800"/>
            <a:ext cx="11064240" cy="731520"/>
          </a:xfrm>
          <a:prstGeom prst="rect">
            <a:avLst/>
          </a:prstGeom>
          <a:noFill/>
        </p:spPr>
        <p:txBody>
          <a:bodyPr wrap="square" lIns="0" rIns="0" tIns="0" bIns="0" anchor="ctr">
            <a:noAutofit/>
          </a:bodyPr>
          <a:lstStyle/>
          <a:p>
            <a:pPr algn="ctr"/>
            <a:r>
              <a:rPr sz="3200" b="1" i="0">
                <a:solidFill>
                  <a:srgbClr val="2F6DB5"/>
                </a:solidFill>
                <a:latin typeface="Calibri"/>
              </a:rPr>
              <a:t>Merci ! Des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Dependabot</dc:title>
  <dc:subject>Cours DevOps, M1 SIGLIS</dc:subject>
  <dc:creator>Madou DIAKAYETEBA, Mouhamed S. CAMARA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