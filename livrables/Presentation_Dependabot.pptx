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30 s.
Bonjour. Nous allons vous présenter Dependabot, un outil de GitHub qu'aucun de nous deux n'avait utilisé avant ce projet.
Retenez dès maintenant ces quatre mots, ils vont structurer toute la présentation et la démo : Détecter, Proposer, Vérifier, Décider. Dependabot fait les deux premiers ; le pipeline CI fait le troisième ; l'équipe fait le quatrième.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Notre application de démo est une petite appli React qui utilise axios, la bibliothèque la plus utilisée pour faire des requêtes HTTP en JavaScript. Nous l'avons volontairement laissée en version 0.18.0, sortie en février 2018.
Elle fonctionne parfaitement. Et pourtant : en mai 2019, une première faille est publiée. Aujourd'hui, la base de failles de GitHub en recense 25 qui la concernent, dont 11 de gravité élevée.
Exemple concret (CVE-2025-27152) : on crée un client axios avec une adresse de base et une clé d'API secrète. Si une adresse complète fournie par un utilisateur arrive dans ce client, axios envoie la requête — avec la clé — chez l'attaquant.
Le message clé : le code n'a pas bougé, c'est le risque qui a augmenté. Et le jour où on oublie de mettre à jour, ça peut coûter très cher : chez Equifax, en 2017, le correctif d'une faille Apache Struts existait depuis le 7 mars ; il n'a pas été appliqué, et les données d'environ 147 millions de personnes ont été exposées.
Personne ne surveille à la main 159 paquets (c'est ce que notre appli installe réellement). D'où Dependabot.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Dependabot est un robot intégré à GitHub. Racheté par GitHub en 2019, il est gratuit et il n'y a rien à installer : on l'active dans les paramètres du dépôt (Settings, Advanced Security).
Derrière ce nom, trois fonctions. Un : les alertes — il signale qu'une dépendance a une faille, avec sa gravité et la version qui la corrige. Deux : les security updates — il ouvre lui-même une pull request qui monte la dépendance vers la version minimale corrigée. Ces deux-là marchent sans aucune configuration.
Trois : les version updates — des pull requests planifiées pour suivre les nouvelles versions, même sans faille. Pour ça, il faut un fichier de configuration : .github/dependabot.yml, que nous allons décortiquer.
Il couvre une trentaine d'écosystèmes : npm pour nous, mais aussi pip, Maven, Docker, et même les actions GitHub utilisées par le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C'est la diapo la plus importante.
Tout part du dépôt : le package.json qui liste les dépendances, et le fichier dependabot.yml qui dit à Dependabot quoi surveiller.
Étape 1, DÉTECTER : GitHub construit le graphe de dépendances (toutes les versions installées, même indirectes) et le compare à la GitHub Advisory Database, la base des failles connues. Version dans une plage vulnérable = alerte.
Étape 2, PROPOSER : Dependabot ouvre une pull request avec la nouvelle version, les notes de version et le changelog. Il s'arrête là.
Étape 3, VÉRIFIER : cette PR déclenche notre pipeline CI, un workflow GitHub Actions qui installe, teste et compile. Dependabot, lui, ne lance aucun test.
Étape 4, DÉCIDER : un humain relit et fusionne si le CI est vert ; le déploiement suit.
À retenir : Dependabot ne remplace pas le CI/CD, il l'alimente. Sans CI, on fusionnerait à l'aveugle — et vous verrez dans la démo que ce n'est pas théorique.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Voici, en version courte, le fichier de notre dépôt de démo. Il vit dans .github/dependabot.yml.
version: 2, c'est la version du format. Ensuite, updates contient un bloc par écosystème.
1, package-ecosystem : quoi surveiller, ici npm. 2, directory : où se trouve le package.json. 3, schedule : quand vérifier, ici chaque semaine.
4, open-pull-requests-limit : par défaut Dependabot n'ouvre que 5 PR de version à la fois. Chez nous, il en avait calculé 12 : la PR d'axios attendait son tour. On a monté la limite à 10. Les PR de sécurité, elles, ne sont pas concernées par cette limite.
5, groups : certains paquets ne marchent qu'ensemble, comme vite et son plugin React. On les regroupe dans une seule PR — on verra pourquoi dans la démo.
6, ignore : ce qu'on ne veut pas voir proposé, ici les versions majeures d'ESLint, que l'on migrera à la main.
Le second bloc surveille les actions GitHub utilisées par notre pipeline : Dependabot met aussi à jour le CI lui-même.
Important : sans ce fichier, les alertes et les PR de sécurité fonctionnent déjà. Le fichier sert à activer les mises à jour de version et à tout régler finement.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30 s d'annonce, puis démo (voir le déroulé détaillé dans le README du dépôt).
On passe au dépôt de démo. On va suivre axios de bout en bout, dans l'ordre des quatre étapes.
1 : dans l'onglet Security, les alertes Dependabot sur axios 0.18.0, avec leur gravité. 2 : la pull request de sécurité ouverte automatiquement, axios 0.18.0 vers 0.33.0 : notes de version, changelog, commits. 3 : le pipeline CI qui tourne sur les PR — certaines sont vertes, d'autres rouges, et on explique pourquoi. 4 : on fusionne une PR verte et on regarde les alertes se fermer.
Plan B si le réseau ou GitHub fait défaut : captures d'écran dans docs/captures (voir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Quatre choses à retenir. Un : Dependabot détecte et propose, rien de plus — il ne teste pas et ne fusionne pas seul. Deux : deux modes, sécurité (immédiat, sans configuration) et versions (planifié, via dependabot.yml). Trois : il est indissociable du pipeline CI qui teste chaque PR, et de l'équipe qui décide. Quatre : il se règle, avec les groupes, les exclusions, la limite de PR et le délai d'attente.
Côté vigilance : trop de PR tue la lecture des PR ; une mise à jour, même de sécurité, peut casser le projet ; une alerte ne veut pas dire que la faille est exploitable chez vous ; Dependabot ne voit que ce qui est déclaré dans un manifeste. Et une nouvelle version n'est pas forcément sûre : le 31 mars 2026, axios lui-même a été piraté sur npm pendant environ 3 heures. Depuis juillet 2026, Dependabot attend 3 jours avant de proposer une nouvelle version, sauf pour les correctifs de sécurité.
Merci, nous prenons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731520" y="868680"/>
            <a:ext cx="1143000" cy="1143000"/>
          </a:xfrm>
          <a:prstGeom prst="ellipse">
            <a:avLst/>
          </a:prstGeom>
          <a:solidFill>
            <a:srgbClr val="E8A317"/>
          </a:solidFill>
          <a:ln w="12700">
            <a:solidFill>
              <a:srgbClr val="E8A317"/>
            </a:solidFill>
            <a:prstDash val="solid"/>
          </a:ln>
        </p:spPr>
      </p:sp>
      <p:pic>
        <p:nvPicPr>
          <p:cNvPr id="3" name="Image 0" descr="preencoded.png">    </p:cNvPr>
          <p:cNvPicPr>
            <a:picLocks noChangeAspect="1"/>
          </p:cNvPicPr>
          <p:nvPr/>
        </p:nvPicPr>
        <p:blipFill>
          <a:blip r:embed="rId1"/>
          <a:stretch>
            <a:fillRect/>
          </a:stretch>
        </p:blipFill>
        <p:spPr>
          <a:xfrm>
            <a:off x="982980" y="1120140"/>
            <a:ext cx="640080" cy="640080"/>
          </a:xfrm>
          <a:prstGeom prst="rect">
            <a:avLst/>
          </a:prstGeom>
        </p:spPr>
      </p:pic>
      <p:sp>
        <p:nvSpPr>
          <p:cNvPr id="4" name="Text 1"/>
          <p:cNvSpPr txBox="1"/>
          <p:nvPr/>
        </p:nvSpPr>
        <p:spPr>
          <a:xfrm>
            <a:off x="731520" y="2240280"/>
            <a:ext cx="10058400" cy="1143000"/>
          </a:xfrm>
          <a:prstGeom prst="rect">
            <a:avLst/>
          </a:prstGeom>
          <a:noFill/>
          <a:ln/>
        </p:spPr>
        <p:txBody>
          <a:bodyPr wrap="square" lIns="0" tIns="0" rIns="0" bIns="0" rtlCol="0" anchor="ctr"/>
          <a:lstStyle/>
          <a:p>
            <a:pPr indent="0" marL="0">
              <a:buNone/>
            </a:pPr>
            <a:r>
              <a:rPr lang="en-US" sz="7200" b="1" dirty="0">
                <a:solidFill>
                  <a:srgbClr val="FFFFFF"/>
                </a:solidFill>
                <a:latin typeface="Calibri" pitchFamily="34" charset="0"/>
                <a:ea typeface="Calibri" pitchFamily="34" charset="-122"/>
                <a:cs typeface="Calibri" pitchFamily="34" charset="-120"/>
              </a:rPr>
              <a:t>Dependabot</a:t>
            </a:r>
            <a:endParaRPr lang="en-US" sz="7200" dirty="0"/>
          </a:p>
        </p:txBody>
      </p:sp>
      <p:sp>
        <p:nvSpPr>
          <p:cNvPr id="5" name="Text 2"/>
          <p:cNvSpPr txBox="1"/>
          <p:nvPr/>
        </p:nvSpPr>
        <p:spPr>
          <a:xfrm>
            <a:off x="731520" y="3383280"/>
            <a:ext cx="10515600" cy="548640"/>
          </a:xfrm>
          <a:prstGeom prst="rect">
            <a:avLst/>
          </a:prstGeom>
          <a:noFill/>
          <a:ln/>
        </p:spPr>
        <p:txBody>
          <a:bodyPr wrap="square" lIns="0" tIns="0" rIns="0" bIns="0" rtlCol="0" anchor="ctr"/>
          <a:lstStyle/>
          <a:p>
            <a:pPr indent="0" marL="0">
              <a:buNone/>
            </a:pPr>
            <a:r>
              <a:rPr lang="en-US" sz="2400" dirty="0">
                <a:solidFill>
                  <a:srgbClr val="B8C7D9"/>
                </a:solidFill>
                <a:latin typeface="Calibri" pitchFamily="34" charset="0"/>
                <a:ea typeface="Calibri" pitchFamily="34" charset="-122"/>
                <a:cs typeface="Calibri" pitchFamily="34" charset="-120"/>
              </a:rPr>
              <a:t>Le robot de GitHub qui met à jour vos dépendances… avant les attaquants</a:t>
            </a:r>
            <a:endParaRPr lang="en-US" sz="2400" dirty="0"/>
          </a:p>
        </p:txBody>
      </p:sp>
      <p:sp>
        <p:nvSpPr>
          <p:cNvPr id="6" name="Shape 3"/>
          <p:cNvSpPr/>
          <p:nvPr/>
        </p:nvSpPr>
        <p:spPr>
          <a:xfrm>
            <a:off x="731520" y="4526280"/>
            <a:ext cx="475488" cy="475488"/>
          </a:xfrm>
          <a:prstGeom prst="ellipse">
            <a:avLst/>
          </a:prstGeom>
          <a:solidFill>
            <a:srgbClr val="C7353F"/>
          </a:solidFill>
          <a:ln w="12700">
            <a:solidFill>
              <a:srgbClr val="C7353F"/>
            </a:solidFill>
            <a:prstDash val="solid"/>
          </a:ln>
        </p:spPr>
      </p:sp>
      <p:sp>
        <p:nvSpPr>
          <p:cNvPr id="7" name="Text 4"/>
          <p:cNvSpPr txBox="1"/>
          <p:nvPr/>
        </p:nvSpPr>
        <p:spPr>
          <a:xfrm>
            <a:off x="731520" y="452628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1335024" y="4526280"/>
            <a:ext cx="1280160" cy="47548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Détecter</a:t>
            </a:r>
            <a:endParaRPr lang="en-US" sz="1800" dirty="0"/>
          </a:p>
        </p:txBody>
      </p:sp>
      <p:sp>
        <p:nvSpPr>
          <p:cNvPr id="9" name="Shape 6"/>
          <p:cNvSpPr/>
          <p:nvPr/>
        </p:nvSpPr>
        <p:spPr>
          <a:xfrm>
            <a:off x="2514600" y="4764024"/>
            <a:ext cx="411480" cy="0"/>
          </a:xfrm>
          <a:prstGeom prst="line">
            <a:avLst/>
          </a:prstGeom>
          <a:noFill/>
          <a:ln w="28575">
            <a:solidFill>
              <a:srgbClr val="B8C7D9"/>
            </a:solidFill>
            <a:prstDash val="solid"/>
            <a:tailEnd type="triangle"/>
          </a:ln>
        </p:spPr>
      </p:sp>
      <p:sp>
        <p:nvSpPr>
          <p:cNvPr id="10" name="Shape 7"/>
          <p:cNvSpPr/>
          <p:nvPr/>
        </p:nvSpPr>
        <p:spPr>
          <a:xfrm>
            <a:off x="3063240" y="4526280"/>
            <a:ext cx="475488" cy="475488"/>
          </a:xfrm>
          <a:prstGeom prst="ellipse">
            <a:avLst/>
          </a:prstGeom>
          <a:solidFill>
            <a:srgbClr val="E8A317"/>
          </a:solidFill>
          <a:ln w="12700">
            <a:solidFill>
              <a:srgbClr val="E8A317"/>
            </a:solidFill>
            <a:prstDash val="solid"/>
          </a:ln>
        </p:spPr>
      </p:sp>
      <p:sp>
        <p:nvSpPr>
          <p:cNvPr id="11" name="Text 8"/>
          <p:cNvSpPr txBox="1"/>
          <p:nvPr/>
        </p:nvSpPr>
        <p:spPr>
          <a:xfrm>
            <a:off x="3063240" y="4526280"/>
            <a:ext cx="475488" cy="475488"/>
          </a:xfrm>
          <a:prstGeom prst="rect">
            <a:avLst/>
          </a:prstGeom>
          <a:noFill/>
          <a:ln/>
        </p:spPr>
        <p:txBody>
          <a:bodyPr wrap="square" lIns="0" tIns="0" rIns="0" bIns="0" rtlCol="0" anchor="ctr"/>
          <a:lstStyle/>
          <a:p>
            <a:pPr algn="ctr" indent="0" marL="0">
              <a:buNone/>
            </a:pPr>
            <a:r>
              <a:rPr lang="en-US" sz="1800" b="1" dirty="0">
                <a:solidFill>
                  <a:srgbClr val="0B1F33"/>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3666744" y="4526280"/>
            <a:ext cx="1280160" cy="47548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Proposer</a:t>
            </a:r>
            <a:endParaRPr lang="en-US" sz="1800" dirty="0"/>
          </a:p>
        </p:txBody>
      </p:sp>
      <p:sp>
        <p:nvSpPr>
          <p:cNvPr id="13" name="Shape 10"/>
          <p:cNvSpPr/>
          <p:nvPr/>
        </p:nvSpPr>
        <p:spPr>
          <a:xfrm>
            <a:off x="4846320" y="4764024"/>
            <a:ext cx="411480" cy="0"/>
          </a:xfrm>
          <a:prstGeom prst="line">
            <a:avLst/>
          </a:prstGeom>
          <a:noFill/>
          <a:ln w="28575">
            <a:solidFill>
              <a:srgbClr val="B8C7D9"/>
            </a:solidFill>
            <a:prstDash val="solid"/>
            <a:tailEnd type="triangle"/>
          </a:ln>
        </p:spPr>
      </p:sp>
      <p:sp>
        <p:nvSpPr>
          <p:cNvPr id="14" name="Shape 11"/>
          <p:cNvSpPr/>
          <p:nvPr/>
        </p:nvSpPr>
        <p:spPr>
          <a:xfrm>
            <a:off x="5394960" y="4526280"/>
            <a:ext cx="475488" cy="475488"/>
          </a:xfrm>
          <a:prstGeom prst="ellipse">
            <a:avLst/>
          </a:prstGeom>
          <a:solidFill>
            <a:srgbClr val="0E7C86"/>
          </a:solidFill>
          <a:ln w="12700">
            <a:solidFill>
              <a:srgbClr val="0E7C86"/>
            </a:solidFill>
            <a:prstDash val="solid"/>
          </a:ln>
        </p:spPr>
      </p:sp>
      <p:sp>
        <p:nvSpPr>
          <p:cNvPr id="15" name="Text 12"/>
          <p:cNvSpPr txBox="1"/>
          <p:nvPr/>
        </p:nvSpPr>
        <p:spPr>
          <a:xfrm>
            <a:off x="5394960" y="452628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3"/>
          <p:cNvSpPr txBox="1"/>
          <p:nvPr/>
        </p:nvSpPr>
        <p:spPr>
          <a:xfrm>
            <a:off x="5998464" y="4526280"/>
            <a:ext cx="1280160" cy="47548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Vérifier</a:t>
            </a:r>
            <a:endParaRPr lang="en-US" sz="1800" dirty="0"/>
          </a:p>
        </p:txBody>
      </p:sp>
      <p:sp>
        <p:nvSpPr>
          <p:cNvPr id="17" name="Shape 14"/>
          <p:cNvSpPr/>
          <p:nvPr/>
        </p:nvSpPr>
        <p:spPr>
          <a:xfrm>
            <a:off x="7178040" y="4764024"/>
            <a:ext cx="411480" cy="0"/>
          </a:xfrm>
          <a:prstGeom prst="line">
            <a:avLst/>
          </a:prstGeom>
          <a:noFill/>
          <a:ln w="28575">
            <a:solidFill>
              <a:srgbClr val="B8C7D9"/>
            </a:solidFill>
            <a:prstDash val="solid"/>
            <a:tailEnd type="triangle"/>
          </a:ln>
        </p:spPr>
      </p:sp>
      <p:sp>
        <p:nvSpPr>
          <p:cNvPr id="18" name="Shape 15"/>
          <p:cNvSpPr/>
          <p:nvPr/>
        </p:nvSpPr>
        <p:spPr>
          <a:xfrm>
            <a:off x="7726680" y="4526280"/>
            <a:ext cx="475488" cy="475488"/>
          </a:xfrm>
          <a:prstGeom prst="ellipse">
            <a:avLst/>
          </a:prstGeom>
          <a:solidFill>
            <a:srgbClr val="2E9E55"/>
          </a:solidFill>
          <a:ln w="12700">
            <a:solidFill>
              <a:srgbClr val="2E9E55"/>
            </a:solidFill>
            <a:prstDash val="solid"/>
          </a:ln>
        </p:spPr>
      </p:sp>
      <p:sp>
        <p:nvSpPr>
          <p:cNvPr id="19" name="Text 16"/>
          <p:cNvSpPr txBox="1"/>
          <p:nvPr/>
        </p:nvSpPr>
        <p:spPr>
          <a:xfrm>
            <a:off x="7726680" y="452628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Text 17"/>
          <p:cNvSpPr txBox="1"/>
          <p:nvPr/>
        </p:nvSpPr>
        <p:spPr>
          <a:xfrm>
            <a:off x="8330184" y="4526280"/>
            <a:ext cx="1280160" cy="47548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Décider</a:t>
            </a:r>
            <a:endParaRPr lang="en-US" sz="1800" dirty="0"/>
          </a:p>
        </p:txBody>
      </p:sp>
      <p:sp>
        <p:nvSpPr>
          <p:cNvPr id="21" name="Text 18"/>
          <p:cNvSpPr txBox="1"/>
          <p:nvPr/>
        </p:nvSpPr>
        <p:spPr>
          <a:xfrm>
            <a:off x="731520" y="5989320"/>
            <a:ext cx="10515600" cy="365760"/>
          </a:xfrm>
          <a:prstGeom prst="rect">
            <a:avLst/>
          </a:prstGeom>
          <a:noFill/>
          <a:ln/>
        </p:spPr>
        <p:txBody>
          <a:bodyPr wrap="square" lIns="0" tIns="0" rIns="0" bIns="0" rtlCol="0" anchor="ctr"/>
          <a:lstStyle/>
          <a:p>
            <a:pPr indent="0" marL="0">
              <a:buNone/>
            </a:pPr>
            <a:r>
              <a:rPr lang="en-US" sz="1400" dirty="0">
                <a:solidFill>
                  <a:srgbClr val="B8C7D9"/>
                </a:solidFill>
                <a:latin typeface="Calibri" pitchFamily="34" charset="0"/>
                <a:ea typeface="Calibri" pitchFamily="34" charset="-122"/>
                <a:cs typeface="Calibri" pitchFamily="34" charset="-120"/>
              </a:rPr>
              <a:t>Cours DevOps · M1 SIGLIS · Madou DIAKAYETEBA &amp; [Prénom NOM]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ctr"/>
          <a:lstStyle/>
          <a:p>
            <a:pPr indent="0" marL="0">
              <a:buNone/>
            </a:pPr>
            <a:r>
              <a:rPr lang="en-US" sz="1300" b="1" spc="300" kern="0" dirty="0">
                <a:solidFill>
                  <a:srgbClr val="C7353F"/>
                </a:solidFill>
                <a:latin typeface="Calibri" pitchFamily="34" charset="0"/>
                <a:ea typeface="Calibri" pitchFamily="34" charset="-122"/>
                <a:cs typeface="Calibri" pitchFamily="34" charset="-120"/>
              </a:rPr>
              <a:t>LE POURQUOI</a:t>
            </a:r>
            <a:endParaRPr lang="en-US" sz="1300" dirty="0"/>
          </a:p>
        </p:txBody>
      </p:sp>
      <p:sp>
        <p:nvSpPr>
          <p:cNvPr id="3" name="Text 1"/>
          <p:cNvSpPr txBox="1"/>
          <p:nvPr/>
        </p:nvSpPr>
        <p:spPr>
          <a:xfrm>
            <a:off x="548640" y="676656"/>
            <a:ext cx="11064240" cy="777240"/>
          </a:xfrm>
          <a:prstGeom prst="rect">
            <a:avLst/>
          </a:prstGeom>
          <a:noFill/>
          <a:ln/>
        </p:spPr>
        <p:txBody>
          <a:bodyPr wrap="square" lIns="0" tIns="0" rIns="0" bIns="0" rtlCol="0" anchor="ctr"/>
          <a:lstStyle/>
          <a:p>
            <a:pPr indent="0" marL="0">
              <a:buNone/>
            </a:pPr>
            <a:r>
              <a:rPr lang="en-US" sz="3400" b="1" dirty="0">
                <a:solidFill>
                  <a:srgbClr val="0B1F33"/>
                </a:solidFill>
                <a:latin typeface="Calibri" pitchFamily="34" charset="0"/>
                <a:ea typeface="Calibri" pitchFamily="34" charset="-122"/>
                <a:cs typeface="Calibri" pitchFamily="34" charset="-120"/>
              </a:rPr>
              <a:t>Notre appli utilise axios 0.18.0. Où est le problème ?</a:t>
            </a:r>
            <a:endParaRPr lang="en-US" sz="3400" dirty="0"/>
          </a:p>
        </p:txBody>
      </p:sp>
      <p:sp>
        <p:nvSpPr>
          <p:cNvPr id="4" name="Text 2"/>
          <p:cNvSpPr txBox="1"/>
          <p:nvPr/>
        </p:nvSpPr>
        <p:spPr>
          <a:xfrm>
            <a:off x="548640" y="1691640"/>
            <a:ext cx="3474720" cy="1600200"/>
          </a:xfrm>
          <a:prstGeom prst="rect">
            <a:avLst/>
          </a:prstGeom>
          <a:noFill/>
          <a:ln/>
        </p:spPr>
        <p:txBody>
          <a:bodyPr wrap="square" lIns="0" tIns="0" rIns="0" bIns="0" rtlCol="0" anchor="ctr"/>
          <a:lstStyle/>
          <a:p>
            <a:pPr indent="0" marL="0">
              <a:buNone/>
            </a:pPr>
            <a:r>
              <a:rPr lang="en-US" sz="13000" b="1" dirty="0">
                <a:solidFill>
                  <a:srgbClr val="C7353F"/>
                </a:solidFill>
                <a:latin typeface="Calibri" pitchFamily="34" charset="0"/>
                <a:ea typeface="Calibri" pitchFamily="34" charset="-122"/>
                <a:cs typeface="Calibri" pitchFamily="34" charset="-120"/>
              </a:rPr>
              <a:t>25</a:t>
            </a:r>
            <a:endParaRPr lang="en-US" sz="13000" dirty="0"/>
          </a:p>
        </p:txBody>
      </p:sp>
      <p:sp>
        <p:nvSpPr>
          <p:cNvPr id="5" name="Text 3"/>
          <p:cNvSpPr txBox="1"/>
          <p:nvPr/>
        </p:nvSpPr>
        <p:spPr>
          <a:xfrm>
            <a:off x="548640" y="3337560"/>
            <a:ext cx="3566160" cy="777240"/>
          </a:xfrm>
          <a:prstGeom prst="rect">
            <a:avLst/>
          </a:prstGeom>
          <a:noFill/>
          <a:ln/>
        </p:spPr>
        <p:txBody>
          <a:bodyPr wrap="square" lIns="0" tIns="0" rIns="0" bIns="0" rtlCol="0" anchor="ctr"/>
          <a:lstStyle/>
          <a:p>
            <a:pPr indent="0" marL="0">
              <a:buNone/>
            </a:pPr>
            <a:r>
              <a:rPr lang="en-US" sz="2000" b="1" dirty="0">
                <a:solidFill>
                  <a:srgbClr val="0B1F33"/>
                </a:solidFill>
                <a:latin typeface="Calibri" pitchFamily="34" charset="0"/>
                <a:ea typeface="Calibri" pitchFamily="34" charset="-122"/>
                <a:cs typeface="Calibri" pitchFamily="34" charset="-120"/>
              </a:rPr>
              <a:t>failles de sécurité connues touchent axios 0.18.0</a:t>
            </a:r>
            <a:endParaRPr lang="en-US" sz="2000" dirty="0"/>
          </a:p>
        </p:txBody>
      </p:sp>
      <p:sp>
        <p:nvSpPr>
          <p:cNvPr id="6" name="Text 4"/>
          <p:cNvSpPr txBox="1"/>
          <p:nvPr/>
        </p:nvSpPr>
        <p:spPr>
          <a:xfrm>
            <a:off x="548640" y="4114800"/>
            <a:ext cx="3566160" cy="365760"/>
          </a:xfrm>
          <a:prstGeom prst="rect">
            <a:avLst/>
          </a:prstGeom>
          <a:noFill/>
          <a:ln/>
        </p:spPr>
        <p:txBody>
          <a:bodyPr wrap="square" lIns="0" tIns="0" rIns="0" bIns="0" rtlCol="0" anchor="ctr"/>
          <a:lstStyle/>
          <a:p>
            <a:pPr indent="0" marL="0">
              <a:buNone/>
            </a:pPr>
            <a:r>
              <a:rPr lang="en-US" sz="1700" dirty="0">
                <a:solidFill>
                  <a:srgbClr val="C7353F"/>
                </a:solidFill>
                <a:latin typeface="Calibri" pitchFamily="34" charset="0"/>
                <a:ea typeface="Calibri" pitchFamily="34" charset="-122"/>
                <a:cs typeface="Calibri" pitchFamily="34" charset="-120"/>
              </a:rPr>
              <a:t>dont 11 de gravité élevée</a:t>
            </a:r>
            <a:endParaRPr lang="en-US" sz="1700" dirty="0"/>
          </a:p>
        </p:txBody>
      </p:sp>
      <p:sp>
        <p:nvSpPr>
          <p:cNvPr id="7" name="Text 5"/>
          <p:cNvSpPr txBox="1"/>
          <p:nvPr/>
        </p:nvSpPr>
        <p:spPr>
          <a:xfrm>
            <a:off x="548640" y="4572000"/>
            <a:ext cx="3566160" cy="274320"/>
          </a:xfrm>
          <a:prstGeom prst="rect">
            <a:avLst/>
          </a:prstGeom>
          <a:noFill/>
          <a:ln/>
        </p:spPr>
        <p:txBody>
          <a:bodyPr wrap="square" lIns="0" tIns="0" rIns="0" bIns="0" rtlCol="0" anchor="ctr"/>
          <a:lstStyle/>
          <a:p>
            <a:pPr indent="0" marL="0">
              <a:buNone/>
            </a:pPr>
            <a:r>
              <a:rPr lang="en-US" sz="1100" dirty="0">
                <a:solidFill>
                  <a:srgbClr val="5B6B7B"/>
                </a:solidFill>
                <a:latin typeface="Calibri" pitchFamily="34" charset="0"/>
                <a:ea typeface="Calibri" pitchFamily="34" charset="-122"/>
                <a:cs typeface="Calibri" pitchFamily="34" charset="-120"/>
              </a:rPr>
              <a:t>Source : GitHub Advisory Database, 25/09/2026</a:t>
            </a:r>
            <a:endParaRPr lang="en-US" sz="1100" dirty="0"/>
          </a:p>
        </p:txBody>
      </p:sp>
      <p:sp>
        <p:nvSpPr>
          <p:cNvPr id="8" name="Shape 6"/>
          <p:cNvSpPr/>
          <p:nvPr/>
        </p:nvSpPr>
        <p:spPr>
          <a:xfrm>
            <a:off x="4617720" y="2057400"/>
            <a:ext cx="6949440" cy="0"/>
          </a:xfrm>
          <a:prstGeom prst="line">
            <a:avLst/>
          </a:prstGeom>
          <a:noFill/>
          <a:ln w="38100">
            <a:solidFill>
              <a:srgbClr val="D5DCE3"/>
            </a:solidFill>
            <a:prstDash val="solid"/>
          </a:ln>
        </p:spPr>
      </p:sp>
      <p:sp>
        <p:nvSpPr>
          <p:cNvPr id="9" name="Shape 7"/>
          <p:cNvSpPr/>
          <p:nvPr/>
        </p:nvSpPr>
        <p:spPr>
          <a:xfrm>
            <a:off x="4617720" y="1938528"/>
            <a:ext cx="237744" cy="237744"/>
          </a:xfrm>
          <a:prstGeom prst="ellipse">
            <a:avLst/>
          </a:prstGeom>
          <a:solidFill>
            <a:srgbClr val="0E7C86"/>
          </a:solidFill>
          <a:ln w="12700">
            <a:solidFill>
              <a:srgbClr val="0E7C86"/>
            </a:solidFill>
            <a:prstDash val="solid"/>
          </a:ln>
        </p:spPr>
      </p:sp>
      <p:sp>
        <p:nvSpPr>
          <p:cNvPr id="10" name="Text 8"/>
          <p:cNvSpPr txBox="1"/>
          <p:nvPr/>
        </p:nvSpPr>
        <p:spPr>
          <a:xfrm>
            <a:off x="4617720" y="2258568"/>
            <a:ext cx="2743200" cy="310896"/>
          </a:xfrm>
          <a:prstGeom prst="rect">
            <a:avLst/>
          </a:prstGeom>
          <a:noFill/>
          <a:ln/>
        </p:spPr>
        <p:txBody>
          <a:bodyPr wrap="square" lIns="0" tIns="0" rIns="0" bIns="0" rtlCol="0" anchor="ctr"/>
          <a:lstStyle/>
          <a:p>
            <a:pPr algn="l" indent="0" marL="0">
              <a:buNone/>
            </a:pPr>
            <a:r>
              <a:rPr lang="en-US" sz="1500" b="1" dirty="0">
                <a:solidFill>
                  <a:srgbClr val="0E7C86"/>
                </a:solidFill>
                <a:latin typeface="Calibri" pitchFamily="34" charset="0"/>
                <a:ea typeface="Calibri" pitchFamily="34" charset="-122"/>
                <a:cs typeface="Calibri" pitchFamily="34" charset="-120"/>
              </a:rPr>
              <a:t>Février 2018</a:t>
            </a:r>
            <a:endParaRPr lang="en-US" sz="1500" dirty="0"/>
          </a:p>
        </p:txBody>
      </p:sp>
      <p:sp>
        <p:nvSpPr>
          <p:cNvPr id="11" name="Text 9"/>
          <p:cNvSpPr txBox="1"/>
          <p:nvPr/>
        </p:nvSpPr>
        <p:spPr>
          <a:xfrm>
            <a:off x="4617720" y="2551176"/>
            <a:ext cx="2743200" cy="310896"/>
          </a:xfrm>
          <a:prstGeom prst="rect">
            <a:avLst/>
          </a:prstGeom>
          <a:noFill/>
          <a:ln/>
        </p:spPr>
        <p:txBody>
          <a:bodyPr wrap="square" lIns="0" tIns="0" rIns="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axios 0.18.0 publiée</a:t>
            </a:r>
            <a:endParaRPr lang="en-US" sz="1400" dirty="0"/>
          </a:p>
        </p:txBody>
      </p:sp>
      <p:sp>
        <p:nvSpPr>
          <p:cNvPr id="12" name="Shape 10"/>
          <p:cNvSpPr/>
          <p:nvPr/>
        </p:nvSpPr>
        <p:spPr>
          <a:xfrm>
            <a:off x="7973568" y="1938528"/>
            <a:ext cx="237744" cy="237744"/>
          </a:xfrm>
          <a:prstGeom prst="ellipse">
            <a:avLst/>
          </a:prstGeom>
          <a:solidFill>
            <a:srgbClr val="E8A317"/>
          </a:solidFill>
          <a:ln w="12700">
            <a:solidFill>
              <a:srgbClr val="E8A317"/>
            </a:solidFill>
            <a:prstDash val="solid"/>
          </a:ln>
        </p:spPr>
      </p:sp>
      <p:sp>
        <p:nvSpPr>
          <p:cNvPr id="13" name="Text 11"/>
          <p:cNvSpPr txBox="1"/>
          <p:nvPr/>
        </p:nvSpPr>
        <p:spPr>
          <a:xfrm>
            <a:off x="6720840" y="2258568"/>
            <a:ext cx="2743200" cy="310896"/>
          </a:xfrm>
          <a:prstGeom prst="rect">
            <a:avLst/>
          </a:prstGeom>
          <a:noFill/>
          <a:ln/>
        </p:spPr>
        <p:txBody>
          <a:bodyPr wrap="square" lIns="0" tIns="0" rIns="0" bIns="0" rtlCol="0" anchor="ctr"/>
          <a:lstStyle/>
          <a:p>
            <a:pPr algn="ctr" indent="0" marL="0">
              <a:buNone/>
            </a:pPr>
            <a:r>
              <a:rPr lang="en-US" sz="1500" b="1" dirty="0">
                <a:solidFill>
                  <a:srgbClr val="E8A317"/>
                </a:solidFill>
                <a:latin typeface="Calibri" pitchFamily="34" charset="0"/>
                <a:ea typeface="Calibri" pitchFamily="34" charset="-122"/>
                <a:cs typeface="Calibri" pitchFamily="34" charset="-120"/>
              </a:rPr>
              <a:t>Mai 2019</a:t>
            </a:r>
            <a:endParaRPr lang="en-US" sz="1500" dirty="0"/>
          </a:p>
        </p:txBody>
      </p:sp>
      <p:sp>
        <p:nvSpPr>
          <p:cNvPr id="14" name="Text 12"/>
          <p:cNvSpPr txBox="1"/>
          <p:nvPr/>
        </p:nvSpPr>
        <p:spPr>
          <a:xfrm>
            <a:off x="6720840" y="2551176"/>
            <a:ext cx="2743200" cy="310896"/>
          </a:xfrm>
          <a:prstGeom prst="rect">
            <a:avLst/>
          </a:prstGeom>
          <a:noFill/>
          <a:ln/>
        </p:spPr>
        <p:txBody>
          <a:bodyPr wrap="square" lIns="0" tIns="0" rIns="0" bIns="0" rtlCol="0" anchor="ctr"/>
          <a:lstStyle/>
          <a:p>
            <a:pPr algn="ctr" indent="0" marL="0">
              <a:buNone/>
            </a:pPr>
            <a:r>
              <a:rPr lang="en-US" sz="1400" dirty="0">
                <a:solidFill>
                  <a:srgbClr val="1F2933"/>
                </a:solidFill>
                <a:latin typeface="Calibri" pitchFamily="34" charset="0"/>
                <a:ea typeface="Calibri" pitchFamily="34" charset="-122"/>
                <a:cs typeface="Calibri" pitchFamily="34" charset="-120"/>
              </a:rPr>
              <a:t>1re faille : déni de service</a:t>
            </a:r>
            <a:endParaRPr lang="en-US" sz="1400" dirty="0"/>
          </a:p>
        </p:txBody>
      </p:sp>
      <p:sp>
        <p:nvSpPr>
          <p:cNvPr id="15" name="Shape 13"/>
          <p:cNvSpPr/>
          <p:nvPr/>
        </p:nvSpPr>
        <p:spPr>
          <a:xfrm>
            <a:off x="11329416" y="1938528"/>
            <a:ext cx="237744" cy="237744"/>
          </a:xfrm>
          <a:prstGeom prst="ellipse">
            <a:avLst/>
          </a:prstGeom>
          <a:solidFill>
            <a:srgbClr val="C7353F"/>
          </a:solidFill>
          <a:ln w="12700">
            <a:solidFill>
              <a:srgbClr val="C7353F"/>
            </a:solidFill>
            <a:prstDash val="solid"/>
          </a:ln>
        </p:spPr>
      </p:sp>
      <p:sp>
        <p:nvSpPr>
          <p:cNvPr id="16" name="Text 14"/>
          <p:cNvSpPr txBox="1"/>
          <p:nvPr/>
        </p:nvSpPr>
        <p:spPr>
          <a:xfrm>
            <a:off x="8823960" y="2258568"/>
            <a:ext cx="2743200" cy="310896"/>
          </a:xfrm>
          <a:prstGeom prst="rect">
            <a:avLst/>
          </a:prstGeom>
          <a:noFill/>
          <a:ln/>
        </p:spPr>
        <p:txBody>
          <a:bodyPr wrap="square" lIns="0" tIns="0" rIns="0" bIns="0" rtlCol="0" anchor="ctr"/>
          <a:lstStyle/>
          <a:p>
            <a:pPr algn="r" indent="0" marL="0">
              <a:buNone/>
            </a:pPr>
            <a:r>
              <a:rPr lang="en-US" sz="1500" b="1" dirty="0">
                <a:solidFill>
                  <a:srgbClr val="C7353F"/>
                </a:solidFill>
                <a:latin typeface="Calibri" pitchFamily="34" charset="0"/>
                <a:ea typeface="Calibri" pitchFamily="34" charset="-122"/>
                <a:cs typeface="Calibri" pitchFamily="34" charset="-120"/>
              </a:rPr>
              <a:t>Septembre 2026</a:t>
            </a:r>
            <a:endParaRPr lang="en-US" sz="1500" dirty="0"/>
          </a:p>
        </p:txBody>
      </p:sp>
      <p:sp>
        <p:nvSpPr>
          <p:cNvPr id="17" name="Text 15"/>
          <p:cNvSpPr txBox="1"/>
          <p:nvPr/>
        </p:nvSpPr>
        <p:spPr>
          <a:xfrm>
            <a:off x="8823960" y="2551176"/>
            <a:ext cx="2743200" cy="310896"/>
          </a:xfrm>
          <a:prstGeom prst="rect">
            <a:avLst/>
          </a:prstGeom>
          <a:noFill/>
          <a:ln/>
        </p:spPr>
        <p:txBody>
          <a:bodyPr wrap="square" lIns="0" tIns="0" rIns="0" bIns="0" rtlCol="0" anchor="ctr"/>
          <a:lstStyle/>
          <a:p>
            <a:pPr algn="r" indent="0" marL="0">
              <a:buNone/>
            </a:pPr>
            <a:r>
              <a:rPr lang="en-US" sz="1400" dirty="0">
                <a:solidFill>
                  <a:srgbClr val="1F2933"/>
                </a:solidFill>
                <a:latin typeface="Calibri" pitchFamily="34" charset="0"/>
                <a:ea typeface="Calibri" pitchFamily="34" charset="-122"/>
                <a:cs typeface="Calibri" pitchFamily="34" charset="-120"/>
              </a:rPr>
              <a:t>25 failles connues</a:t>
            </a:r>
            <a:endParaRPr lang="en-US" sz="1400" dirty="0"/>
          </a:p>
        </p:txBody>
      </p:sp>
      <p:sp>
        <p:nvSpPr>
          <p:cNvPr id="18" name="Shape 16"/>
          <p:cNvSpPr/>
          <p:nvPr/>
        </p:nvSpPr>
        <p:spPr>
          <a:xfrm>
            <a:off x="4617720" y="3246120"/>
            <a:ext cx="6949440" cy="2514600"/>
          </a:xfrm>
          <a:prstGeom prst="roundRect">
            <a:avLst>
              <a:gd name="adj" fmla="val 2909"/>
            </a:avLst>
          </a:prstGeom>
          <a:solidFill>
            <a:srgbClr val="0B1F33"/>
          </a:solidFill>
          <a:ln w="12700">
            <a:solidFill>
              <a:srgbClr val="0B1F33"/>
            </a:solidFill>
            <a:prstDash val="solid"/>
          </a:ln>
          <a:effectLst>
            <a:outerShdw sx="100000" sy="100000" kx="0" ky="0" algn="bl" rotWithShape="0" blurRad="101600" dist="25400" dir="5400000">
              <a:srgbClr val="000000">
                <a:alpha val="12000"/>
              </a:srgbClr>
            </a:outerShdw>
          </a:effectLst>
        </p:spPr>
      </p:sp>
      <p:sp>
        <p:nvSpPr>
          <p:cNvPr id="19" name="Text 17"/>
          <p:cNvSpPr txBox="1"/>
          <p:nvPr/>
        </p:nvSpPr>
        <p:spPr>
          <a:xfrm>
            <a:off x="4892040" y="3429000"/>
            <a:ext cx="6400800" cy="274320"/>
          </a:xfrm>
          <a:prstGeom prst="rect">
            <a:avLst/>
          </a:prstGeom>
          <a:noFill/>
          <a:ln/>
        </p:spPr>
        <p:txBody>
          <a:bodyPr wrap="square" lIns="0" tIns="0" rIns="0" bIns="0" rtlCol="0" anchor="ctr"/>
          <a:lstStyle/>
          <a:p>
            <a:pPr indent="0" marL="0">
              <a:buNone/>
            </a:pPr>
            <a:r>
              <a:rPr lang="en-US" sz="1200" b="1" spc="100" kern="0" dirty="0">
                <a:solidFill>
                  <a:srgbClr val="E8A317"/>
                </a:solidFill>
                <a:latin typeface="Calibri" pitchFamily="34" charset="0"/>
                <a:ea typeface="Calibri" pitchFamily="34" charset="-122"/>
                <a:cs typeface="Calibri" pitchFamily="34" charset="-120"/>
              </a:rPr>
              <a:t>EXEMPLE : CVE-2025-27152 · GRAVITÉ ÉLEVÉE</a:t>
            </a:r>
            <a:endParaRPr lang="en-US" sz="1200" dirty="0"/>
          </a:p>
        </p:txBody>
      </p:sp>
      <p:sp>
        <p:nvSpPr>
          <p:cNvPr id="20" name="Text 18"/>
          <p:cNvSpPr txBox="1"/>
          <p:nvPr/>
        </p:nvSpPr>
        <p:spPr>
          <a:xfrm>
            <a:off x="4892040" y="3794760"/>
            <a:ext cx="6400800" cy="1417320"/>
          </a:xfrm>
          <a:prstGeom prst="rect">
            <a:avLst/>
          </a:prstGeom>
          <a:noFill/>
          <a:ln/>
        </p:spPr>
        <p:txBody>
          <a:bodyPr wrap="square" lIns="0" tIns="0" rIns="0" bIns="0" rtlCol="0" anchor="t"/>
          <a:lstStyle/>
          <a:p>
            <a:pPr indent="0" marL="0">
              <a:spcAft>
                <a:spcPts val="200"/>
              </a:spcAft>
              <a:buNone/>
            </a:pPr>
            <a:r>
              <a:rPr lang="en-US" sz="1400" dirty="0">
                <a:solidFill>
                  <a:srgbClr val="569CD6"/>
                </a:solidFill>
                <a:latin typeface="Consolas" pitchFamily="34" charset="0"/>
                <a:ea typeface="Consolas" pitchFamily="34" charset="-122"/>
                <a:cs typeface="Consolas" pitchFamily="34" charset="-120"/>
              </a:rPr>
              <a:t>const</a:t>
            </a:r>
            <a:pPr indent="0" marL="0">
              <a:spcAft>
                <a:spcPts val="200"/>
              </a:spcAft>
              <a:buNone/>
            </a:pPr>
            <a:r>
              <a:rPr lang="en-US" sz="1400" dirty="0">
                <a:solidFill>
                  <a:srgbClr val="D4D4D4"/>
                </a:solidFill>
                <a:latin typeface="Consolas" pitchFamily="34" charset="0"/>
                <a:ea typeface="Consolas" pitchFamily="34" charset="-122"/>
                <a:cs typeface="Consolas" pitchFamily="34" charset="-120"/>
              </a:rPr>
              <a:t> api = axios.create({ baseURL: </a:t>
            </a:r>
            <a:pPr indent="0" marL="0">
              <a:spcAft>
                <a:spcPts val="200"/>
              </a:spcAft>
              <a:buNone/>
            </a:pPr>
            <a:r>
              <a:rPr lang="en-US" sz="1400" dirty="0">
                <a:solidFill>
                  <a:srgbClr val="CE9178"/>
                </a:solidFill>
                <a:latin typeface="Consolas" pitchFamily="34" charset="0"/>
                <a:ea typeface="Consolas" pitchFamily="34" charset="-122"/>
                <a:cs typeface="Consolas" pitchFamily="34" charset="-120"/>
              </a:rPr>
              <a:t>"https://api.interne/"</a:t>
            </a:r>
            <a:pPr indent="0" marL="0">
              <a:spcAft>
                <a:spcPts val="200"/>
              </a:spcAft>
              <a:buNone/>
            </a:pPr>
            <a:r>
              <a:rPr lang="en-US" sz="1400" dirty="0">
                <a:solidFill>
                  <a:srgbClr val="D4D4D4"/>
                </a:solidFill>
                <a:latin typeface="Consolas" pitchFamily="34" charset="0"/>
                <a:ea typeface="Consolas" pitchFamily="34" charset="-122"/>
                <a:cs typeface="Consolas" pitchFamily="34" charset="-120"/>
              </a:rPr>
              <a:t>,</a:t>
            </a:r>
            <a:endParaRPr lang="en-US" sz="1400" dirty="0"/>
          </a:p>
          <a:p>
            <a:pPr indent="0" marL="0">
              <a:spcAft>
                <a:spcPts val="200"/>
              </a:spcAft>
              <a:buNone/>
            </a:pPr>
            <a:r>
              <a:rPr lang="en-US" sz="1400" dirty="0">
                <a:solidFill>
                  <a:srgbClr val="D4D4D4"/>
                </a:solidFill>
                <a:latin typeface="Consolas" pitchFamily="34" charset="0"/>
                <a:ea typeface="Consolas" pitchFamily="34" charset="-122"/>
                <a:cs typeface="Consolas" pitchFamily="34" charset="-120"/>
              </a:rPr>
              <a:t>  headers: { </a:t>
            </a:r>
            <a:pPr indent="0" marL="0">
              <a:spcAft>
                <a:spcPts val="200"/>
              </a:spcAft>
              <a:buNone/>
            </a:pPr>
            <a:r>
              <a:rPr lang="en-US" sz="1400" dirty="0">
                <a:solidFill>
                  <a:srgbClr val="CE9178"/>
                </a:solidFill>
                <a:latin typeface="Consolas" pitchFamily="34" charset="0"/>
                <a:ea typeface="Consolas" pitchFamily="34" charset="-122"/>
                <a:cs typeface="Consolas" pitchFamily="34" charset="-120"/>
              </a:rPr>
              <a:t>"X-API-KEY"</a:t>
            </a:r>
            <a:pPr indent="0" marL="0">
              <a:spcAft>
                <a:spcPts val="200"/>
              </a:spcAft>
              <a:buNone/>
            </a:pPr>
            <a:r>
              <a:rPr lang="en-US" sz="1400" dirty="0">
                <a:solidFill>
                  <a:srgbClr val="D4D4D4"/>
                </a:solidFill>
                <a:latin typeface="Consolas" pitchFamily="34" charset="0"/>
                <a:ea typeface="Consolas" pitchFamily="34" charset="-122"/>
                <a:cs typeface="Consolas" pitchFamily="34" charset="-120"/>
              </a:rPr>
              <a:t>: </a:t>
            </a:r>
            <a:pPr indent="0" marL="0">
              <a:spcAft>
                <a:spcPts val="200"/>
              </a:spcAft>
              <a:buNone/>
            </a:pPr>
            <a:r>
              <a:rPr lang="en-US" sz="1400" dirty="0">
                <a:solidFill>
                  <a:srgbClr val="CE9178"/>
                </a:solidFill>
                <a:latin typeface="Consolas" pitchFamily="34" charset="0"/>
                <a:ea typeface="Consolas" pitchFamily="34" charset="-122"/>
                <a:cs typeface="Consolas" pitchFamily="34" charset="-120"/>
              </a:rPr>
              <a:t>"secret"</a:t>
            </a:r>
            <a:pPr indent="0" marL="0">
              <a:spcAft>
                <a:spcPts val="200"/>
              </a:spcAft>
              <a:buNone/>
            </a:pPr>
            <a:r>
              <a:rPr lang="en-US" sz="1400" dirty="0">
                <a:solidFill>
                  <a:srgbClr val="D4D4D4"/>
                </a:solidFill>
                <a:latin typeface="Consolas" pitchFamily="34" charset="0"/>
                <a:ea typeface="Consolas" pitchFamily="34" charset="-122"/>
                <a:cs typeface="Consolas" pitchFamily="34" charset="-120"/>
              </a:rPr>
              <a:t> } })</a:t>
            </a:r>
            <a:endParaRPr lang="en-US" sz="1400" dirty="0"/>
          </a:p>
          <a:p>
            <a:pPr indent="0" marL="0">
              <a:spcAft>
                <a:spcPts val="200"/>
              </a:spcAft>
              <a:buNone/>
            </a:pPr>
            <a:r>
              <a:rPr lang="en-US" sz="1400" dirty="0">
                <a:solidFill>
                  <a:srgbClr val="D4D4D4"/>
                </a:solidFill>
                <a:latin typeface="Consolas" pitchFamily="34" charset="0"/>
                <a:ea typeface="Consolas" pitchFamily="34" charset="-122"/>
                <a:cs typeface="Consolas" pitchFamily="34" charset="-120"/>
              </a:rPr>
              <a:t>api.get(saisieUtilisateur)</a:t>
            </a:r>
            <a:endParaRPr lang="en-US" sz="1400" dirty="0"/>
          </a:p>
          <a:p>
            <a:pPr indent="0" marL="0">
              <a:spcAft>
                <a:spcPts val="200"/>
              </a:spcAft>
              <a:buNone/>
            </a:pPr>
            <a:r>
              <a:rPr lang="en-US" sz="1400" dirty="0">
                <a:solidFill>
                  <a:srgbClr val="6A9955"/>
                </a:solidFill>
                <a:latin typeface="Consolas" pitchFamily="34" charset="0"/>
                <a:ea typeface="Consolas" pitchFamily="34" charset="-122"/>
                <a:cs typeface="Consolas" pitchFamily="34" charset="-120"/>
              </a:rPr>
              <a:t>// saisieUtilisateur = "https://attaquant.test/"</a:t>
            </a:r>
            <a:endParaRPr lang="en-US" sz="1400" dirty="0"/>
          </a:p>
          <a:p>
            <a:pPr indent="0" marL="0">
              <a:spcAft>
                <a:spcPts val="200"/>
              </a:spcAft>
              <a:buNone/>
            </a:pPr>
            <a:r>
              <a:rPr lang="en-US" sz="1400" dirty="0">
                <a:solidFill>
                  <a:srgbClr val="6A9955"/>
                </a:solidFill>
                <a:latin typeface="Consolas" pitchFamily="34" charset="0"/>
                <a:ea typeface="Consolas" pitchFamily="34" charset="-122"/>
                <a:cs typeface="Consolas" pitchFamily="34" charset="-120"/>
              </a:rPr>
              <a:t>// → la requête part chez l'attaquant… avec la clé</a:t>
            </a:r>
            <a:endParaRPr lang="en-US" sz="1400" dirty="0"/>
          </a:p>
        </p:txBody>
      </p:sp>
      <p:sp>
        <p:nvSpPr>
          <p:cNvPr id="21" name="Text 19"/>
          <p:cNvSpPr txBox="1"/>
          <p:nvPr/>
        </p:nvSpPr>
        <p:spPr>
          <a:xfrm>
            <a:off x="4892040" y="5257800"/>
            <a:ext cx="6400800" cy="320040"/>
          </a:xfrm>
          <a:prstGeom prst="rect">
            <a:avLst/>
          </a:prstGeom>
          <a:noFill/>
          <a:ln/>
        </p:spPr>
        <p:txBody>
          <a:bodyPr wrap="square" lIns="0" tIns="0" rIns="0" bIns="0" rtlCol="0" anchor="ctr"/>
          <a:lstStyle/>
          <a:p>
            <a:pPr indent="0" marL="0">
              <a:buNone/>
            </a:pPr>
            <a:r>
              <a:rPr lang="en-US" sz="1400" i="1" dirty="0">
                <a:solidFill>
                  <a:srgbClr val="B8C7D9"/>
                </a:solidFill>
                <a:latin typeface="Calibri" pitchFamily="34" charset="0"/>
                <a:ea typeface="Calibri" pitchFamily="34" charset="-122"/>
                <a:cs typeface="Calibri" pitchFamily="34" charset="-120"/>
              </a:rPr>
              <a:t>Corrigée dans axios 0.30.0 et 1.8.2. Notre code n'a pas changé ; son risque, si.</a:t>
            </a:r>
            <a:endParaRPr lang="en-US" sz="1400" dirty="0"/>
          </a:p>
        </p:txBody>
      </p:sp>
      <p:sp>
        <p:nvSpPr>
          <p:cNvPr id="22" name="Text 20"/>
          <p:cNvSpPr txBox="1"/>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rgbClr val="5B6B7B"/>
                </a:solidFill>
                <a:latin typeface="Calibri" pitchFamily="34" charset="0"/>
                <a:ea typeface="Calibri" pitchFamily="34" charset="-122"/>
                <a:cs typeface="Calibri" pitchFamily="34" charset="-120"/>
              </a:rPr>
              <a:t>Dependabot · Cours DevOps · M1 SIGLIS</a:t>
            </a:r>
            <a:endParaRPr lang="en-US" sz="1000" dirty="0"/>
          </a:p>
        </p:txBody>
      </p:sp>
      <p:sp>
        <p:nvSpPr>
          <p:cNvPr id="23" name="Text 21"/>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1000" dirty="0">
                <a:solidFill>
                  <a:srgbClr val="5B6B7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ctr"/>
          <a:lstStyle/>
          <a:p>
            <a:pPr indent="0" marL="0">
              <a:buNone/>
            </a:pPr>
            <a:r>
              <a:rPr lang="en-US" sz="1300" b="1" spc="300" kern="0" dirty="0">
                <a:solidFill>
                  <a:srgbClr val="0E7C86"/>
                </a:solidFill>
                <a:latin typeface="Calibri" pitchFamily="34" charset="0"/>
                <a:ea typeface="Calibri" pitchFamily="34" charset="-122"/>
                <a:cs typeface="Calibri" pitchFamily="34" charset="-120"/>
              </a:rPr>
              <a:t>L'OUTIL</a:t>
            </a:r>
            <a:endParaRPr lang="en-US" sz="1300" dirty="0"/>
          </a:p>
        </p:txBody>
      </p:sp>
      <p:sp>
        <p:nvSpPr>
          <p:cNvPr id="3" name="Text 1"/>
          <p:cNvSpPr txBox="1"/>
          <p:nvPr/>
        </p:nvSpPr>
        <p:spPr>
          <a:xfrm>
            <a:off x="548640" y="676656"/>
            <a:ext cx="11064240" cy="777240"/>
          </a:xfrm>
          <a:prstGeom prst="rect">
            <a:avLst/>
          </a:prstGeom>
          <a:noFill/>
          <a:ln/>
        </p:spPr>
        <p:txBody>
          <a:bodyPr wrap="square" lIns="0" tIns="0" rIns="0" bIns="0" rtlCol="0" anchor="ctr"/>
          <a:lstStyle/>
          <a:p>
            <a:pPr indent="0" marL="0">
              <a:buNone/>
            </a:pPr>
            <a:r>
              <a:rPr lang="en-US" sz="3400" b="1" dirty="0">
                <a:solidFill>
                  <a:srgbClr val="0B1F33"/>
                </a:solidFill>
                <a:latin typeface="Calibri" pitchFamily="34" charset="0"/>
                <a:ea typeface="Calibri" pitchFamily="34" charset="-122"/>
                <a:cs typeface="Calibri" pitchFamily="34" charset="-120"/>
              </a:rPr>
              <a:t>Dependabot, c'est quoi ?</a:t>
            </a:r>
            <a:endParaRPr lang="en-US" sz="3400" dirty="0"/>
          </a:p>
        </p:txBody>
      </p:sp>
      <p:sp>
        <p:nvSpPr>
          <p:cNvPr id="4" name="Text 2"/>
          <p:cNvSpPr txBox="1"/>
          <p:nvPr/>
        </p:nvSpPr>
        <p:spPr>
          <a:xfrm>
            <a:off x="548640" y="1737360"/>
            <a:ext cx="4846320" cy="1463040"/>
          </a:xfrm>
          <a:prstGeom prst="rect">
            <a:avLst/>
          </a:prstGeom>
          <a:noFill/>
          <a:ln/>
        </p:spPr>
        <p:txBody>
          <a:bodyPr wrap="square" lIns="0" tIns="0" rIns="0" bIns="0" rtlCol="0" anchor="t"/>
          <a:lstStyle/>
          <a:p>
            <a:pPr indent="0" marL="0">
              <a:buNone/>
            </a:pPr>
            <a:r>
              <a:rPr lang="en-US" sz="2400" dirty="0">
                <a:solidFill>
                  <a:srgbClr val="0B1F33"/>
                </a:solidFill>
                <a:latin typeface="Calibri" pitchFamily="34" charset="0"/>
                <a:ea typeface="Calibri" pitchFamily="34" charset="-122"/>
                <a:cs typeface="Calibri" pitchFamily="34" charset="-120"/>
              </a:rPr>
              <a:t>Un robot </a:t>
            </a:r>
            <a:pPr indent="0" marL="0">
              <a:buNone/>
            </a:pPr>
            <a:r>
              <a:rPr lang="en-US" sz="2400" b="1" dirty="0">
                <a:solidFill>
                  <a:srgbClr val="0E7C86"/>
                </a:solidFill>
                <a:latin typeface="Calibri" pitchFamily="34" charset="0"/>
                <a:ea typeface="Calibri" pitchFamily="34" charset="-122"/>
                <a:cs typeface="Calibri" pitchFamily="34" charset="-120"/>
              </a:rPr>
              <a:t>intégré à GitHub</a:t>
            </a:r>
            <a:pPr indent="0" marL="0">
              <a:buNone/>
            </a:pPr>
            <a:r>
              <a:rPr lang="en-US" sz="2400" dirty="0">
                <a:solidFill>
                  <a:srgbClr val="0B1F33"/>
                </a:solidFill>
                <a:latin typeface="Calibri" pitchFamily="34" charset="0"/>
                <a:ea typeface="Calibri" pitchFamily="34" charset="-122"/>
                <a:cs typeface="Calibri" pitchFamily="34" charset="-120"/>
              </a:rPr>
              <a:t> qui surveille vos dépendances et vous propose leurs mises à jour sous forme de </a:t>
            </a:r>
            <a:pPr indent="0" marL="0">
              <a:buNone/>
            </a:pPr>
            <a:r>
              <a:rPr lang="en-US" sz="2400" b="1" dirty="0">
                <a:solidFill>
                  <a:srgbClr val="0E7C86"/>
                </a:solidFill>
                <a:latin typeface="Calibri" pitchFamily="34" charset="0"/>
                <a:ea typeface="Calibri" pitchFamily="34" charset="-122"/>
                <a:cs typeface="Calibri" pitchFamily="34" charset="-120"/>
              </a:rPr>
              <a:t>pull requests</a:t>
            </a:r>
            <a:pPr indent="0" marL="0">
              <a:buNone/>
            </a:pPr>
            <a:r>
              <a:rPr lang="en-US" sz="2400" dirty="0">
                <a:solidFill>
                  <a:srgbClr val="0B1F33"/>
                </a:solidFill>
                <a:latin typeface="Calibri" pitchFamily="34" charset="0"/>
                <a:ea typeface="Calibri" pitchFamily="34" charset="-122"/>
                <a:cs typeface="Calibri" pitchFamily="34" charset="-120"/>
              </a:rPr>
              <a:t>.</a:t>
            </a:r>
            <a:endParaRPr lang="en-US" sz="2400" dirty="0"/>
          </a:p>
        </p:txBody>
      </p:sp>
      <p:pic>
        <p:nvPicPr>
          <p:cNvPr id="5" name="Image 0" descr="preencoded.png">    </p:cNvPr>
          <p:cNvPicPr>
            <a:picLocks noChangeAspect="1"/>
          </p:cNvPicPr>
          <p:nvPr/>
        </p:nvPicPr>
        <p:blipFill>
          <a:blip r:embed="rId1"/>
          <a:stretch>
            <a:fillRect/>
          </a:stretch>
        </p:blipFill>
        <p:spPr>
          <a:xfrm>
            <a:off x="548640" y="3557016"/>
            <a:ext cx="384048" cy="384048"/>
          </a:xfrm>
          <a:prstGeom prst="rect">
            <a:avLst/>
          </a:prstGeom>
        </p:spPr>
      </p:pic>
      <p:sp>
        <p:nvSpPr>
          <p:cNvPr id="6" name="Text 3"/>
          <p:cNvSpPr txBox="1"/>
          <p:nvPr/>
        </p:nvSpPr>
        <p:spPr>
          <a:xfrm>
            <a:off x="1143000" y="3520440"/>
            <a:ext cx="4297680" cy="457200"/>
          </a:xfrm>
          <a:prstGeom prst="rect">
            <a:avLst/>
          </a:prstGeom>
          <a:noFill/>
          <a:ln/>
        </p:spPr>
        <p:txBody>
          <a:bodyPr wrap="square" lIns="0" tIns="0" rIns="0" bIns="0" rtlCol="0" anchor="ctr"/>
          <a:lstStyle/>
          <a:p>
            <a:pPr indent="0" marL="0">
              <a:buNone/>
            </a:pPr>
            <a:r>
              <a:rPr lang="en-US" sz="1700" dirty="0">
                <a:solidFill>
                  <a:srgbClr val="1F2933"/>
                </a:solidFill>
                <a:latin typeface="Calibri" pitchFamily="34" charset="0"/>
                <a:ea typeface="Calibri" pitchFamily="34" charset="-122"/>
                <a:cs typeface="Calibri" pitchFamily="34" charset="-120"/>
              </a:rPr>
              <a:t>Natif GitHub et gratuit (racheté par GitHub en 2019)</a:t>
            </a:r>
            <a:endParaRPr lang="en-US" sz="1700" dirty="0"/>
          </a:p>
        </p:txBody>
      </p:sp>
      <p:pic>
        <p:nvPicPr>
          <p:cNvPr id="7" name="Image 1" descr="preencoded.png">    </p:cNvPr>
          <p:cNvPicPr>
            <a:picLocks noChangeAspect="1"/>
          </p:cNvPicPr>
          <p:nvPr/>
        </p:nvPicPr>
        <p:blipFill>
          <a:blip r:embed="rId2"/>
          <a:stretch>
            <a:fillRect/>
          </a:stretch>
        </p:blipFill>
        <p:spPr>
          <a:xfrm>
            <a:off x="548640" y="4334256"/>
            <a:ext cx="384048" cy="384048"/>
          </a:xfrm>
          <a:prstGeom prst="rect">
            <a:avLst/>
          </a:prstGeom>
        </p:spPr>
      </p:pic>
      <p:sp>
        <p:nvSpPr>
          <p:cNvPr id="8" name="Text 4"/>
          <p:cNvSpPr txBox="1"/>
          <p:nvPr/>
        </p:nvSpPr>
        <p:spPr>
          <a:xfrm>
            <a:off x="1143000" y="4297680"/>
            <a:ext cx="4297680" cy="457200"/>
          </a:xfrm>
          <a:prstGeom prst="rect">
            <a:avLst/>
          </a:prstGeom>
          <a:noFill/>
          <a:ln/>
        </p:spPr>
        <p:txBody>
          <a:bodyPr wrap="square" lIns="0" tIns="0" rIns="0" bIns="0" rtlCol="0" anchor="ctr"/>
          <a:lstStyle/>
          <a:p>
            <a:pPr indent="0" marL="0">
              <a:buNone/>
            </a:pPr>
            <a:r>
              <a:rPr lang="en-US" sz="1700" dirty="0">
                <a:solidFill>
                  <a:srgbClr val="1F2933"/>
                </a:solidFill>
                <a:latin typeface="Calibri" pitchFamily="34" charset="0"/>
                <a:ea typeface="Calibri" pitchFamily="34" charset="-122"/>
                <a:cs typeface="Calibri" pitchFamily="34" charset="-120"/>
              </a:rPr>
              <a:t>~30 écosystèmes : npm, pip, Maven, Docker, GitHub Actions…</a:t>
            </a:r>
            <a:endParaRPr lang="en-US" sz="1700" dirty="0"/>
          </a:p>
        </p:txBody>
      </p:sp>
      <p:pic>
        <p:nvPicPr>
          <p:cNvPr id="9" name="Image 2" descr="preencoded.png">    </p:cNvPr>
          <p:cNvPicPr>
            <a:picLocks noChangeAspect="1"/>
          </p:cNvPicPr>
          <p:nvPr/>
        </p:nvPicPr>
        <p:blipFill>
          <a:blip r:embed="rId3"/>
          <a:stretch>
            <a:fillRect/>
          </a:stretch>
        </p:blipFill>
        <p:spPr>
          <a:xfrm>
            <a:off x="548640" y="5111496"/>
            <a:ext cx="384048" cy="384048"/>
          </a:xfrm>
          <a:prstGeom prst="rect">
            <a:avLst/>
          </a:prstGeom>
        </p:spPr>
      </p:pic>
      <p:sp>
        <p:nvSpPr>
          <p:cNvPr id="10" name="Text 5"/>
          <p:cNvSpPr txBox="1"/>
          <p:nvPr/>
        </p:nvSpPr>
        <p:spPr>
          <a:xfrm>
            <a:off x="1143000" y="5074920"/>
            <a:ext cx="4297680" cy="457200"/>
          </a:xfrm>
          <a:prstGeom prst="rect">
            <a:avLst/>
          </a:prstGeom>
          <a:noFill/>
          <a:ln/>
        </p:spPr>
        <p:txBody>
          <a:bodyPr wrap="square" lIns="0" tIns="0" rIns="0" bIns="0" rtlCol="0" anchor="ctr"/>
          <a:lstStyle/>
          <a:p>
            <a:pPr indent="0" marL="0">
              <a:buNone/>
            </a:pPr>
            <a:r>
              <a:rPr lang="en-US" sz="1700" dirty="0">
                <a:solidFill>
                  <a:srgbClr val="1F2933"/>
                </a:solidFill>
                <a:latin typeface="Calibri" pitchFamily="34" charset="0"/>
                <a:ea typeface="Calibri" pitchFamily="34" charset="-122"/>
                <a:cs typeface="Calibri" pitchFamily="34" charset="-120"/>
              </a:rPr>
              <a:t>Réglé par un fichier : .github/dependabot.yml</a:t>
            </a:r>
            <a:endParaRPr lang="en-US" sz="1700" dirty="0"/>
          </a:p>
        </p:txBody>
      </p:sp>
      <p:sp>
        <p:nvSpPr>
          <p:cNvPr id="11" name="Shape 6"/>
          <p:cNvSpPr/>
          <p:nvPr/>
        </p:nvSpPr>
        <p:spPr>
          <a:xfrm>
            <a:off x="5897880" y="1737360"/>
            <a:ext cx="5742432" cy="1261872"/>
          </a:xfrm>
          <a:prstGeom prst="roundRect">
            <a:avLst>
              <a:gd name="adj" fmla="val 5797"/>
            </a:avLst>
          </a:prstGeom>
          <a:solidFill>
            <a:srgbClr val="FFFFFF"/>
          </a:solidFill>
          <a:ln w="9525">
            <a:solidFill>
              <a:srgbClr val="D5DCE3"/>
            </a:solidFill>
            <a:prstDash val="solid"/>
          </a:ln>
          <a:effectLst>
            <a:outerShdw sx="100000" sy="100000" kx="0" ky="0" algn="bl" rotWithShape="0" blurRad="101600" dist="25400" dir="5400000">
              <a:srgbClr val="000000">
                <a:alpha val="12000"/>
              </a:srgbClr>
            </a:outerShdw>
          </a:effectLst>
        </p:spPr>
      </p:sp>
      <p:sp>
        <p:nvSpPr>
          <p:cNvPr id="12" name="Shape 7"/>
          <p:cNvSpPr/>
          <p:nvPr/>
        </p:nvSpPr>
        <p:spPr>
          <a:xfrm>
            <a:off x="6126480" y="2002536"/>
            <a:ext cx="731520" cy="731520"/>
          </a:xfrm>
          <a:prstGeom prst="ellipse">
            <a:avLst/>
          </a:prstGeom>
          <a:solidFill>
            <a:srgbClr val="C7353F"/>
          </a:solidFill>
          <a:ln w="12700">
            <a:solidFill>
              <a:srgbClr val="C7353F"/>
            </a:solidFill>
            <a:prstDash val="solid"/>
          </a:ln>
        </p:spPr>
      </p:sp>
      <p:pic>
        <p:nvPicPr>
          <p:cNvPr id="13" name="Image 3" descr="preencoded.png">    </p:cNvPr>
          <p:cNvPicPr>
            <a:picLocks noChangeAspect="1"/>
          </p:cNvPicPr>
          <p:nvPr/>
        </p:nvPicPr>
        <p:blipFill>
          <a:blip r:embed="rId4"/>
          <a:stretch>
            <a:fillRect/>
          </a:stretch>
        </p:blipFill>
        <p:spPr>
          <a:xfrm>
            <a:off x="6309360" y="2185416"/>
            <a:ext cx="365760" cy="365760"/>
          </a:xfrm>
          <a:prstGeom prst="rect">
            <a:avLst/>
          </a:prstGeom>
        </p:spPr>
      </p:pic>
      <p:sp>
        <p:nvSpPr>
          <p:cNvPr id="14" name="Text 8"/>
          <p:cNvSpPr txBox="1"/>
          <p:nvPr/>
        </p:nvSpPr>
        <p:spPr>
          <a:xfrm>
            <a:off x="7086600" y="1920240"/>
            <a:ext cx="3108960" cy="411480"/>
          </a:xfrm>
          <a:prstGeom prst="rect">
            <a:avLst/>
          </a:prstGeom>
          <a:noFill/>
          <a:ln/>
        </p:spPr>
        <p:txBody>
          <a:bodyPr wrap="square" lIns="0" tIns="0" rIns="0" bIns="0" rtlCol="0" anchor="ctr"/>
          <a:lstStyle/>
          <a:p>
            <a:pPr indent="0" marL="0">
              <a:buNone/>
            </a:pPr>
            <a:r>
              <a:rPr lang="en-US" sz="2000" b="1" dirty="0">
                <a:solidFill>
                  <a:srgbClr val="0B1F33"/>
                </a:solidFill>
                <a:latin typeface="Calibri" pitchFamily="34" charset="0"/>
                <a:ea typeface="Calibri" pitchFamily="34" charset="-122"/>
                <a:cs typeface="Calibri" pitchFamily="34" charset="-120"/>
              </a:rPr>
              <a:t>Alerts</a:t>
            </a:r>
            <a:pPr indent="0" marL="0">
              <a:buNone/>
            </a:pPr>
            <a:r>
              <a:rPr lang="en-US" sz="2000" b="1" dirty="0">
                <a:solidFill>
                  <a:srgbClr val="C7353F"/>
                </a:solidFill>
                <a:latin typeface="Calibri" pitchFamily="34" charset="0"/>
                <a:ea typeface="Calibri" pitchFamily="34" charset="-122"/>
                <a:cs typeface="Calibri" pitchFamily="34" charset="-120"/>
              </a:rPr>
              <a:t>  signale</a:t>
            </a:r>
            <a:endParaRPr lang="en-US" sz="2000" dirty="0"/>
          </a:p>
        </p:txBody>
      </p:sp>
      <p:sp>
        <p:nvSpPr>
          <p:cNvPr id="15" name="Text 9"/>
          <p:cNvSpPr txBox="1"/>
          <p:nvPr/>
        </p:nvSpPr>
        <p:spPr>
          <a:xfrm>
            <a:off x="7086600" y="2340864"/>
            <a:ext cx="2926080" cy="502920"/>
          </a:xfrm>
          <a:prstGeom prst="rect">
            <a:avLst/>
          </a:prstGeom>
          <a:noFill/>
          <a:ln/>
        </p:spPr>
        <p:txBody>
          <a:bodyPr wrap="square" lIns="0" tIns="0" rIns="0" bIns="0" rtlCol="0" anchor="t"/>
          <a:lstStyle/>
          <a:p>
            <a:pPr indent="0" marL="0">
              <a:buNone/>
            </a:pPr>
            <a:r>
              <a:rPr lang="en-US" sz="1400" dirty="0">
                <a:solidFill>
                  <a:srgbClr val="5B6B7B"/>
                </a:solidFill>
                <a:latin typeface="Calibri" pitchFamily="34" charset="0"/>
                <a:ea typeface="Calibri" pitchFamily="34" charset="-122"/>
                <a:cs typeface="Calibri" pitchFamily="34" charset="-120"/>
              </a:rPr>
              <a:t>Dépendance vulnérable repérée : gravité + version qui corrige</a:t>
            </a:r>
            <a:endParaRPr lang="en-US" sz="1400" dirty="0"/>
          </a:p>
        </p:txBody>
      </p:sp>
      <p:sp>
        <p:nvSpPr>
          <p:cNvPr id="16" name="Shape 10"/>
          <p:cNvSpPr/>
          <p:nvPr/>
        </p:nvSpPr>
        <p:spPr>
          <a:xfrm>
            <a:off x="10104120" y="2185416"/>
            <a:ext cx="1325880" cy="365760"/>
          </a:xfrm>
          <a:prstGeom prst="roundRect">
            <a:avLst>
              <a:gd name="adj" fmla="val 50000"/>
            </a:avLst>
          </a:prstGeom>
          <a:solidFill>
            <a:srgbClr val="EEF2F6"/>
          </a:solidFill>
          <a:ln w="9525">
            <a:solidFill>
              <a:srgbClr val="D5DCE3"/>
            </a:solidFill>
            <a:prstDash val="solid"/>
          </a:ln>
        </p:spPr>
      </p:sp>
      <p:sp>
        <p:nvSpPr>
          <p:cNvPr id="17" name="Text 11"/>
          <p:cNvSpPr txBox="1"/>
          <p:nvPr/>
        </p:nvSpPr>
        <p:spPr>
          <a:xfrm>
            <a:off x="10104120" y="2185416"/>
            <a:ext cx="1325880" cy="365760"/>
          </a:xfrm>
          <a:prstGeom prst="rect">
            <a:avLst/>
          </a:prstGeom>
          <a:noFill/>
          <a:ln/>
        </p:spPr>
        <p:txBody>
          <a:bodyPr wrap="square" lIns="0" tIns="0" rIns="0" bIns="0" rtlCol="0" anchor="ctr"/>
          <a:lstStyle/>
          <a:p>
            <a:pPr algn="ctr" indent="0" marL="0">
              <a:buNone/>
            </a:pPr>
            <a:r>
              <a:rPr lang="en-US" sz="1050" b="1" dirty="0">
                <a:solidFill>
                  <a:srgbClr val="5B6B7B"/>
                </a:solidFill>
                <a:latin typeface="Calibri" pitchFamily="34" charset="0"/>
                <a:ea typeface="Calibri" pitchFamily="34" charset="-122"/>
                <a:cs typeface="Calibri" pitchFamily="34" charset="-120"/>
              </a:rPr>
              <a:t>sans config</a:t>
            </a:r>
            <a:endParaRPr lang="en-US" sz="1050" dirty="0"/>
          </a:p>
        </p:txBody>
      </p:sp>
      <p:sp>
        <p:nvSpPr>
          <p:cNvPr id="18" name="Shape 12"/>
          <p:cNvSpPr/>
          <p:nvPr/>
        </p:nvSpPr>
        <p:spPr>
          <a:xfrm>
            <a:off x="5897880" y="3218688"/>
            <a:ext cx="5742432" cy="1261872"/>
          </a:xfrm>
          <a:prstGeom prst="roundRect">
            <a:avLst>
              <a:gd name="adj" fmla="val 5797"/>
            </a:avLst>
          </a:prstGeom>
          <a:solidFill>
            <a:srgbClr val="FFFFFF"/>
          </a:solidFill>
          <a:ln w="9525">
            <a:solidFill>
              <a:srgbClr val="D5DCE3"/>
            </a:solidFill>
            <a:prstDash val="solid"/>
          </a:ln>
          <a:effectLst>
            <a:outerShdw sx="100000" sy="100000" kx="0" ky="0" algn="bl" rotWithShape="0" blurRad="101600" dist="25400" dir="5400000">
              <a:srgbClr val="000000">
                <a:alpha val="12000"/>
              </a:srgbClr>
            </a:outerShdw>
          </a:effectLst>
        </p:spPr>
      </p:sp>
      <p:sp>
        <p:nvSpPr>
          <p:cNvPr id="19" name="Shape 13"/>
          <p:cNvSpPr/>
          <p:nvPr/>
        </p:nvSpPr>
        <p:spPr>
          <a:xfrm>
            <a:off x="6126480" y="3483864"/>
            <a:ext cx="731520" cy="731520"/>
          </a:xfrm>
          <a:prstGeom prst="ellipse">
            <a:avLst/>
          </a:prstGeom>
          <a:solidFill>
            <a:srgbClr val="9A5B00"/>
          </a:solidFill>
          <a:ln w="12700">
            <a:solidFill>
              <a:srgbClr val="9A5B00"/>
            </a:solidFill>
            <a:prstDash val="solid"/>
          </a:ln>
        </p:spPr>
      </p:sp>
      <p:pic>
        <p:nvPicPr>
          <p:cNvPr id="20" name="Image 4" descr="preencoded.png">    </p:cNvPr>
          <p:cNvPicPr>
            <a:picLocks noChangeAspect="1"/>
          </p:cNvPicPr>
          <p:nvPr/>
        </p:nvPicPr>
        <p:blipFill>
          <a:blip r:embed="rId5"/>
          <a:stretch>
            <a:fillRect/>
          </a:stretch>
        </p:blipFill>
        <p:spPr>
          <a:xfrm>
            <a:off x="6309360" y="3666744"/>
            <a:ext cx="365760" cy="365760"/>
          </a:xfrm>
          <a:prstGeom prst="rect">
            <a:avLst/>
          </a:prstGeom>
        </p:spPr>
      </p:pic>
      <p:sp>
        <p:nvSpPr>
          <p:cNvPr id="21" name="Text 14"/>
          <p:cNvSpPr txBox="1"/>
          <p:nvPr/>
        </p:nvSpPr>
        <p:spPr>
          <a:xfrm>
            <a:off x="7086600" y="3401568"/>
            <a:ext cx="3108960" cy="411480"/>
          </a:xfrm>
          <a:prstGeom prst="rect">
            <a:avLst/>
          </a:prstGeom>
          <a:noFill/>
          <a:ln/>
        </p:spPr>
        <p:txBody>
          <a:bodyPr wrap="square" lIns="0" tIns="0" rIns="0" bIns="0" rtlCol="0" anchor="ctr"/>
          <a:lstStyle/>
          <a:p>
            <a:pPr indent="0" marL="0">
              <a:buNone/>
            </a:pPr>
            <a:r>
              <a:rPr lang="en-US" sz="2000" b="1" dirty="0">
                <a:solidFill>
                  <a:srgbClr val="0B1F33"/>
                </a:solidFill>
                <a:latin typeface="Calibri" pitchFamily="34" charset="0"/>
                <a:ea typeface="Calibri" pitchFamily="34" charset="-122"/>
                <a:cs typeface="Calibri" pitchFamily="34" charset="-120"/>
              </a:rPr>
              <a:t>Security updates</a:t>
            </a:r>
            <a:pPr indent="0" marL="0">
              <a:buNone/>
            </a:pPr>
            <a:r>
              <a:rPr lang="en-US" sz="2000" b="1" dirty="0">
                <a:solidFill>
                  <a:srgbClr val="9A5B00"/>
                </a:solidFill>
                <a:latin typeface="Calibri" pitchFamily="34" charset="0"/>
                <a:ea typeface="Calibri" pitchFamily="34" charset="-122"/>
                <a:cs typeface="Calibri" pitchFamily="34" charset="-120"/>
              </a:rPr>
              <a:t>  corrige</a:t>
            </a:r>
            <a:endParaRPr lang="en-US" sz="2000" dirty="0"/>
          </a:p>
        </p:txBody>
      </p:sp>
      <p:sp>
        <p:nvSpPr>
          <p:cNvPr id="22" name="Text 15"/>
          <p:cNvSpPr txBox="1"/>
          <p:nvPr/>
        </p:nvSpPr>
        <p:spPr>
          <a:xfrm>
            <a:off x="7086600" y="3822192"/>
            <a:ext cx="2926080" cy="502920"/>
          </a:xfrm>
          <a:prstGeom prst="rect">
            <a:avLst/>
          </a:prstGeom>
          <a:noFill/>
          <a:ln/>
        </p:spPr>
        <p:txBody>
          <a:bodyPr wrap="square" lIns="0" tIns="0" rIns="0" bIns="0" rtlCol="0" anchor="t"/>
          <a:lstStyle/>
          <a:p>
            <a:pPr indent="0" marL="0">
              <a:buNone/>
            </a:pPr>
            <a:r>
              <a:rPr lang="en-US" sz="1400" dirty="0">
                <a:solidFill>
                  <a:srgbClr val="5B6B7B"/>
                </a:solidFill>
                <a:latin typeface="Calibri" pitchFamily="34" charset="0"/>
                <a:ea typeface="Calibri" pitchFamily="34" charset="-122"/>
                <a:cs typeface="Calibri" pitchFamily="34" charset="-120"/>
              </a:rPr>
              <a:t>PR vers la version minimale qui corrige la faille</a:t>
            </a:r>
            <a:endParaRPr lang="en-US" sz="1400" dirty="0"/>
          </a:p>
        </p:txBody>
      </p:sp>
      <p:sp>
        <p:nvSpPr>
          <p:cNvPr id="23" name="Shape 16"/>
          <p:cNvSpPr/>
          <p:nvPr/>
        </p:nvSpPr>
        <p:spPr>
          <a:xfrm>
            <a:off x="10104120" y="3666744"/>
            <a:ext cx="1325880" cy="365760"/>
          </a:xfrm>
          <a:prstGeom prst="roundRect">
            <a:avLst>
              <a:gd name="adj" fmla="val 50000"/>
            </a:avLst>
          </a:prstGeom>
          <a:solidFill>
            <a:srgbClr val="EEF2F6"/>
          </a:solidFill>
          <a:ln w="9525">
            <a:solidFill>
              <a:srgbClr val="D5DCE3"/>
            </a:solidFill>
            <a:prstDash val="solid"/>
          </a:ln>
        </p:spPr>
      </p:sp>
      <p:sp>
        <p:nvSpPr>
          <p:cNvPr id="24" name="Text 17"/>
          <p:cNvSpPr txBox="1"/>
          <p:nvPr/>
        </p:nvSpPr>
        <p:spPr>
          <a:xfrm>
            <a:off x="10104120" y="3666744"/>
            <a:ext cx="1325880" cy="365760"/>
          </a:xfrm>
          <a:prstGeom prst="rect">
            <a:avLst/>
          </a:prstGeom>
          <a:noFill/>
          <a:ln/>
        </p:spPr>
        <p:txBody>
          <a:bodyPr wrap="square" lIns="0" tIns="0" rIns="0" bIns="0" rtlCol="0" anchor="ctr"/>
          <a:lstStyle/>
          <a:p>
            <a:pPr algn="ctr" indent="0" marL="0">
              <a:buNone/>
            </a:pPr>
            <a:r>
              <a:rPr lang="en-US" sz="1050" b="1" dirty="0">
                <a:solidFill>
                  <a:srgbClr val="5B6B7B"/>
                </a:solidFill>
                <a:latin typeface="Calibri" pitchFamily="34" charset="0"/>
                <a:ea typeface="Calibri" pitchFamily="34" charset="-122"/>
                <a:cs typeface="Calibri" pitchFamily="34" charset="-120"/>
              </a:rPr>
              <a:t>sans config</a:t>
            </a:r>
            <a:endParaRPr lang="en-US" sz="1050" dirty="0"/>
          </a:p>
        </p:txBody>
      </p:sp>
      <p:sp>
        <p:nvSpPr>
          <p:cNvPr id="25" name="Shape 18"/>
          <p:cNvSpPr/>
          <p:nvPr/>
        </p:nvSpPr>
        <p:spPr>
          <a:xfrm>
            <a:off x="5897880" y="4700016"/>
            <a:ext cx="5742432" cy="1261872"/>
          </a:xfrm>
          <a:prstGeom prst="roundRect">
            <a:avLst>
              <a:gd name="adj" fmla="val 5797"/>
            </a:avLst>
          </a:prstGeom>
          <a:solidFill>
            <a:srgbClr val="FFFFFF"/>
          </a:solidFill>
          <a:ln w="9525">
            <a:solidFill>
              <a:srgbClr val="D5DCE3"/>
            </a:solidFill>
            <a:prstDash val="solid"/>
          </a:ln>
          <a:effectLst>
            <a:outerShdw sx="100000" sy="100000" kx="0" ky="0" algn="bl" rotWithShape="0" blurRad="101600" dist="25400" dir="5400000">
              <a:srgbClr val="000000">
                <a:alpha val="12000"/>
              </a:srgbClr>
            </a:outerShdw>
          </a:effectLst>
        </p:spPr>
      </p:sp>
      <p:sp>
        <p:nvSpPr>
          <p:cNvPr id="26" name="Shape 19"/>
          <p:cNvSpPr/>
          <p:nvPr/>
        </p:nvSpPr>
        <p:spPr>
          <a:xfrm>
            <a:off x="6126480" y="4965192"/>
            <a:ext cx="731520" cy="731520"/>
          </a:xfrm>
          <a:prstGeom prst="ellipse">
            <a:avLst/>
          </a:prstGeom>
          <a:solidFill>
            <a:srgbClr val="0E7C86"/>
          </a:solidFill>
          <a:ln w="12700">
            <a:solidFill>
              <a:srgbClr val="0E7C86"/>
            </a:solidFill>
            <a:prstDash val="solid"/>
          </a:ln>
        </p:spPr>
      </p:sp>
      <p:pic>
        <p:nvPicPr>
          <p:cNvPr id="27" name="Image 5" descr="preencoded.png">    </p:cNvPr>
          <p:cNvPicPr>
            <a:picLocks noChangeAspect="1"/>
          </p:cNvPicPr>
          <p:nvPr/>
        </p:nvPicPr>
        <p:blipFill>
          <a:blip r:embed="rId6"/>
          <a:stretch>
            <a:fillRect/>
          </a:stretch>
        </p:blipFill>
        <p:spPr>
          <a:xfrm>
            <a:off x="6309360" y="5148072"/>
            <a:ext cx="365760" cy="365760"/>
          </a:xfrm>
          <a:prstGeom prst="rect">
            <a:avLst/>
          </a:prstGeom>
        </p:spPr>
      </p:pic>
      <p:sp>
        <p:nvSpPr>
          <p:cNvPr id="28" name="Text 20"/>
          <p:cNvSpPr txBox="1"/>
          <p:nvPr/>
        </p:nvSpPr>
        <p:spPr>
          <a:xfrm>
            <a:off x="7086600" y="4882896"/>
            <a:ext cx="3108960" cy="411480"/>
          </a:xfrm>
          <a:prstGeom prst="rect">
            <a:avLst/>
          </a:prstGeom>
          <a:noFill/>
          <a:ln/>
        </p:spPr>
        <p:txBody>
          <a:bodyPr wrap="square" lIns="0" tIns="0" rIns="0" bIns="0" rtlCol="0" anchor="ctr"/>
          <a:lstStyle/>
          <a:p>
            <a:pPr indent="0" marL="0">
              <a:buNone/>
            </a:pPr>
            <a:r>
              <a:rPr lang="en-US" sz="2000" b="1" dirty="0">
                <a:solidFill>
                  <a:srgbClr val="0B1F33"/>
                </a:solidFill>
                <a:latin typeface="Calibri" pitchFamily="34" charset="0"/>
                <a:ea typeface="Calibri" pitchFamily="34" charset="-122"/>
                <a:cs typeface="Calibri" pitchFamily="34" charset="-120"/>
              </a:rPr>
              <a:t>Version updates</a:t>
            </a:r>
            <a:pPr indent="0" marL="0">
              <a:buNone/>
            </a:pPr>
            <a:r>
              <a:rPr lang="en-US" sz="2000" b="1" dirty="0">
                <a:solidFill>
                  <a:srgbClr val="0E7C86"/>
                </a:solidFill>
                <a:latin typeface="Calibri" pitchFamily="34" charset="0"/>
                <a:ea typeface="Calibri" pitchFamily="34" charset="-122"/>
                <a:cs typeface="Calibri" pitchFamily="34" charset="-120"/>
              </a:rPr>
              <a:t>  tient à jour</a:t>
            </a:r>
            <a:endParaRPr lang="en-US" sz="2000" dirty="0"/>
          </a:p>
        </p:txBody>
      </p:sp>
      <p:sp>
        <p:nvSpPr>
          <p:cNvPr id="29" name="Text 21"/>
          <p:cNvSpPr txBox="1"/>
          <p:nvPr/>
        </p:nvSpPr>
        <p:spPr>
          <a:xfrm>
            <a:off x="7086600" y="5303520"/>
            <a:ext cx="2926080" cy="502920"/>
          </a:xfrm>
          <a:prstGeom prst="rect">
            <a:avLst/>
          </a:prstGeom>
          <a:noFill/>
          <a:ln/>
        </p:spPr>
        <p:txBody>
          <a:bodyPr wrap="square" lIns="0" tIns="0" rIns="0" bIns="0" rtlCol="0" anchor="t"/>
          <a:lstStyle/>
          <a:p>
            <a:pPr indent="0" marL="0">
              <a:buNone/>
            </a:pPr>
            <a:r>
              <a:rPr lang="en-US" sz="1400" dirty="0">
                <a:solidFill>
                  <a:srgbClr val="5B6B7B"/>
                </a:solidFill>
                <a:latin typeface="Calibri" pitchFamily="34" charset="0"/>
                <a:ea typeface="Calibri" pitchFamily="34" charset="-122"/>
                <a:cs typeface="Calibri" pitchFamily="34" charset="-120"/>
              </a:rPr>
              <a:t>PR planifiées vers les dernières versions</a:t>
            </a:r>
            <a:endParaRPr lang="en-US" sz="1400" dirty="0"/>
          </a:p>
        </p:txBody>
      </p:sp>
      <p:sp>
        <p:nvSpPr>
          <p:cNvPr id="30" name="Shape 22"/>
          <p:cNvSpPr/>
          <p:nvPr/>
        </p:nvSpPr>
        <p:spPr>
          <a:xfrm>
            <a:off x="10104120" y="5148072"/>
            <a:ext cx="1325880" cy="365760"/>
          </a:xfrm>
          <a:prstGeom prst="roundRect">
            <a:avLst>
              <a:gd name="adj" fmla="val 50000"/>
            </a:avLst>
          </a:prstGeom>
          <a:solidFill>
            <a:srgbClr val="E2F3F4"/>
          </a:solidFill>
          <a:ln w="9525">
            <a:solidFill>
              <a:srgbClr val="0E7C86"/>
            </a:solidFill>
            <a:prstDash val="solid"/>
          </a:ln>
        </p:spPr>
      </p:sp>
      <p:sp>
        <p:nvSpPr>
          <p:cNvPr id="31" name="Text 23"/>
          <p:cNvSpPr txBox="1"/>
          <p:nvPr/>
        </p:nvSpPr>
        <p:spPr>
          <a:xfrm>
            <a:off x="10104120" y="5148072"/>
            <a:ext cx="1325880" cy="365760"/>
          </a:xfrm>
          <a:prstGeom prst="rect">
            <a:avLst/>
          </a:prstGeom>
          <a:noFill/>
          <a:ln/>
        </p:spPr>
        <p:txBody>
          <a:bodyPr wrap="square" lIns="0" tIns="0" rIns="0" bIns="0" rtlCol="0" anchor="ctr"/>
          <a:lstStyle/>
          <a:p>
            <a:pPr algn="ctr" indent="0" marL="0">
              <a:buNone/>
            </a:pPr>
            <a:r>
              <a:rPr lang="en-US" sz="1050" b="1" dirty="0">
                <a:solidFill>
                  <a:srgbClr val="0E7C86"/>
                </a:solidFill>
                <a:latin typeface="Consolas" pitchFamily="34" charset="0"/>
                <a:ea typeface="Consolas" pitchFamily="34" charset="-122"/>
                <a:cs typeface="Consolas" pitchFamily="34" charset="-120"/>
              </a:rPr>
              <a:t>dependabot.yml</a:t>
            </a:r>
            <a:endParaRPr lang="en-US" sz="1050" dirty="0"/>
          </a:p>
        </p:txBody>
      </p:sp>
      <p:sp>
        <p:nvSpPr>
          <p:cNvPr id="32" name="Text 24"/>
          <p:cNvSpPr txBox="1"/>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rgbClr val="5B6B7B"/>
                </a:solidFill>
                <a:latin typeface="Calibri" pitchFamily="34" charset="0"/>
                <a:ea typeface="Calibri" pitchFamily="34" charset="-122"/>
                <a:cs typeface="Calibri" pitchFamily="34" charset="-120"/>
              </a:rPr>
              <a:t>Dependabot · Cours DevOps · M1 SIGLIS</a:t>
            </a:r>
            <a:endParaRPr lang="en-US" sz="1000" dirty="0"/>
          </a:p>
        </p:txBody>
      </p:sp>
      <p:sp>
        <p:nvSpPr>
          <p:cNvPr id="33"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1000" dirty="0">
                <a:solidFill>
                  <a:srgbClr val="5B6B7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ctr"/>
          <a:lstStyle/>
          <a:p>
            <a:pPr indent="0" marL="0">
              <a:buNone/>
            </a:pPr>
            <a:r>
              <a:rPr lang="en-US" sz="1300" b="1" spc="300" kern="0" dirty="0">
                <a:solidFill>
                  <a:srgbClr val="0E7C86"/>
                </a:solidFill>
                <a:latin typeface="Calibri" pitchFamily="34" charset="0"/>
                <a:ea typeface="Calibri" pitchFamily="34" charset="-122"/>
                <a:cs typeface="Calibri" pitchFamily="34" charset="-120"/>
              </a:rPr>
              <a:t>LE MÉCANISME</a:t>
            </a:r>
            <a:endParaRPr lang="en-US" sz="1300" dirty="0"/>
          </a:p>
        </p:txBody>
      </p:sp>
      <p:sp>
        <p:nvSpPr>
          <p:cNvPr id="3" name="Text 1"/>
          <p:cNvSpPr txBox="1"/>
          <p:nvPr/>
        </p:nvSpPr>
        <p:spPr>
          <a:xfrm>
            <a:off x="548640" y="676656"/>
            <a:ext cx="11064240" cy="777240"/>
          </a:xfrm>
          <a:prstGeom prst="rect">
            <a:avLst/>
          </a:prstGeom>
          <a:noFill/>
          <a:ln/>
        </p:spPr>
        <p:txBody>
          <a:bodyPr wrap="square" lIns="0" tIns="0" rIns="0" bIns="0" rtlCol="0" anchor="ctr"/>
          <a:lstStyle/>
          <a:p>
            <a:pPr indent="0" marL="0">
              <a:buNone/>
            </a:pPr>
            <a:r>
              <a:rPr lang="en-US" sz="3400" b="1" dirty="0">
                <a:solidFill>
                  <a:srgbClr val="0B1F33"/>
                </a:solidFill>
                <a:latin typeface="Calibri" pitchFamily="34" charset="0"/>
                <a:ea typeface="Calibri" pitchFamily="34" charset="-122"/>
                <a:cs typeface="Calibri" pitchFamily="34" charset="-120"/>
              </a:rPr>
              <a:t>Comment ça marche ?</a:t>
            </a:r>
            <a:endParaRPr lang="en-US" sz="3400" dirty="0"/>
          </a:p>
        </p:txBody>
      </p:sp>
      <p:sp>
        <p:nvSpPr>
          <p:cNvPr id="4" name="Shape 2"/>
          <p:cNvSpPr/>
          <p:nvPr/>
        </p:nvSpPr>
        <p:spPr>
          <a:xfrm>
            <a:off x="548640" y="1828800"/>
            <a:ext cx="1828800" cy="2148840"/>
          </a:xfrm>
          <a:prstGeom prst="roundRect">
            <a:avLst>
              <a:gd name="adj" fmla="val 4000"/>
            </a:avLst>
          </a:prstGeom>
          <a:solidFill>
            <a:srgbClr val="EEF2F6"/>
          </a:solidFill>
          <a:ln w="15875">
            <a:solidFill>
              <a:srgbClr val="0B1F33"/>
            </a:solidFill>
            <a:prstDash val="solid"/>
          </a:ln>
        </p:spPr>
      </p:sp>
      <p:pic>
        <p:nvPicPr>
          <p:cNvPr id="5" name="Image 0" descr="preencoded.png">    </p:cNvPr>
          <p:cNvPicPr>
            <a:picLocks noChangeAspect="1"/>
          </p:cNvPicPr>
          <p:nvPr/>
        </p:nvPicPr>
        <p:blipFill>
          <a:blip r:embed="rId1"/>
          <a:stretch>
            <a:fillRect/>
          </a:stretch>
        </p:blipFill>
        <p:spPr>
          <a:xfrm>
            <a:off x="1188720" y="2084832"/>
            <a:ext cx="548640" cy="548640"/>
          </a:xfrm>
          <a:prstGeom prst="rect">
            <a:avLst/>
          </a:prstGeom>
        </p:spPr>
      </p:pic>
      <p:sp>
        <p:nvSpPr>
          <p:cNvPr id="6" name="Text 3"/>
          <p:cNvSpPr txBox="1"/>
          <p:nvPr/>
        </p:nvSpPr>
        <p:spPr>
          <a:xfrm>
            <a:off x="548640" y="2743200"/>
            <a:ext cx="1828800" cy="365760"/>
          </a:xfrm>
          <a:prstGeom prst="rect">
            <a:avLst/>
          </a:prstGeom>
          <a:noFill/>
          <a:ln/>
        </p:spPr>
        <p:txBody>
          <a:bodyPr wrap="square" lIns="0" tIns="0" rIns="0" bIns="0" rtlCol="0" anchor="ctr"/>
          <a:lstStyle/>
          <a:p>
            <a:pPr algn="ctr" indent="0" marL="0">
              <a:buNone/>
            </a:pPr>
            <a:r>
              <a:rPr lang="en-US" sz="1600" b="1" dirty="0">
                <a:solidFill>
                  <a:srgbClr val="0B1F33"/>
                </a:solidFill>
                <a:latin typeface="Calibri" pitchFamily="34" charset="0"/>
                <a:ea typeface="Calibri" pitchFamily="34" charset="-122"/>
                <a:cs typeface="Calibri" pitchFamily="34" charset="-120"/>
              </a:rPr>
              <a:t>Dépôt GitHub</a:t>
            </a:r>
            <a:endParaRPr lang="en-US" sz="1600" dirty="0"/>
          </a:p>
        </p:txBody>
      </p:sp>
      <p:sp>
        <p:nvSpPr>
          <p:cNvPr id="7" name="Text 4"/>
          <p:cNvSpPr txBox="1"/>
          <p:nvPr/>
        </p:nvSpPr>
        <p:spPr>
          <a:xfrm>
            <a:off x="548640" y="3127248"/>
            <a:ext cx="1828800" cy="640080"/>
          </a:xfrm>
          <a:prstGeom prst="rect">
            <a:avLst/>
          </a:prstGeom>
          <a:noFill/>
          <a:ln/>
        </p:spPr>
        <p:txBody>
          <a:bodyPr wrap="square" lIns="0" tIns="0" rIns="0" bIns="0" rtlCol="0" anchor="ctr"/>
          <a:lstStyle/>
          <a:p>
            <a:pPr algn="ctr" indent="0" marL="0">
              <a:buNone/>
            </a:pPr>
            <a:r>
              <a:rPr lang="en-US" sz="1200" dirty="0">
                <a:solidFill>
                  <a:srgbClr val="5B6B7B"/>
                </a:solidFill>
                <a:latin typeface="Consolas" pitchFamily="34" charset="0"/>
                <a:ea typeface="Consolas" pitchFamily="34" charset="-122"/>
                <a:cs typeface="Consolas" pitchFamily="34" charset="-120"/>
              </a:rPr>
              <a:t>package.json</a:t>
            </a:r>
            <a:endParaRPr lang="en-US" sz="1200" dirty="0"/>
          </a:p>
          <a:p>
            <a:pPr algn="ctr" indent="0" marL="0">
              <a:buNone/>
            </a:pPr>
            <a:r>
              <a:rPr lang="en-US" sz="1200" dirty="0">
                <a:solidFill>
                  <a:srgbClr val="5B6B7B"/>
                </a:solidFill>
                <a:latin typeface="Consolas" pitchFamily="34" charset="0"/>
                <a:ea typeface="Consolas" pitchFamily="34" charset="-122"/>
                <a:cs typeface="Consolas" pitchFamily="34" charset="-120"/>
              </a:rPr>
              <a:t>dependabot.yml</a:t>
            </a:r>
            <a:endParaRPr lang="en-US" sz="1200" dirty="0"/>
          </a:p>
        </p:txBody>
      </p:sp>
      <p:sp>
        <p:nvSpPr>
          <p:cNvPr id="8" name="Shape 5"/>
          <p:cNvSpPr/>
          <p:nvPr/>
        </p:nvSpPr>
        <p:spPr>
          <a:xfrm>
            <a:off x="2432304" y="2903220"/>
            <a:ext cx="274320" cy="0"/>
          </a:xfrm>
          <a:prstGeom prst="line">
            <a:avLst/>
          </a:prstGeom>
          <a:noFill/>
          <a:ln w="28575">
            <a:solidFill>
              <a:srgbClr val="5B6B7B"/>
            </a:solidFill>
            <a:prstDash val="solid"/>
            <a:tailEnd type="triangle"/>
          </a:ln>
        </p:spPr>
      </p:sp>
      <p:sp>
        <p:nvSpPr>
          <p:cNvPr id="9" name="Shape 6"/>
          <p:cNvSpPr/>
          <p:nvPr/>
        </p:nvSpPr>
        <p:spPr>
          <a:xfrm>
            <a:off x="2761488" y="1828800"/>
            <a:ext cx="1965960" cy="2148840"/>
          </a:xfrm>
          <a:prstGeom prst="roundRect">
            <a:avLst>
              <a:gd name="adj" fmla="val 3721"/>
            </a:avLst>
          </a:prstGeom>
          <a:solidFill>
            <a:srgbClr val="FBE9EA"/>
          </a:solidFill>
          <a:ln w="15875">
            <a:solidFill>
              <a:srgbClr val="C7353F"/>
            </a:solidFill>
            <a:prstDash val="solid"/>
          </a:ln>
        </p:spPr>
      </p:sp>
      <p:sp>
        <p:nvSpPr>
          <p:cNvPr id="10" name="Shape 7"/>
          <p:cNvSpPr/>
          <p:nvPr/>
        </p:nvSpPr>
        <p:spPr>
          <a:xfrm>
            <a:off x="3406140" y="2029968"/>
            <a:ext cx="676656" cy="676656"/>
          </a:xfrm>
          <a:prstGeom prst="ellipse">
            <a:avLst/>
          </a:prstGeom>
          <a:solidFill>
            <a:srgbClr val="C7353F"/>
          </a:solidFill>
          <a:ln w="12700">
            <a:solidFill>
              <a:srgbClr val="C7353F"/>
            </a:solidFill>
            <a:prstDash val="solid"/>
          </a:ln>
        </p:spPr>
      </p:sp>
      <p:pic>
        <p:nvPicPr>
          <p:cNvPr id="11" name="Image 1" descr="preencoded.png">    </p:cNvPr>
          <p:cNvPicPr>
            <a:picLocks noChangeAspect="1"/>
          </p:cNvPicPr>
          <p:nvPr/>
        </p:nvPicPr>
        <p:blipFill>
          <a:blip r:embed="rId2"/>
          <a:stretch>
            <a:fillRect/>
          </a:stretch>
        </p:blipFill>
        <p:spPr>
          <a:xfrm>
            <a:off x="3568537" y="2192365"/>
            <a:ext cx="351861" cy="351861"/>
          </a:xfrm>
          <a:prstGeom prst="rect">
            <a:avLst/>
          </a:prstGeom>
        </p:spPr>
      </p:pic>
      <p:sp>
        <p:nvSpPr>
          <p:cNvPr id="12" name="Text 8"/>
          <p:cNvSpPr txBox="1"/>
          <p:nvPr/>
        </p:nvSpPr>
        <p:spPr>
          <a:xfrm>
            <a:off x="2761488" y="2770632"/>
            <a:ext cx="1965960" cy="365760"/>
          </a:xfrm>
          <a:prstGeom prst="rect">
            <a:avLst/>
          </a:prstGeom>
          <a:noFill/>
          <a:ln/>
        </p:spPr>
        <p:txBody>
          <a:bodyPr wrap="square" lIns="0" tIns="0" rIns="0" bIns="0" rtlCol="0" anchor="ctr"/>
          <a:lstStyle/>
          <a:p>
            <a:pPr algn="ctr" indent="0" marL="0">
              <a:buNone/>
            </a:pPr>
            <a:r>
              <a:rPr lang="en-US" sz="1600" b="1" dirty="0">
                <a:solidFill>
                  <a:srgbClr val="C7353F"/>
                </a:solidFill>
                <a:latin typeface="Calibri" pitchFamily="34" charset="0"/>
                <a:ea typeface="Calibri" pitchFamily="34" charset="-122"/>
                <a:cs typeface="Calibri" pitchFamily="34" charset="-120"/>
              </a:rPr>
              <a:t>1 · DÉTECTER</a:t>
            </a:r>
            <a:endParaRPr lang="en-US" sz="1600" dirty="0"/>
          </a:p>
        </p:txBody>
      </p:sp>
      <p:sp>
        <p:nvSpPr>
          <p:cNvPr id="13" name="Text 9"/>
          <p:cNvSpPr txBox="1"/>
          <p:nvPr/>
        </p:nvSpPr>
        <p:spPr>
          <a:xfrm>
            <a:off x="2898648" y="3154680"/>
            <a:ext cx="1691640" cy="713232"/>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graphe de dépendances × Advisory Database</a:t>
            </a:r>
            <a:endParaRPr lang="en-US" sz="1300" dirty="0"/>
          </a:p>
        </p:txBody>
      </p:sp>
      <p:sp>
        <p:nvSpPr>
          <p:cNvPr id="14" name="Shape 10"/>
          <p:cNvSpPr/>
          <p:nvPr/>
        </p:nvSpPr>
        <p:spPr>
          <a:xfrm>
            <a:off x="4782312" y="2903220"/>
            <a:ext cx="274320" cy="0"/>
          </a:xfrm>
          <a:prstGeom prst="line">
            <a:avLst/>
          </a:prstGeom>
          <a:noFill/>
          <a:ln w="28575">
            <a:solidFill>
              <a:srgbClr val="5B6B7B"/>
            </a:solidFill>
            <a:prstDash val="solid"/>
            <a:tailEnd type="triangle"/>
          </a:ln>
        </p:spPr>
      </p:sp>
      <p:sp>
        <p:nvSpPr>
          <p:cNvPr id="15" name="Shape 11"/>
          <p:cNvSpPr/>
          <p:nvPr/>
        </p:nvSpPr>
        <p:spPr>
          <a:xfrm>
            <a:off x="5111496" y="1828800"/>
            <a:ext cx="1965960" cy="2148840"/>
          </a:xfrm>
          <a:prstGeom prst="roundRect">
            <a:avLst>
              <a:gd name="adj" fmla="val 3721"/>
            </a:avLst>
          </a:prstGeom>
          <a:solidFill>
            <a:srgbClr val="FDF3DC"/>
          </a:solidFill>
          <a:ln w="15875">
            <a:solidFill>
              <a:srgbClr val="E8A317"/>
            </a:solidFill>
            <a:prstDash val="solid"/>
          </a:ln>
        </p:spPr>
      </p:sp>
      <p:sp>
        <p:nvSpPr>
          <p:cNvPr id="16" name="Shape 12"/>
          <p:cNvSpPr/>
          <p:nvPr/>
        </p:nvSpPr>
        <p:spPr>
          <a:xfrm>
            <a:off x="5756148" y="2029968"/>
            <a:ext cx="676656" cy="676656"/>
          </a:xfrm>
          <a:prstGeom prst="ellipse">
            <a:avLst/>
          </a:prstGeom>
          <a:solidFill>
            <a:srgbClr val="9A5B00"/>
          </a:solidFill>
          <a:ln w="12700">
            <a:solidFill>
              <a:srgbClr val="9A5B00"/>
            </a:solidFill>
            <a:prstDash val="solid"/>
          </a:ln>
        </p:spPr>
      </p:sp>
      <p:pic>
        <p:nvPicPr>
          <p:cNvPr id="17" name="Image 2" descr="preencoded.png">    </p:cNvPr>
          <p:cNvPicPr>
            <a:picLocks noChangeAspect="1"/>
          </p:cNvPicPr>
          <p:nvPr/>
        </p:nvPicPr>
        <p:blipFill>
          <a:blip r:embed="rId3"/>
          <a:stretch>
            <a:fillRect/>
          </a:stretch>
        </p:blipFill>
        <p:spPr>
          <a:xfrm>
            <a:off x="5918545" y="2192365"/>
            <a:ext cx="351861" cy="351861"/>
          </a:xfrm>
          <a:prstGeom prst="rect">
            <a:avLst/>
          </a:prstGeom>
        </p:spPr>
      </p:pic>
      <p:sp>
        <p:nvSpPr>
          <p:cNvPr id="18" name="Text 13"/>
          <p:cNvSpPr txBox="1"/>
          <p:nvPr/>
        </p:nvSpPr>
        <p:spPr>
          <a:xfrm>
            <a:off x="5111496" y="2770632"/>
            <a:ext cx="1965960" cy="365760"/>
          </a:xfrm>
          <a:prstGeom prst="rect">
            <a:avLst/>
          </a:prstGeom>
          <a:noFill/>
          <a:ln/>
        </p:spPr>
        <p:txBody>
          <a:bodyPr wrap="square" lIns="0" tIns="0" rIns="0" bIns="0" rtlCol="0" anchor="ctr"/>
          <a:lstStyle/>
          <a:p>
            <a:pPr algn="ctr" indent="0" marL="0">
              <a:buNone/>
            </a:pPr>
            <a:r>
              <a:rPr lang="en-US" sz="1600" b="1" dirty="0">
                <a:solidFill>
                  <a:srgbClr val="9A5B00"/>
                </a:solidFill>
                <a:latin typeface="Calibri" pitchFamily="34" charset="0"/>
                <a:ea typeface="Calibri" pitchFamily="34" charset="-122"/>
                <a:cs typeface="Calibri" pitchFamily="34" charset="-120"/>
              </a:rPr>
              <a:t>2 · PROPOSER</a:t>
            </a:r>
            <a:endParaRPr lang="en-US" sz="1600" dirty="0"/>
          </a:p>
        </p:txBody>
      </p:sp>
      <p:sp>
        <p:nvSpPr>
          <p:cNvPr id="19" name="Text 14"/>
          <p:cNvSpPr txBox="1"/>
          <p:nvPr/>
        </p:nvSpPr>
        <p:spPr>
          <a:xfrm>
            <a:off x="5248656" y="3154680"/>
            <a:ext cx="1691640" cy="713232"/>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Dependabot ouvre une pull request</a:t>
            </a:r>
            <a:endParaRPr lang="en-US" sz="1300" dirty="0"/>
          </a:p>
        </p:txBody>
      </p:sp>
      <p:sp>
        <p:nvSpPr>
          <p:cNvPr id="20" name="Shape 15"/>
          <p:cNvSpPr/>
          <p:nvPr/>
        </p:nvSpPr>
        <p:spPr>
          <a:xfrm>
            <a:off x="7132320" y="2903220"/>
            <a:ext cx="274320" cy="0"/>
          </a:xfrm>
          <a:prstGeom prst="line">
            <a:avLst/>
          </a:prstGeom>
          <a:noFill/>
          <a:ln w="28575">
            <a:solidFill>
              <a:srgbClr val="5B6B7B"/>
            </a:solidFill>
            <a:prstDash val="solid"/>
            <a:tailEnd type="triangle"/>
          </a:ln>
        </p:spPr>
      </p:sp>
      <p:sp>
        <p:nvSpPr>
          <p:cNvPr id="21" name="Shape 16"/>
          <p:cNvSpPr/>
          <p:nvPr/>
        </p:nvSpPr>
        <p:spPr>
          <a:xfrm>
            <a:off x="7461504" y="1828800"/>
            <a:ext cx="1965960" cy="2148840"/>
          </a:xfrm>
          <a:prstGeom prst="roundRect">
            <a:avLst>
              <a:gd name="adj" fmla="val 3721"/>
            </a:avLst>
          </a:prstGeom>
          <a:solidFill>
            <a:srgbClr val="E2F3F4"/>
          </a:solidFill>
          <a:ln w="15875">
            <a:solidFill>
              <a:srgbClr val="0E7C86"/>
            </a:solidFill>
            <a:prstDash val="solid"/>
          </a:ln>
        </p:spPr>
      </p:sp>
      <p:sp>
        <p:nvSpPr>
          <p:cNvPr id="22" name="Shape 17"/>
          <p:cNvSpPr/>
          <p:nvPr/>
        </p:nvSpPr>
        <p:spPr>
          <a:xfrm>
            <a:off x="8106156" y="2029968"/>
            <a:ext cx="676656" cy="676656"/>
          </a:xfrm>
          <a:prstGeom prst="ellipse">
            <a:avLst/>
          </a:prstGeom>
          <a:solidFill>
            <a:srgbClr val="0E7C86"/>
          </a:solidFill>
          <a:ln w="12700">
            <a:solidFill>
              <a:srgbClr val="0E7C86"/>
            </a:solidFill>
            <a:prstDash val="solid"/>
          </a:ln>
        </p:spPr>
      </p:sp>
      <p:pic>
        <p:nvPicPr>
          <p:cNvPr id="23" name="Image 3" descr="preencoded.png">    </p:cNvPr>
          <p:cNvPicPr>
            <a:picLocks noChangeAspect="1"/>
          </p:cNvPicPr>
          <p:nvPr/>
        </p:nvPicPr>
        <p:blipFill>
          <a:blip r:embed="rId4"/>
          <a:stretch>
            <a:fillRect/>
          </a:stretch>
        </p:blipFill>
        <p:spPr>
          <a:xfrm>
            <a:off x="8268553" y="2192365"/>
            <a:ext cx="351861" cy="351861"/>
          </a:xfrm>
          <a:prstGeom prst="rect">
            <a:avLst/>
          </a:prstGeom>
        </p:spPr>
      </p:pic>
      <p:sp>
        <p:nvSpPr>
          <p:cNvPr id="24" name="Text 18"/>
          <p:cNvSpPr txBox="1"/>
          <p:nvPr/>
        </p:nvSpPr>
        <p:spPr>
          <a:xfrm>
            <a:off x="7461504" y="2770632"/>
            <a:ext cx="1965960" cy="365760"/>
          </a:xfrm>
          <a:prstGeom prst="rect">
            <a:avLst/>
          </a:prstGeom>
          <a:noFill/>
          <a:ln/>
        </p:spPr>
        <p:txBody>
          <a:bodyPr wrap="square" lIns="0" tIns="0" rIns="0" bIns="0" rtlCol="0" anchor="ctr"/>
          <a:lstStyle/>
          <a:p>
            <a:pPr algn="ctr" indent="0" marL="0">
              <a:buNone/>
            </a:pPr>
            <a:r>
              <a:rPr lang="en-US" sz="1600" b="1" dirty="0">
                <a:solidFill>
                  <a:srgbClr val="0E7C86"/>
                </a:solidFill>
                <a:latin typeface="Calibri" pitchFamily="34" charset="0"/>
                <a:ea typeface="Calibri" pitchFamily="34" charset="-122"/>
                <a:cs typeface="Calibri" pitchFamily="34" charset="-120"/>
              </a:rPr>
              <a:t>3 · VÉRIFIER</a:t>
            </a:r>
            <a:endParaRPr lang="en-US" sz="1600" dirty="0"/>
          </a:p>
        </p:txBody>
      </p:sp>
      <p:sp>
        <p:nvSpPr>
          <p:cNvPr id="25" name="Text 19"/>
          <p:cNvSpPr txBox="1"/>
          <p:nvPr/>
        </p:nvSpPr>
        <p:spPr>
          <a:xfrm>
            <a:off x="7598664" y="3154680"/>
            <a:ext cx="1691640" cy="713232"/>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le CI teste la PR : install, tests, build</a:t>
            </a:r>
            <a:endParaRPr lang="en-US" sz="1300" dirty="0"/>
          </a:p>
        </p:txBody>
      </p:sp>
      <p:sp>
        <p:nvSpPr>
          <p:cNvPr id="26" name="Shape 20"/>
          <p:cNvSpPr/>
          <p:nvPr/>
        </p:nvSpPr>
        <p:spPr>
          <a:xfrm>
            <a:off x="9482328" y="2903220"/>
            <a:ext cx="274320" cy="0"/>
          </a:xfrm>
          <a:prstGeom prst="line">
            <a:avLst/>
          </a:prstGeom>
          <a:noFill/>
          <a:ln w="28575">
            <a:solidFill>
              <a:srgbClr val="5B6B7B"/>
            </a:solidFill>
            <a:prstDash val="solid"/>
            <a:tailEnd type="triangle"/>
          </a:ln>
        </p:spPr>
      </p:sp>
      <p:sp>
        <p:nvSpPr>
          <p:cNvPr id="27" name="Shape 21"/>
          <p:cNvSpPr/>
          <p:nvPr/>
        </p:nvSpPr>
        <p:spPr>
          <a:xfrm>
            <a:off x="9811512" y="1828800"/>
            <a:ext cx="1965960" cy="2148840"/>
          </a:xfrm>
          <a:prstGeom prst="roundRect">
            <a:avLst>
              <a:gd name="adj" fmla="val 3721"/>
            </a:avLst>
          </a:prstGeom>
          <a:solidFill>
            <a:srgbClr val="E5F4EA"/>
          </a:solidFill>
          <a:ln w="15875">
            <a:solidFill>
              <a:srgbClr val="2E9E55"/>
            </a:solidFill>
            <a:prstDash val="solid"/>
          </a:ln>
        </p:spPr>
      </p:sp>
      <p:sp>
        <p:nvSpPr>
          <p:cNvPr id="28" name="Shape 22"/>
          <p:cNvSpPr/>
          <p:nvPr/>
        </p:nvSpPr>
        <p:spPr>
          <a:xfrm>
            <a:off x="10456164" y="2029968"/>
            <a:ext cx="676656" cy="676656"/>
          </a:xfrm>
          <a:prstGeom prst="ellipse">
            <a:avLst/>
          </a:prstGeom>
          <a:solidFill>
            <a:srgbClr val="2E9E55"/>
          </a:solidFill>
          <a:ln w="12700">
            <a:solidFill>
              <a:srgbClr val="2E9E55"/>
            </a:solidFill>
            <a:prstDash val="solid"/>
          </a:ln>
        </p:spPr>
      </p:sp>
      <p:pic>
        <p:nvPicPr>
          <p:cNvPr id="29" name="Image 4" descr="preencoded.png">    </p:cNvPr>
          <p:cNvPicPr>
            <a:picLocks noChangeAspect="1"/>
          </p:cNvPicPr>
          <p:nvPr/>
        </p:nvPicPr>
        <p:blipFill>
          <a:blip r:embed="rId5"/>
          <a:stretch>
            <a:fillRect/>
          </a:stretch>
        </p:blipFill>
        <p:spPr>
          <a:xfrm>
            <a:off x="10618561" y="2192365"/>
            <a:ext cx="351861" cy="351861"/>
          </a:xfrm>
          <a:prstGeom prst="rect">
            <a:avLst/>
          </a:prstGeom>
        </p:spPr>
      </p:pic>
      <p:sp>
        <p:nvSpPr>
          <p:cNvPr id="30" name="Text 23"/>
          <p:cNvSpPr txBox="1"/>
          <p:nvPr/>
        </p:nvSpPr>
        <p:spPr>
          <a:xfrm>
            <a:off x="9811512" y="2770632"/>
            <a:ext cx="1965960" cy="365760"/>
          </a:xfrm>
          <a:prstGeom prst="rect">
            <a:avLst/>
          </a:prstGeom>
          <a:noFill/>
          <a:ln/>
        </p:spPr>
        <p:txBody>
          <a:bodyPr wrap="square" lIns="0" tIns="0" rIns="0" bIns="0" rtlCol="0" anchor="ctr"/>
          <a:lstStyle/>
          <a:p>
            <a:pPr algn="ctr" indent="0" marL="0">
              <a:buNone/>
            </a:pPr>
            <a:r>
              <a:rPr lang="en-US" sz="1600" b="1" dirty="0">
                <a:solidFill>
                  <a:srgbClr val="1F7A3D"/>
                </a:solidFill>
                <a:latin typeface="Calibri" pitchFamily="34" charset="0"/>
                <a:ea typeface="Calibri" pitchFamily="34" charset="-122"/>
                <a:cs typeface="Calibri" pitchFamily="34" charset="-120"/>
              </a:rPr>
              <a:t>4 · DÉCIDER</a:t>
            </a:r>
            <a:endParaRPr lang="en-US" sz="1600" dirty="0"/>
          </a:p>
        </p:txBody>
      </p:sp>
      <p:sp>
        <p:nvSpPr>
          <p:cNvPr id="31" name="Text 24"/>
          <p:cNvSpPr txBox="1"/>
          <p:nvPr/>
        </p:nvSpPr>
        <p:spPr>
          <a:xfrm>
            <a:off x="9948672" y="3154680"/>
            <a:ext cx="1691640" cy="713232"/>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revue humaine, merge, puis déploiement</a:t>
            </a:r>
            <a:endParaRPr lang="en-US" sz="1300" dirty="0"/>
          </a:p>
        </p:txBody>
      </p:sp>
      <p:sp>
        <p:nvSpPr>
          <p:cNvPr id="32" name="Shape 25"/>
          <p:cNvSpPr/>
          <p:nvPr/>
        </p:nvSpPr>
        <p:spPr>
          <a:xfrm>
            <a:off x="548640" y="4270248"/>
            <a:ext cx="1828800" cy="0"/>
          </a:xfrm>
          <a:prstGeom prst="line">
            <a:avLst/>
          </a:prstGeom>
          <a:noFill/>
          <a:ln w="38100">
            <a:solidFill>
              <a:srgbClr val="0B1F33"/>
            </a:solidFill>
            <a:prstDash val="solid"/>
          </a:ln>
        </p:spPr>
      </p:sp>
      <p:sp>
        <p:nvSpPr>
          <p:cNvPr id="33" name="Text 26"/>
          <p:cNvSpPr txBox="1"/>
          <p:nvPr/>
        </p:nvSpPr>
        <p:spPr>
          <a:xfrm>
            <a:off x="548640" y="4361688"/>
            <a:ext cx="1828800" cy="329184"/>
          </a:xfrm>
          <a:prstGeom prst="rect">
            <a:avLst/>
          </a:prstGeom>
          <a:noFill/>
          <a:ln/>
        </p:spPr>
        <p:txBody>
          <a:bodyPr wrap="square" lIns="0" tIns="0" rIns="0" bIns="0" rtlCol="0" anchor="ctr"/>
          <a:lstStyle/>
          <a:p>
            <a:pPr algn="ctr" indent="0" marL="0">
              <a:buNone/>
            </a:pPr>
            <a:r>
              <a:rPr lang="en-US" sz="1400" b="1" dirty="0">
                <a:solidFill>
                  <a:srgbClr val="0B1F33"/>
                </a:solidFill>
                <a:latin typeface="Calibri" pitchFamily="34" charset="0"/>
                <a:ea typeface="Calibri" pitchFamily="34" charset="-122"/>
                <a:cs typeface="Calibri" pitchFamily="34" charset="-120"/>
              </a:rPr>
              <a:t>L'équipe configure</a:t>
            </a:r>
            <a:endParaRPr lang="en-US" sz="1400" dirty="0"/>
          </a:p>
        </p:txBody>
      </p:sp>
      <p:sp>
        <p:nvSpPr>
          <p:cNvPr id="34" name="Shape 27"/>
          <p:cNvSpPr/>
          <p:nvPr/>
        </p:nvSpPr>
        <p:spPr>
          <a:xfrm>
            <a:off x="2761488" y="4270248"/>
            <a:ext cx="4315968" cy="0"/>
          </a:xfrm>
          <a:prstGeom prst="line">
            <a:avLst/>
          </a:prstGeom>
          <a:noFill/>
          <a:ln w="38100">
            <a:solidFill>
              <a:srgbClr val="9A5B00"/>
            </a:solidFill>
            <a:prstDash val="solid"/>
          </a:ln>
        </p:spPr>
      </p:sp>
      <p:sp>
        <p:nvSpPr>
          <p:cNvPr id="35" name="Text 28"/>
          <p:cNvSpPr txBox="1"/>
          <p:nvPr/>
        </p:nvSpPr>
        <p:spPr>
          <a:xfrm>
            <a:off x="2761488" y="4361688"/>
            <a:ext cx="4315968" cy="329184"/>
          </a:xfrm>
          <a:prstGeom prst="rect">
            <a:avLst/>
          </a:prstGeom>
          <a:noFill/>
          <a:ln/>
        </p:spPr>
        <p:txBody>
          <a:bodyPr wrap="square" lIns="0" tIns="0" rIns="0" bIns="0" rtlCol="0" anchor="ctr"/>
          <a:lstStyle/>
          <a:p>
            <a:pPr algn="ctr" indent="0" marL="0">
              <a:buNone/>
            </a:pPr>
            <a:r>
              <a:rPr lang="en-US" sz="1400" b="1" dirty="0">
                <a:solidFill>
                  <a:srgbClr val="9A5B00"/>
                </a:solidFill>
                <a:latin typeface="Calibri" pitchFamily="34" charset="0"/>
                <a:ea typeface="Calibri" pitchFamily="34" charset="-122"/>
                <a:cs typeface="Calibri" pitchFamily="34" charset="-120"/>
              </a:rPr>
              <a:t>Dependabot</a:t>
            </a:r>
            <a:endParaRPr lang="en-US" sz="1400" dirty="0"/>
          </a:p>
        </p:txBody>
      </p:sp>
      <p:sp>
        <p:nvSpPr>
          <p:cNvPr id="36" name="Shape 29"/>
          <p:cNvSpPr/>
          <p:nvPr/>
        </p:nvSpPr>
        <p:spPr>
          <a:xfrm>
            <a:off x="7461504" y="4270248"/>
            <a:ext cx="1965960" cy="0"/>
          </a:xfrm>
          <a:prstGeom prst="line">
            <a:avLst/>
          </a:prstGeom>
          <a:noFill/>
          <a:ln w="38100">
            <a:solidFill>
              <a:srgbClr val="0E7C86"/>
            </a:solidFill>
            <a:prstDash val="solid"/>
          </a:ln>
        </p:spPr>
      </p:sp>
      <p:sp>
        <p:nvSpPr>
          <p:cNvPr id="37" name="Text 30"/>
          <p:cNvSpPr txBox="1"/>
          <p:nvPr/>
        </p:nvSpPr>
        <p:spPr>
          <a:xfrm>
            <a:off x="7461504" y="4361688"/>
            <a:ext cx="1965960" cy="329184"/>
          </a:xfrm>
          <a:prstGeom prst="rect">
            <a:avLst/>
          </a:prstGeom>
          <a:noFill/>
          <a:ln/>
        </p:spPr>
        <p:txBody>
          <a:bodyPr wrap="square" lIns="0" tIns="0" rIns="0" bIns="0" rtlCol="0" anchor="ctr"/>
          <a:lstStyle/>
          <a:p>
            <a:pPr algn="ctr" indent="0" marL="0">
              <a:buNone/>
            </a:pPr>
            <a:r>
              <a:rPr lang="en-US" sz="1400" b="1" dirty="0">
                <a:solidFill>
                  <a:srgbClr val="0E7C86"/>
                </a:solidFill>
                <a:latin typeface="Calibri" pitchFamily="34" charset="0"/>
                <a:ea typeface="Calibri" pitchFamily="34" charset="-122"/>
                <a:cs typeface="Calibri" pitchFamily="34" charset="-120"/>
              </a:rPr>
              <a:t>Pipeline CI/CD</a:t>
            </a:r>
            <a:endParaRPr lang="en-US" sz="1400" dirty="0"/>
          </a:p>
        </p:txBody>
      </p:sp>
      <p:sp>
        <p:nvSpPr>
          <p:cNvPr id="38" name="Shape 31"/>
          <p:cNvSpPr/>
          <p:nvPr/>
        </p:nvSpPr>
        <p:spPr>
          <a:xfrm>
            <a:off x="9811512" y="4270248"/>
            <a:ext cx="1965960" cy="0"/>
          </a:xfrm>
          <a:prstGeom prst="line">
            <a:avLst/>
          </a:prstGeom>
          <a:noFill/>
          <a:ln w="38100">
            <a:solidFill>
              <a:srgbClr val="1F7A3D"/>
            </a:solidFill>
            <a:prstDash val="solid"/>
          </a:ln>
        </p:spPr>
      </p:sp>
      <p:sp>
        <p:nvSpPr>
          <p:cNvPr id="39" name="Text 32"/>
          <p:cNvSpPr txBox="1"/>
          <p:nvPr/>
        </p:nvSpPr>
        <p:spPr>
          <a:xfrm>
            <a:off x="9811512" y="4361688"/>
            <a:ext cx="1965960" cy="329184"/>
          </a:xfrm>
          <a:prstGeom prst="rect">
            <a:avLst/>
          </a:prstGeom>
          <a:noFill/>
          <a:ln/>
        </p:spPr>
        <p:txBody>
          <a:bodyPr wrap="square" lIns="0" tIns="0" rIns="0" bIns="0" rtlCol="0" anchor="ctr"/>
          <a:lstStyle/>
          <a:p>
            <a:pPr algn="ctr" indent="0" marL="0">
              <a:buNone/>
            </a:pPr>
            <a:r>
              <a:rPr lang="en-US" sz="1400" b="1" dirty="0">
                <a:solidFill>
                  <a:srgbClr val="1F7A3D"/>
                </a:solidFill>
                <a:latin typeface="Calibri" pitchFamily="34" charset="0"/>
                <a:ea typeface="Calibri" pitchFamily="34" charset="-122"/>
                <a:cs typeface="Calibri" pitchFamily="34" charset="-120"/>
              </a:rPr>
              <a:t>L'équipe</a:t>
            </a:r>
            <a:endParaRPr lang="en-US" sz="1400" dirty="0"/>
          </a:p>
        </p:txBody>
      </p:sp>
      <p:sp>
        <p:nvSpPr>
          <p:cNvPr id="40" name="Shape 33"/>
          <p:cNvSpPr/>
          <p:nvPr/>
        </p:nvSpPr>
        <p:spPr>
          <a:xfrm>
            <a:off x="548640" y="5230368"/>
            <a:ext cx="11091672" cy="868680"/>
          </a:xfrm>
          <a:prstGeom prst="roundRect">
            <a:avLst>
              <a:gd name="adj" fmla="val 8421"/>
            </a:avLst>
          </a:prstGeom>
          <a:solidFill>
            <a:srgbClr val="0B1F33"/>
          </a:solidFill>
          <a:ln w="12700">
            <a:solidFill>
              <a:srgbClr val="0B1F33"/>
            </a:solidFill>
            <a:prstDash val="solid"/>
          </a:ln>
        </p:spPr>
      </p:sp>
      <p:sp>
        <p:nvSpPr>
          <p:cNvPr id="41" name="Text 34"/>
          <p:cNvSpPr txBox="1"/>
          <p:nvPr/>
        </p:nvSpPr>
        <p:spPr>
          <a:xfrm>
            <a:off x="548640" y="5230368"/>
            <a:ext cx="11091672" cy="868680"/>
          </a:xfrm>
          <a:prstGeom prst="rect">
            <a:avLst/>
          </a:prstGeom>
          <a:noFill/>
          <a:ln/>
        </p:spPr>
        <p:txBody>
          <a:bodyPr wrap="square" lIns="0" tIns="0" rIns="0" bIns="0" rtlCol="0" anchor="ctr"/>
          <a:lstStyle/>
          <a:p>
            <a:pPr algn="ctr" indent="0" marL="0">
              <a:buNone/>
            </a:pPr>
            <a:r>
              <a:rPr lang="en-US" sz="2800" b="1" dirty="0">
                <a:solidFill>
                  <a:srgbClr val="E8A317"/>
                </a:solidFill>
                <a:latin typeface="Calibri" pitchFamily="34" charset="0"/>
                <a:ea typeface="Calibri" pitchFamily="34" charset="-122"/>
                <a:cs typeface="Calibri" pitchFamily="34" charset="-120"/>
              </a:rPr>
              <a:t>Dependabot propose.</a:t>
            </a:r>
            <a:pPr algn="ctr" indent="0" marL="0">
              <a:buNone/>
            </a:pPr>
            <a:r>
              <a:rPr lang="en-US" sz="2800" b="1" dirty="0">
                <a:solidFill>
                  <a:srgbClr val="5FD0D8"/>
                </a:solidFill>
                <a:latin typeface="Calibri" pitchFamily="34" charset="0"/>
                <a:ea typeface="Calibri" pitchFamily="34" charset="-122"/>
                <a:cs typeface="Calibri" pitchFamily="34" charset="-120"/>
              </a:rPr>
              <a:t>   Le CI vérifie.</a:t>
            </a:r>
            <a:pPr algn="ctr" indent="0" marL="0">
              <a:buNone/>
            </a:pPr>
            <a:r>
              <a:rPr lang="en-US" sz="2800" b="1" dirty="0">
                <a:solidFill>
                  <a:srgbClr val="7FD99B"/>
                </a:solidFill>
                <a:latin typeface="Calibri" pitchFamily="34" charset="0"/>
                <a:ea typeface="Calibri" pitchFamily="34" charset="-122"/>
                <a:cs typeface="Calibri" pitchFamily="34" charset="-120"/>
              </a:rPr>
              <a:t>   L'humain décide.</a:t>
            </a:r>
            <a:endParaRPr lang="en-US" sz="2800" dirty="0"/>
          </a:p>
        </p:txBody>
      </p:sp>
      <p:sp>
        <p:nvSpPr>
          <p:cNvPr id="42" name="Text 35"/>
          <p:cNvSpPr txBox="1"/>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rgbClr val="5B6B7B"/>
                </a:solidFill>
                <a:latin typeface="Calibri" pitchFamily="34" charset="0"/>
                <a:ea typeface="Calibri" pitchFamily="34" charset="-122"/>
                <a:cs typeface="Calibri" pitchFamily="34" charset="-120"/>
              </a:rPr>
              <a:t>Dependabot · Cours DevOps · M1 SIGLIS</a:t>
            </a:r>
            <a:endParaRPr lang="en-US" sz="1000" dirty="0"/>
          </a:p>
        </p:txBody>
      </p:sp>
      <p:sp>
        <p:nvSpPr>
          <p:cNvPr id="43" name="Text 36"/>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1000" dirty="0">
                <a:solidFill>
                  <a:srgbClr val="5B6B7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ctr"/>
          <a:lstStyle/>
          <a:p>
            <a:pPr indent="0" marL="0">
              <a:buNone/>
            </a:pPr>
            <a:r>
              <a:rPr lang="en-US" sz="1300" b="1" spc="300" kern="0" dirty="0">
                <a:solidFill>
                  <a:srgbClr val="0E7C86"/>
                </a:solidFill>
                <a:latin typeface="Calibri" pitchFamily="34" charset="0"/>
                <a:ea typeface="Calibri" pitchFamily="34" charset="-122"/>
                <a:cs typeface="Calibri" pitchFamily="34" charset="-120"/>
              </a:rPr>
              <a:t>LA CONFIGURATION</a:t>
            </a:r>
            <a:endParaRPr lang="en-US" sz="1300" dirty="0"/>
          </a:p>
        </p:txBody>
      </p:sp>
      <p:sp>
        <p:nvSpPr>
          <p:cNvPr id="3" name="Text 1"/>
          <p:cNvSpPr txBox="1"/>
          <p:nvPr/>
        </p:nvSpPr>
        <p:spPr>
          <a:xfrm>
            <a:off x="548640" y="676656"/>
            <a:ext cx="11064240" cy="777240"/>
          </a:xfrm>
          <a:prstGeom prst="rect">
            <a:avLst/>
          </a:prstGeom>
          <a:noFill/>
          <a:ln/>
        </p:spPr>
        <p:txBody>
          <a:bodyPr wrap="square" lIns="0" tIns="0" rIns="0" bIns="0" rtlCol="0" anchor="ctr"/>
          <a:lstStyle/>
          <a:p>
            <a:pPr indent="0" marL="0">
              <a:buNone/>
            </a:pPr>
            <a:r>
              <a:rPr lang="en-US" sz="3400" b="1" dirty="0">
                <a:solidFill>
                  <a:srgbClr val="0B1F33"/>
                </a:solidFill>
                <a:latin typeface="Calibri" pitchFamily="34" charset="0"/>
                <a:ea typeface="Calibri" pitchFamily="34" charset="-122"/>
                <a:cs typeface="Calibri" pitchFamily="34" charset="-120"/>
              </a:rPr>
              <a:t>Anatomie de .github/dependabot.yml</a:t>
            </a:r>
            <a:endParaRPr lang="en-US" sz="3400" dirty="0"/>
          </a:p>
        </p:txBody>
      </p:sp>
      <p:sp>
        <p:nvSpPr>
          <p:cNvPr id="4" name="Shape 2"/>
          <p:cNvSpPr/>
          <p:nvPr/>
        </p:nvSpPr>
        <p:spPr>
          <a:xfrm>
            <a:off x="548640" y="1645920"/>
            <a:ext cx="6309360" cy="4617720"/>
          </a:xfrm>
          <a:prstGeom prst="roundRect">
            <a:avLst>
              <a:gd name="adj" fmla="val 1188"/>
            </a:avLst>
          </a:prstGeom>
          <a:solidFill>
            <a:srgbClr val="1E1E1E"/>
          </a:solidFill>
          <a:ln w="12700">
            <a:solidFill>
              <a:srgbClr val="1E1E1E"/>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22960" y="1920240"/>
            <a:ext cx="5760720" cy="4267688"/>
          </a:xfrm>
          <a:prstGeom prst="rect">
            <a:avLst/>
          </a:prstGeom>
          <a:noFill/>
          <a:ln/>
        </p:spPr>
        <p:txBody>
          <a:bodyPr wrap="square" lIns="0" tIns="0" rIns="0" bIns="0" rtlCol="0" anchor="t"/>
          <a:lstStyle/>
          <a:p>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version</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B5CEA8"/>
                </a:solidFill>
                <a:latin typeface="Consolas" pitchFamily="34" charset="0"/>
                <a:ea typeface="Consolas" pitchFamily="34" charset="-122"/>
                <a:cs typeface="Consolas" pitchFamily="34" charset="-120"/>
              </a:rPr>
              <a:t>2</a:t>
            </a:r>
            <a:endParaRPr lang="en-US" sz="1300" dirty="0"/>
          </a:p>
          <a:p>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updates</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package-ecosystem</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"npm"</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directory</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schedule</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interval</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"weekly"</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open-pull-requests-limit</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B5CEA8"/>
                </a:solidFill>
                <a:latin typeface="Consolas" pitchFamily="34" charset="0"/>
                <a:ea typeface="Consolas" pitchFamily="34" charset="-122"/>
                <a:cs typeface="Consolas" pitchFamily="34" charset="-120"/>
              </a:rPr>
              <a:t>10</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groups</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vite</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patterns</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"vite"</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"@vitejs/*"</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ignore</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dependency-name</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"*eslint*"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update-types</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"version-update:semver-major"</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package-ecosystem</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"github-actions"</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directory</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a:t>
            </a:r>
            <a:endParaRPr lang="en-US" sz="1300" dirty="0"/>
          </a:p>
          <a:p>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schedule</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 </a:t>
            </a:r>
            <a:pPr indent="0" marL="0">
              <a:lnSpc>
                <a:spcPts val="2050"/>
              </a:lnSpc>
              <a:buNone/>
            </a:pPr>
            <a:r>
              <a:rPr lang="en-US" sz="1300" dirty="0">
                <a:solidFill>
                  <a:srgbClr val="9CDCFE"/>
                </a:solidFill>
                <a:latin typeface="Consolas" pitchFamily="34" charset="0"/>
                <a:ea typeface="Consolas" pitchFamily="34" charset="-122"/>
                <a:cs typeface="Consolas" pitchFamily="34" charset="-120"/>
              </a:rPr>
              <a:t>interval</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pPr indent="0" marL="0">
              <a:lnSpc>
                <a:spcPts val="2050"/>
              </a:lnSpc>
              <a:buNone/>
            </a:pPr>
            <a:r>
              <a:rPr lang="en-US" sz="1300" dirty="0">
                <a:solidFill>
                  <a:srgbClr val="CE9178"/>
                </a:solidFill>
                <a:latin typeface="Consolas" pitchFamily="34" charset="0"/>
                <a:ea typeface="Consolas" pitchFamily="34" charset="-122"/>
                <a:cs typeface="Consolas" pitchFamily="34" charset="-120"/>
              </a:rPr>
              <a:t>"weekly"</a:t>
            </a:r>
            <a:pPr indent="0" marL="0">
              <a:lnSpc>
                <a:spcPts val="2050"/>
              </a:lnSpc>
              <a:buNone/>
            </a:pPr>
            <a:r>
              <a:rPr lang="en-US" sz="1300" dirty="0">
                <a:solidFill>
                  <a:srgbClr val="D4D4D4"/>
                </a:solidFill>
                <a:latin typeface="Consolas" pitchFamily="34" charset="0"/>
                <a:ea typeface="Consolas" pitchFamily="34" charset="-122"/>
                <a:cs typeface="Consolas" pitchFamily="34" charset="-120"/>
              </a:rPr>
              <a:t> }</a:t>
            </a:r>
            <a:endParaRPr lang="en-US" sz="1300" dirty="0"/>
          </a:p>
        </p:txBody>
      </p:sp>
      <p:sp>
        <p:nvSpPr>
          <p:cNvPr id="6" name="Shape 4"/>
          <p:cNvSpPr/>
          <p:nvPr/>
        </p:nvSpPr>
        <p:spPr>
          <a:xfrm>
            <a:off x="6291072" y="2478390"/>
            <a:ext cx="246888" cy="246888"/>
          </a:xfrm>
          <a:prstGeom prst="ellipse">
            <a:avLst/>
          </a:prstGeom>
          <a:solidFill>
            <a:srgbClr val="C7353F"/>
          </a:solidFill>
          <a:ln w="12700">
            <a:solidFill>
              <a:srgbClr val="C7353F"/>
            </a:solidFill>
            <a:prstDash val="solid"/>
          </a:ln>
        </p:spPr>
      </p:sp>
      <p:sp>
        <p:nvSpPr>
          <p:cNvPr id="7" name="Text 5"/>
          <p:cNvSpPr txBox="1"/>
          <p:nvPr/>
        </p:nvSpPr>
        <p:spPr>
          <a:xfrm>
            <a:off x="6291072" y="2478390"/>
            <a:ext cx="246888"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Shape 6"/>
          <p:cNvSpPr/>
          <p:nvPr/>
        </p:nvSpPr>
        <p:spPr>
          <a:xfrm>
            <a:off x="6291072" y="2745120"/>
            <a:ext cx="246888" cy="246888"/>
          </a:xfrm>
          <a:prstGeom prst="ellipse">
            <a:avLst/>
          </a:prstGeom>
          <a:solidFill>
            <a:srgbClr val="9A5B00"/>
          </a:solidFill>
          <a:ln w="12700">
            <a:solidFill>
              <a:srgbClr val="9A5B00"/>
            </a:solidFill>
            <a:prstDash val="solid"/>
          </a:ln>
        </p:spPr>
      </p:sp>
      <p:sp>
        <p:nvSpPr>
          <p:cNvPr id="9" name="Text 7"/>
          <p:cNvSpPr txBox="1"/>
          <p:nvPr/>
        </p:nvSpPr>
        <p:spPr>
          <a:xfrm>
            <a:off x="6291072" y="2745120"/>
            <a:ext cx="246888"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Shape 8"/>
          <p:cNvSpPr/>
          <p:nvPr/>
        </p:nvSpPr>
        <p:spPr>
          <a:xfrm>
            <a:off x="6291072" y="3278581"/>
            <a:ext cx="246888" cy="246888"/>
          </a:xfrm>
          <a:prstGeom prst="ellipse">
            <a:avLst/>
          </a:prstGeom>
          <a:solidFill>
            <a:srgbClr val="0E7C86"/>
          </a:solidFill>
          <a:ln w="12700">
            <a:solidFill>
              <a:srgbClr val="0E7C86"/>
            </a:solidFill>
            <a:prstDash val="solid"/>
          </a:ln>
        </p:spPr>
      </p:sp>
      <p:sp>
        <p:nvSpPr>
          <p:cNvPr id="11" name="Text 9"/>
          <p:cNvSpPr txBox="1"/>
          <p:nvPr/>
        </p:nvSpPr>
        <p:spPr>
          <a:xfrm>
            <a:off x="6291072" y="3278581"/>
            <a:ext cx="246888"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Shape 10"/>
          <p:cNvSpPr/>
          <p:nvPr/>
        </p:nvSpPr>
        <p:spPr>
          <a:xfrm>
            <a:off x="6291072" y="3545312"/>
            <a:ext cx="246888" cy="246888"/>
          </a:xfrm>
          <a:prstGeom prst="ellipse">
            <a:avLst/>
          </a:prstGeom>
          <a:solidFill>
            <a:srgbClr val="2E9E55"/>
          </a:solidFill>
          <a:ln w="12700">
            <a:solidFill>
              <a:srgbClr val="2E9E55"/>
            </a:solidFill>
            <a:prstDash val="solid"/>
          </a:ln>
        </p:spPr>
      </p:sp>
      <p:sp>
        <p:nvSpPr>
          <p:cNvPr id="13" name="Text 11"/>
          <p:cNvSpPr txBox="1"/>
          <p:nvPr/>
        </p:nvSpPr>
        <p:spPr>
          <a:xfrm>
            <a:off x="6291072" y="3545312"/>
            <a:ext cx="246888"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4" name="Shape 12"/>
          <p:cNvSpPr/>
          <p:nvPr/>
        </p:nvSpPr>
        <p:spPr>
          <a:xfrm>
            <a:off x="6291072" y="3812042"/>
            <a:ext cx="246888" cy="246888"/>
          </a:xfrm>
          <a:prstGeom prst="ellipse">
            <a:avLst/>
          </a:prstGeom>
          <a:solidFill>
            <a:srgbClr val="6F42C1"/>
          </a:solidFill>
          <a:ln w="12700">
            <a:solidFill>
              <a:srgbClr val="6F42C1"/>
            </a:solidFill>
            <a:prstDash val="solid"/>
          </a:ln>
        </p:spPr>
      </p:sp>
      <p:sp>
        <p:nvSpPr>
          <p:cNvPr id="15" name="Text 13"/>
          <p:cNvSpPr txBox="1"/>
          <p:nvPr/>
        </p:nvSpPr>
        <p:spPr>
          <a:xfrm>
            <a:off x="6291072" y="3812042"/>
            <a:ext cx="246888"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6" name="Shape 14"/>
          <p:cNvSpPr/>
          <p:nvPr/>
        </p:nvSpPr>
        <p:spPr>
          <a:xfrm>
            <a:off x="6291072" y="4612234"/>
            <a:ext cx="246888" cy="246888"/>
          </a:xfrm>
          <a:prstGeom prst="ellipse">
            <a:avLst/>
          </a:prstGeom>
          <a:solidFill>
            <a:srgbClr val="0B1F33"/>
          </a:solidFill>
          <a:ln w="12700">
            <a:solidFill>
              <a:srgbClr val="0B1F33"/>
            </a:solidFill>
            <a:prstDash val="solid"/>
          </a:ln>
        </p:spPr>
      </p:sp>
      <p:sp>
        <p:nvSpPr>
          <p:cNvPr id="17" name="Text 15"/>
          <p:cNvSpPr txBox="1"/>
          <p:nvPr/>
        </p:nvSpPr>
        <p:spPr>
          <a:xfrm>
            <a:off x="6291072" y="4612234"/>
            <a:ext cx="246888"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Shape 16"/>
          <p:cNvSpPr/>
          <p:nvPr/>
        </p:nvSpPr>
        <p:spPr>
          <a:xfrm>
            <a:off x="7223760" y="1755648"/>
            <a:ext cx="365760" cy="365760"/>
          </a:xfrm>
          <a:prstGeom prst="ellipse">
            <a:avLst/>
          </a:prstGeom>
          <a:solidFill>
            <a:srgbClr val="C7353F"/>
          </a:solidFill>
          <a:ln w="12700">
            <a:solidFill>
              <a:srgbClr val="C7353F"/>
            </a:solidFill>
            <a:prstDash val="solid"/>
          </a:ln>
        </p:spPr>
      </p:sp>
      <p:sp>
        <p:nvSpPr>
          <p:cNvPr id="19" name="Text 17"/>
          <p:cNvSpPr txBox="1"/>
          <p:nvPr/>
        </p:nvSpPr>
        <p:spPr>
          <a:xfrm>
            <a:off x="7223760" y="17556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7726680" y="1673352"/>
            <a:ext cx="3931920" cy="274320"/>
          </a:xfrm>
          <a:prstGeom prst="rect">
            <a:avLst/>
          </a:prstGeom>
          <a:noFill/>
          <a:ln/>
        </p:spPr>
        <p:txBody>
          <a:bodyPr wrap="square" lIns="0" tIns="0" rIns="0" bIns="0" rtlCol="0" anchor="ctr"/>
          <a:lstStyle/>
          <a:p>
            <a:pPr indent="0" marL="0">
              <a:buNone/>
            </a:pPr>
            <a:r>
              <a:rPr lang="en-US" sz="1400" b="1" dirty="0">
                <a:solidFill>
                  <a:srgbClr val="0B1F33"/>
                </a:solidFill>
                <a:latin typeface="Consolas" pitchFamily="34" charset="0"/>
                <a:ea typeface="Consolas" pitchFamily="34" charset="-122"/>
                <a:cs typeface="Consolas" pitchFamily="34" charset="-120"/>
              </a:rPr>
              <a:t>package-ecosystem</a:t>
            </a:r>
            <a:endParaRPr lang="en-US" sz="1400" dirty="0"/>
          </a:p>
        </p:txBody>
      </p:sp>
      <p:sp>
        <p:nvSpPr>
          <p:cNvPr id="21" name="Text 19"/>
          <p:cNvSpPr txBox="1"/>
          <p:nvPr/>
        </p:nvSpPr>
        <p:spPr>
          <a:xfrm>
            <a:off x="7726680" y="1947672"/>
            <a:ext cx="3931920" cy="29260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Quoi : npm, pip, docker, github-actions…</a:t>
            </a:r>
            <a:endParaRPr lang="en-US" sz="1400" dirty="0"/>
          </a:p>
        </p:txBody>
      </p:sp>
      <p:sp>
        <p:nvSpPr>
          <p:cNvPr id="22" name="Shape 20"/>
          <p:cNvSpPr/>
          <p:nvPr/>
        </p:nvSpPr>
        <p:spPr>
          <a:xfrm>
            <a:off x="7223760" y="2423160"/>
            <a:ext cx="365760" cy="365760"/>
          </a:xfrm>
          <a:prstGeom prst="ellipse">
            <a:avLst/>
          </a:prstGeom>
          <a:solidFill>
            <a:srgbClr val="9A5B00"/>
          </a:solidFill>
          <a:ln w="12700">
            <a:solidFill>
              <a:srgbClr val="9A5B00"/>
            </a:solidFill>
            <a:prstDash val="solid"/>
          </a:ln>
        </p:spPr>
      </p:sp>
      <p:sp>
        <p:nvSpPr>
          <p:cNvPr id="23" name="Text 21"/>
          <p:cNvSpPr txBox="1"/>
          <p:nvPr/>
        </p:nvSpPr>
        <p:spPr>
          <a:xfrm>
            <a:off x="7223760" y="24231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4" name="Text 22"/>
          <p:cNvSpPr txBox="1"/>
          <p:nvPr/>
        </p:nvSpPr>
        <p:spPr>
          <a:xfrm>
            <a:off x="7726680" y="2340864"/>
            <a:ext cx="3931920" cy="274320"/>
          </a:xfrm>
          <a:prstGeom prst="rect">
            <a:avLst/>
          </a:prstGeom>
          <a:noFill/>
          <a:ln/>
        </p:spPr>
        <p:txBody>
          <a:bodyPr wrap="square" lIns="0" tIns="0" rIns="0" bIns="0" rtlCol="0" anchor="ctr"/>
          <a:lstStyle/>
          <a:p>
            <a:pPr indent="0" marL="0">
              <a:buNone/>
            </a:pPr>
            <a:r>
              <a:rPr lang="en-US" sz="1400" b="1" dirty="0">
                <a:solidFill>
                  <a:srgbClr val="0B1F33"/>
                </a:solidFill>
                <a:latin typeface="Consolas" pitchFamily="34" charset="0"/>
                <a:ea typeface="Consolas" pitchFamily="34" charset="-122"/>
                <a:cs typeface="Consolas" pitchFamily="34" charset="-120"/>
              </a:rPr>
              <a:t>directory</a:t>
            </a:r>
            <a:endParaRPr lang="en-US" sz="1400" dirty="0"/>
          </a:p>
        </p:txBody>
      </p:sp>
      <p:sp>
        <p:nvSpPr>
          <p:cNvPr id="25" name="Text 23"/>
          <p:cNvSpPr txBox="1"/>
          <p:nvPr/>
        </p:nvSpPr>
        <p:spPr>
          <a:xfrm>
            <a:off x="7726680" y="2615184"/>
            <a:ext cx="3931920" cy="29260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Où : le dossier du package.json</a:t>
            </a:r>
            <a:endParaRPr lang="en-US" sz="1400" dirty="0"/>
          </a:p>
        </p:txBody>
      </p:sp>
      <p:sp>
        <p:nvSpPr>
          <p:cNvPr id="26" name="Shape 24"/>
          <p:cNvSpPr/>
          <p:nvPr/>
        </p:nvSpPr>
        <p:spPr>
          <a:xfrm>
            <a:off x="7223760" y="3090672"/>
            <a:ext cx="365760" cy="365760"/>
          </a:xfrm>
          <a:prstGeom prst="ellipse">
            <a:avLst/>
          </a:prstGeom>
          <a:solidFill>
            <a:srgbClr val="0E7C86"/>
          </a:solidFill>
          <a:ln w="12700">
            <a:solidFill>
              <a:srgbClr val="0E7C86"/>
            </a:solidFill>
            <a:prstDash val="solid"/>
          </a:ln>
        </p:spPr>
      </p:sp>
      <p:sp>
        <p:nvSpPr>
          <p:cNvPr id="27" name="Text 25"/>
          <p:cNvSpPr txBox="1"/>
          <p:nvPr/>
        </p:nvSpPr>
        <p:spPr>
          <a:xfrm>
            <a:off x="7223760" y="30906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726680" y="3008376"/>
            <a:ext cx="3931920" cy="274320"/>
          </a:xfrm>
          <a:prstGeom prst="rect">
            <a:avLst/>
          </a:prstGeom>
          <a:noFill/>
          <a:ln/>
        </p:spPr>
        <p:txBody>
          <a:bodyPr wrap="square" lIns="0" tIns="0" rIns="0" bIns="0" rtlCol="0" anchor="ctr"/>
          <a:lstStyle/>
          <a:p>
            <a:pPr indent="0" marL="0">
              <a:buNone/>
            </a:pPr>
            <a:r>
              <a:rPr lang="en-US" sz="1400" b="1" dirty="0">
                <a:solidFill>
                  <a:srgbClr val="0B1F33"/>
                </a:solidFill>
                <a:latin typeface="Consolas" pitchFamily="34" charset="0"/>
                <a:ea typeface="Consolas" pitchFamily="34" charset="-122"/>
                <a:cs typeface="Consolas" pitchFamily="34" charset="-120"/>
              </a:rPr>
              <a:t>schedule</a:t>
            </a:r>
            <a:endParaRPr lang="en-US" sz="1400" dirty="0"/>
          </a:p>
        </p:txBody>
      </p:sp>
      <p:sp>
        <p:nvSpPr>
          <p:cNvPr id="29" name="Text 27"/>
          <p:cNvSpPr txBox="1"/>
          <p:nvPr/>
        </p:nvSpPr>
        <p:spPr>
          <a:xfrm>
            <a:off x="7726680" y="3282696"/>
            <a:ext cx="3931920" cy="29260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Quand : daily, weekly, monthly…</a:t>
            </a:r>
            <a:endParaRPr lang="en-US" sz="1400" dirty="0"/>
          </a:p>
        </p:txBody>
      </p:sp>
      <p:sp>
        <p:nvSpPr>
          <p:cNvPr id="30" name="Shape 28"/>
          <p:cNvSpPr/>
          <p:nvPr/>
        </p:nvSpPr>
        <p:spPr>
          <a:xfrm>
            <a:off x="7223760" y="3758184"/>
            <a:ext cx="365760" cy="365760"/>
          </a:xfrm>
          <a:prstGeom prst="ellipse">
            <a:avLst/>
          </a:prstGeom>
          <a:solidFill>
            <a:srgbClr val="2E9E55"/>
          </a:solidFill>
          <a:ln w="12700">
            <a:solidFill>
              <a:srgbClr val="2E9E55"/>
            </a:solidFill>
            <a:prstDash val="solid"/>
          </a:ln>
        </p:spPr>
      </p:sp>
      <p:sp>
        <p:nvSpPr>
          <p:cNvPr id="31" name="Text 29"/>
          <p:cNvSpPr txBox="1"/>
          <p:nvPr/>
        </p:nvSpPr>
        <p:spPr>
          <a:xfrm>
            <a:off x="7223760" y="37581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2" name="Text 30"/>
          <p:cNvSpPr txBox="1"/>
          <p:nvPr/>
        </p:nvSpPr>
        <p:spPr>
          <a:xfrm>
            <a:off x="7726680" y="3675888"/>
            <a:ext cx="3931920" cy="274320"/>
          </a:xfrm>
          <a:prstGeom prst="rect">
            <a:avLst/>
          </a:prstGeom>
          <a:noFill/>
          <a:ln/>
        </p:spPr>
        <p:txBody>
          <a:bodyPr wrap="square" lIns="0" tIns="0" rIns="0" bIns="0" rtlCol="0" anchor="ctr"/>
          <a:lstStyle/>
          <a:p>
            <a:pPr indent="0" marL="0">
              <a:buNone/>
            </a:pPr>
            <a:r>
              <a:rPr lang="en-US" sz="1400" b="1" dirty="0">
                <a:solidFill>
                  <a:srgbClr val="0B1F33"/>
                </a:solidFill>
                <a:latin typeface="Consolas" pitchFamily="34" charset="0"/>
                <a:ea typeface="Consolas" pitchFamily="34" charset="-122"/>
                <a:cs typeface="Consolas" pitchFamily="34" charset="-120"/>
              </a:rPr>
              <a:t>open-pull-requests-limit</a:t>
            </a:r>
            <a:endParaRPr lang="en-US" sz="1400" dirty="0"/>
          </a:p>
        </p:txBody>
      </p:sp>
      <p:sp>
        <p:nvSpPr>
          <p:cNvPr id="33" name="Text 31"/>
          <p:cNvSpPr txBox="1"/>
          <p:nvPr/>
        </p:nvSpPr>
        <p:spPr>
          <a:xfrm>
            <a:off x="7726680" y="3950208"/>
            <a:ext cx="3931920" cy="29260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Combien de PR de version à la fois (défaut : 5)</a:t>
            </a:r>
            <a:endParaRPr lang="en-US" sz="1400" dirty="0"/>
          </a:p>
        </p:txBody>
      </p:sp>
      <p:sp>
        <p:nvSpPr>
          <p:cNvPr id="34" name="Shape 32"/>
          <p:cNvSpPr/>
          <p:nvPr/>
        </p:nvSpPr>
        <p:spPr>
          <a:xfrm>
            <a:off x="7223760" y="4425696"/>
            <a:ext cx="365760" cy="365760"/>
          </a:xfrm>
          <a:prstGeom prst="ellipse">
            <a:avLst/>
          </a:prstGeom>
          <a:solidFill>
            <a:srgbClr val="6F42C1"/>
          </a:solidFill>
          <a:ln w="12700">
            <a:solidFill>
              <a:srgbClr val="6F42C1"/>
            </a:solidFill>
            <a:prstDash val="solid"/>
          </a:ln>
        </p:spPr>
      </p:sp>
      <p:sp>
        <p:nvSpPr>
          <p:cNvPr id="35" name="Text 33"/>
          <p:cNvSpPr txBox="1"/>
          <p:nvPr/>
        </p:nvSpPr>
        <p:spPr>
          <a:xfrm>
            <a:off x="7223760" y="44256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6" name="Text 34"/>
          <p:cNvSpPr txBox="1"/>
          <p:nvPr/>
        </p:nvSpPr>
        <p:spPr>
          <a:xfrm>
            <a:off x="7726680" y="4343400"/>
            <a:ext cx="3931920" cy="274320"/>
          </a:xfrm>
          <a:prstGeom prst="rect">
            <a:avLst/>
          </a:prstGeom>
          <a:noFill/>
          <a:ln/>
        </p:spPr>
        <p:txBody>
          <a:bodyPr wrap="square" lIns="0" tIns="0" rIns="0" bIns="0" rtlCol="0" anchor="ctr"/>
          <a:lstStyle/>
          <a:p>
            <a:pPr indent="0" marL="0">
              <a:buNone/>
            </a:pPr>
            <a:r>
              <a:rPr lang="en-US" sz="1400" b="1" dirty="0">
                <a:solidFill>
                  <a:srgbClr val="0B1F33"/>
                </a:solidFill>
                <a:latin typeface="Consolas" pitchFamily="34" charset="0"/>
                <a:ea typeface="Consolas" pitchFamily="34" charset="-122"/>
                <a:cs typeface="Consolas" pitchFamily="34" charset="-120"/>
              </a:rPr>
              <a:t>groups</a:t>
            </a:r>
            <a:endParaRPr lang="en-US" sz="1400" dirty="0"/>
          </a:p>
        </p:txBody>
      </p:sp>
      <p:sp>
        <p:nvSpPr>
          <p:cNvPr id="37" name="Text 35"/>
          <p:cNvSpPr txBox="1"/>
          <p:nvPr/>
        </p:nvSpPr>
        <p:spPr>
          <a:xfrm>
            <a:off x="7726680" y="4617720"/>
            <a:ext cx="3931920" cy="29260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Ensemble : les paquets liés dans une seule PR</a:t>
            </a:r>
            <a:endParaRPr lang="en-US" sz="1400" dirty="0"/>
          </a:p>
        </p:txBody>
      </p:sp>
      <p:sp>
        <p:nvSpPr>
          <p:cNvPr id="38" name="Shape 36"/>
          <p:cNvSpPr/>
          <p:nvPr/>
        </p:nvSpPr>
        <p:spPr>
          <a:xfrm>
            <a:off x="7223760" y="5093208"/>
            <a:ext cx="365760" cy="365760"/>
          </a:xfrm>
          <a:prstGeom prst="ellipse">
            <a:avLst/>
          </a:prstGeom>
          <a:solidFill>
            <a:srgbClr val="0B1F33"/>
          </a:solidFill>
          <a:ln w="12700">
            <a:solidFill>
              <a:srgbClr val="0B1F33"/>
            </a:solidFill>
            <a:prstDash val="solid"/>
          </a:ln>
        </p:spPr>
      </p:sp>
      <p:sp>
        <p:nvSpPr>
          <p:cNvPr id="39" name="Text 37"/>
          <p:cNvSpPr txBox="1"/>
          <p:nvPr/>
        </p:nvSpPr>
        <p:spPr>
          <a:xfrm>
            <a:off x="7223760" y="509320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0" name="Text 38"/>
          <p:cNvSpPr txBox="1"/>
          <p:nvPr/>
        </p:nvSpPr>
        <p:spPr>
          <a:xfrm>
            <a:off x="7726680" y="5010912"/>
            <a:ext cx="3931920" cy="274320"/>
          </a:xfrm>
          <a:prstGeom prst="rect">
            <a:avLst/>
          </a:prstGeom>
          <a:noFill/>
          <a:ln/>
        </p:spPr>
        <p:txBody>
          <a:bodyPr wrap="square" lIns="0" tIns="0" rIns="0" bIns="0" rtlCol="0" anchor="ctr"/>
          <a:lstStyle/>
          <a:p>
            <a:pPr indent="0" marL="0">
              <a:buNone/>
            </a:pPr>
            <a:r>
              <a:rPr lang="en-US" sz="1400" b="1" dirty="0">
                <a:solidFill>
                  <a:srgbClr val="0B1F33"/>
                </a:solidFill>
                <a:latin typeface="Consolas" pitchFamily="34" charset="0"/>
                <a:ea typeface="Consolas" pitchFamily="34" charset="-122"/>
                <a:cs typeface="Consolas" pitchFamily="34" charset="-120"/>
              </a:rPr>
              <a:t>ignore</a:t>
            </a:r>
            <a:endParaRPr lang="en-US" sz="1400" dirty="0"/>
          </a:p>
        </p:txBody>
      </p:sp>
      <p:sp>
        <p:nvSpPr>
          <p:cNvPr id="41" name="Text 39"/>
          <p:cNvSpPr txBox="1"/>
          <p:nvPr/>
        </p:nvSpPr>
        <p:spPr>
          <a:xfrm>
            <a:off x="7726680" y="5285232"/>
            <a:ext cx="3931920" cy="292608"/>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Sauf : ce qu'on ne veut pas (majeures d'ESLint)</a:t>
            </a:r>
            <a:endParaRPr lang="en-US" sz="1400" dirty="0"/>
          </a:p>
        </p:txBody>
      </p:sp>
      <p:sp>
        <p:nvSpPr>
          <p:cNvPr id="42" name="Shape 40"/>
          <p:cNvSpPr/>
          <p:nvPr/>
        </p:nvSpPr>
        <p:spPr>
          <a:xfrm>
            <a:off x="7223760" y="5669280"/>
            <a:ext cx="4416552" cy="548640"/>
          </a:xfrm>
          <a:prstGeom prst="roundRect">
            <a:avLst>
              <a:gd name="adj" fmla="val 13333"/>
            </a:avLst>
          </a:prstGeom>
          <a:solidFill>
            <a:srgbClr val="FDF3DC"/>
          </a:solidFill>
          <a:ln w="9525">
            <a:solidFill>
              <a:srgbClr val="E8A317"/>
            </a:solidFill>
            <a:prstDash val="solid"/>
          </a:ln>
        </p:spPr>
      </p:sp>
      <p:sp>
        <p:nvSpPr>
          <p:cNvPr id="43" name="Text 41"/>
          <p:cNvSpPr txBox="1"/>
          <p:nvPr/>
        </p:nvSpPr>
        <p:spPr>
          <a:xfrm>
            <a:off x="7360920" y="5669280"/>
            <a:ext cx="4206240" cy="54864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Sans ce fichier : alertes et PR de sécurité quand même. Avec : version updates + contrôle fin.</a:t>
            </a:r>
            <a:endParaRPr lang="en-US" sz="1200" dirty="0"/>
          </a:p>
        </p:txBody>
      </p:sp>
      <p:sp>
        <p:nvSpPr>
          <p:cNvPr id="44" name="Text 42"/>
          <p:cNvSpPr txBox="1"/>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rgbClr val="5B6B7B"/>
                </a:solidFill>
                <a:latin typeface="Calibri" pitchFamily="34" charset="0"/>
                <a:ea typeface="Calibri" pitchFamily="34" charset="-122"/>
                <a:cs typeface="Calibri" pitchFamily="34" charset="-120"/>
              </a:rPr>
              <a:t>Dependabot · Cours DevOps · M1 SIGLIS</a:t>
            </a:r>
            <a:endParaRPr lang="en-US" sz="1000" dirty="0"/>
          </a:p>
        </p:txBody>
      </p:sp>
      <p:sp>
        <p:nvSpPr>
          <p:cNvPr id="45" name="Text 4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1000" dirty="0">
                <a:solidFill>
                  <a:srgbClr val="5B6B7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731520" y="731520"/>
            <a:ext cx="7315200" cy="320040"/>
          </a:xfrm>
          <a:prstGeom prst="rect">
            <a:avLst/>
          </a:prstGeom>
          <a:noFill/>
          <a:ln/>
        </p:spPr>
        <p:txBody>
          <a:bodyPr wrap="square" lIns="0" tIns="0" rIns="0" bIns="0" rtlCol="0" anchor="ctr"/>
          <a:lstStyle/>
          <a:p>
            <a:pPr indent="0" marL="0">
              <a:buNone/>
            </a:pPr>
            <a:r>
              <a:rPr lang="en-US" sz="1400" b="1" spc="300" kern="0" dirty="0">
                <a:solidFill>
                  <a:srgbClr val="E8A317"/>
                </a:solidFill>
                <a:latin typeface="Calibri" pitchFamily="34" charset="0"/>
                <a:ea typeface="Calibri" pitchFamily="34" charset="-122"/>
                <a:cs typeface="Calibri" pitchFamily="34" charset="-120"/>
              </a:rPr>
              <a:t>PLACE À LA DÉMO</a:t>
            </a:r>
            <a:endParaRPr lang="en-US" sz="1400" dirty="0"/>
          </a:p>
        </p:txBody>
      </p:sp>
      <p:sp>
        <p:nvSpPr>
          <p:cNvPr id="3" name="Text 1"/>
          <p:cNvSpPr txBox="1"/>
          <p:nvPr/>
        </p:nvSpPr>
        <p:spPr>
          <a:xfrm>
            <a:off x="731520" y="1051560"/>
            <a:ext cx="822960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Démo en direct</a:t>
            </a:r>
            <a:endParaRPr lang="en-US" sz="5400" dirty="0"/>
          </a:p>
        </p:txBody>
      </p:sp>
      <p:pic>
        <p:nvPicPr>
          <p:cNvPr id="4" name="Image 0" descr="preencoded.png">    </p:cNvPr>
          <p:cNvPicPr>
            <a:picLocks noChangeAspect="1"/>
          </p:cNvPicPr>
          <p:nvPr/>
        </p:nvPicPr>
        <p:blipFill>
          <a:blip r:embed="rId1"/>
          <a:stretch>
            <a:fillRect/>
          </a:stretch>
        </p:blipFill>
        <p:spPr>
          <a:xfrm>
            <a:off x="731520" y="2176272"/>
            <a:ext cx="329184" cy="329184"/>
          </a:xfrm>
          <a:prstGeom prst="rect">
            <a:avLst/>
          </a:prstGeom>
        </p:spPr>
      </p:pic>
      <p:sp>
        <p:nvSpPr>
          <p:cNvPr id="5" name="Text 2"/>
          <p:cNvSpPr txBox="1"/>
          <p:nvPr/>
        </p:nvSpPr>
        <p:spPr>
          <a:xfrm>
            <a:off x="1188720" y="2148840"/>
            <a:ext cx="8229600" cy="384048"/>
          </a:xfrm>
          <a:prstGeom prst="rect">
            <a:avLst/>
          </a:prstGeom>
          <a:noFill/>
          <a:ln/>
        </p:spPr>
        <p:txBody>
          <a:bodyPr wrap="square" lIns="0" tIns="0" rIns="0" bIns="0" rtlCol="0" anchor="ctr"/>
          <a:lstStyle/>
          <a:p>
            <a:pPr indent="0" marL="0">
              <a:buNone/>
            </a:pPr>
            <a:r>
              <a:rPr lang="en-US" sz="1800" dirty="0">
                <a:solidFill>
                  <a:srgbClr val="B8C7D9"/>
                </a:solidFill>
                <a:latin typeface="Consolas" pitchFamily="34" charset="0"/>
                <a:ea typeface="Consolas" pitchFamily="34" charset="-122"/>
                <a:cs typeface="Consolas" pitchFamily="34" charset="-120"/>
              </a:rPr>
              <a:t>github.com/Diakayeteba/demo-dependabotv1</a:t>
            </a:r>
            <a:endParaRPr lang="en-US" sz="1800" dirty="0"/>
          </a:p>
        </p:txBody>
      </p:sp>
      <p:sp>
        <p:nvSpPr>
          <p:cNvPr id="6" name="Shape 3"/>
          <p:cNvSpPr/>
          <p:nvPr/>
        </p:nvSpPr>
        <p:spPr>
          <a:xfrm>
            <a:off x="731520" y="3063240"/>
            <a:ext cx="2560320" cy="2331720"/>
          </a:xfrm>
          <a:prstGeom prst="roundRect">
            <a:avLst>
              <a:gd name="adj" fmla="val 3137"/>
            </a:avLst>
          </a:prstGeom>
          <a:solidFill>
            <a:srgbClr val="132D47"/>
          </a:solidFill>
          <a:ln w="19050">
            <a:solidFill>
              <a:srgbClr val="C7353F"/>
            </a:solidFill>
            <a:prstDash val="solid"/>
          </a:ln>
        </p:spPr>
      </p:sp>
      <p:sp>
        <p:nvSpPr>
          <p:cNvPr id="7" name="Shape 4"/>
          <p:cNvSpPr/>
          <p:nvPr/>
        </p:nvSpPr>
        <p:spPr>
          <a:xfrm>
            <a:off x="960120" y="3319272"/>
            <a:ext cx="548640" cy="548640"/>
          </a:xfrm>
          <a:prstGeom prst="ellipse">
            <a:avLst/>
          </a:prstGeom>
          <a:solidFill>
            <a:srgbClr val="C7353F"/>
          </a:solidFill>
          <a:ln w="12700">
            <a:solidFill>
              <a:srgbClr val="C7353F"/>
            </a:solidFill>
            <a:prstDash val="solid"/>
          </a:ln>
        </p:spPr>
      </p:sp>
      <p:sp>
        <p:nvSpPr>
          <p:cNvPr id="8" name="Text 5"/>
          <p:cNvSpPr txBox="1"/>
          <p:nvPr/>
        </p:nvSpPr>
        <p:spPr>
          <a:xfrm>
            <a:off x="960120" y="331927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960120" y="3995928"/>
            <a:ext cx="2103120" cy="365760"/>
          </a:xfrm>
          <a:prstGeom prst="rect">
            <a:avLst/>
          </a:prstGeom>
          <a:noFill/>
          <a:ln/>
        </p:spPr>
        <p:txBody>
          <a:bodyPr wrap="square" lIns="0" tIns="0" rIns="0" bIns="0" rtlCol="0" anchor="ctr"/>
          <a:lstStyle/>
          <a:p>
            <a:pPr indent="0" marL="0">
              <a:buNone/>
            </a:pPr>
            <a:r>
              <a:rPr lang="en-US" sz="1700" b="1" dirty="0">
                <a:solidFill>
                  <a:srgbClr val="F07A83"/>
                </a:solidFill>
                <a:latin typeface="Calibri" pitchFamily="34" charset="0"/>
                <a:ea typeface="Calibri" pitchFamily="34" charset="-122"/>
                <a:cs typeface="Calibri" pitchFamily="34" charset="-120"/>
              </a:rPr>
              <a:t>DÉTECTER</a:t>
            </a:r>
            <a:endParaRPr lang="en-US" sz="1700" dirty="0"/>
          </a:p>
        </p:txBody>
      </p:sp>
      <p:sp>
        <p:nvSpPr>
          <p:cNvPr id="10" name="Text 7"/>
          <p:cNvSpPr txBox="1"/>
          <p:nvPr/>
        </p:nvSpPr>
        <p:spPr>
          <a:xfrm>
            <a:off x="960120" y="4389120"/>
            <a:ext cx="2103120" cy="8686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Onglet Security : les alertes sur axios 0.18.0</a:t>
            </a:r>
            <a:endParaRPr lang="en-US" sz="1500" dirty="0"/>
          </a:p>
        </p:txBody>
      </p:sp>
      <p:sp>
        <p:nvSpPr>
          <p:cNvPr id="11" name="Shape 8"/>
          <p:cNvSpPr/>
          <p:nvPr/>
        </p:nvSpPr>
        <p:spPr>
          <a:xfrm>
            <a:off x="3493008" y="3063240"/>
            <a:ext cx="2560320" cy="2331720"/>
          </a:xfrm>
          <a:prstGeom prst="roundRect">
            <a:avLst>
              <a:gd name="adj" fmla="val 3137"/>
            </a:avLst>
          </a:prstGeom>
          <a:solidFill>
            <a:srgbClr val="132D47"/>
          </a:solidFill>
          <a:ln w="19050">
            <a:solidFill>
              <a:srgbClr val="E8A317"/>
            </a:solidFill>
            <a:prstDash val="solid"/>
          </a:ln>
        </p:spPr>
      </p:sp>
      <p:sp>
        <p:nvSpPr>
          <p:cNvPr id="12" name="Shape 9"/>
          <p:cNvSpPr/>
          <p:nvPr/>
        </p:nvSpPr>
        <p:spPr>
          <a:xfrm>
            <a:off x="3721608" y="3319272"/>
            <a:ext cx="548640" cy="548640"/>
          </a:xfrm>
          <a:prstGeom prst="ellipse">
            <a:avLst/>
          </a:prstGeom>
          <a:solidFill>
            <a:srgbClr val="E8A317"/>
          </a:solidFill>
          <a:ln w="12700">
            <a:solidFill>
              <a:srgbClr val="E8A317"/>
            </a:solidFill>
            <a:prstDash val="solid"/>
          </a:ln>
        </p:spPr>
      </p:sp>
      <p:sp>
        <p:nvSpPr>
          <p:cNvPr id="13" name="Text 10"/>
          <p:cNvSpPr txBox="1"/>
          <p:nvPr/>
        </p:nvSpPr>
        <p:spPr>
          <a:xfrm>
            <a:off x="3721608" y="3319272"/>
            <a:ext cx="548640" cy="548640"/>
          </a:xfrm>
          <a:prstGeom prst="rect">
            <a:avLst/>
          </a:prstGeom>
          <a:noFill/>
          <a:ln/>
        </p:spPr>
        <p:txBody>
          <a:bodyPr wrap="square" lIns="0" tIns="0" rIns="0" bIns="0" rtlCol="0" anchor="ctr"/>
          <a:lstStyle/>
          <a:p>
            <a:pPr algn="ctr" indent="0" marL="0">
              <a:buNone/>
            </a:pPr>
            <a:r>
              <a:rPr lang="en-US" sz="2000" b="1" dirty="0">
                <a:solidFill>
                  <a:srgbClr val="0B1F33"/>
                </a:solidFill>
                <a:latin typeface="Calibri" pitchFamily="34" charset="0"/>
                <a:ea typeface="Calibri" pitchFamily="34" charset="-122"/>
                <a:cs typeface="Calibri" pitchFamily="34" charset="-120"/>
              </a:rPr>
              <a:t>2</a:t>
            </a:r>
            <a:endParaRPr lang="en-US" sz="2000" dirty="0"/>
          </a:p>
        </p:txBody>
      </p:sp>
      <p:sp>
        <p:nvSpPr>
          <p:cNvPr id="14" name="Text 11"/>
          <p:cNvSpPr txBox="1"/>
          <p:nvPr/>
        </p:nvSpPr>
        <p:spPr>
          <a:xfrm>
            <a:off x="3721608" y="3995928"/>
            <a:ext cx="2103120" cy="365760"/>
          </a:xfrm>
          <a:prstGeom prst="rect">
            <a:avLst/>
          </a:prstGeom>
          <a:noFill/>
          <a:ln/>
        </p:spPr>
        <p:txBody>
          <a:bodyPr wrap="square" lIns="0" tIns="0" rIns="0" bIns="0" rtlCol="0" anchor="ctr"/>
          <a:lstStyle/>
          <a:p>
            <a:pPr indent="0" marL="0">
              <a:buNone/>
            </a:pPr>
            <a:r>
              <a:rPr lang="en-US" sz="1700" b="1" dirty="0">
                <a:solidFill>
                  <a:srgbClr val="E8A317"/>
                </a:solidFill>
                <a:latin typeface="Calibri" pitchFamily="34" charset="0"/>
                <a:ea typeface="Calibri" pitchFamily="34" charset="-122"/>
                <a:cs typeface="Calibri" pitchFamily="34" charset="-120"/>
              </a:rPr>
              <a:t>PROPOSER</a:t>
            </a:r>
            <a:endParaRPr lang="en-US" sz="1700" dirty="0"/>
          </a:p>
        </p:txBody>
      </p:sp>
      <p:sp>
        <p:nvSpPr>
          <p:cNvPr id="15" name="Text 12"/>
          <p:cNvSpPr txBox="1"/>
          <p:nvPr/>
        </p:nvSpPr>
        <p:spPr>
          <a:xfrm>
            <a:off x="3721608" y="4389120"/>
            <a:ext cx="2103120" cy="8686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La PR de sécurité : axios 0.18.0 → 0.33.0</a:t>
            </a:r>
            <a:endParaRPr lang="en-US" sz="1500" dirty="0"/>
          </a:p>
        </p:txBody>
      </p:sp>
      <p:sp>
        <p:nvSpPr>
          <p:cNvPr id="16" name="Shape 13"/>
          <p:cNvSpPr/>
          <p:nvPr/>
        </p:nvSpPr>
        <p:spPr>
          <a:xfrm>
            <a:off x="6254496" y="3063240"/>
            <a:ext cx="2560320" cy="2331720"/>
          </a:xfrm>
          <a:prstGeom prst="roundRect">
            <a:avLst>
              <a:gd name="adj" fmla="val 3137"/>
            </a:avLst>
          </a:prstGeom>
          <a:solidFill>
            <a:srgbClr val="132D47"/>
          </a:solidFill>
          <a:ln w="19050">
            <a:solidFill>
              <a:srgbClr val="0E7C86"/>
            </a:solidFill>
            <a:prstDash val="solid"/>
          </a:ln>
        </p:spPr>
      </p:sp>
      <p:sp>
        <p:nvSpPr>
          <p:cNvPr id="17" name="Shape 14"/>
          <p:cNvSpPr/>
          <p:nvPr/>
        </p:nvSpPr>
        <p:spPr>
          <a:xfrm>
            <a:off x="6483096" y="3319272"/>
            <a:ext cx="548640" cy="548640"/>
          </a:xfrm>
          <a:prstGeom prst="ellipse">
            <a:avLst/>
          </a:prstGeom>
          <a:solidFill>
            <a:srgbClr val="0E7C86"/>
          </a:solidFill>
          <a:ln w="12700">
            <a:solidFill>
              <a:srgbClr val="0E7C86"/>
            </a:solidFill>
            <a:prstDash val="solid"/>
          </a:ln>
        </p:spPr>
      </p:sp>
      <p:sp>
        <p:nvSpPr>
          <p:cNvPr id="18" name="Text 15"/>
          <p:cNvSpPr txBox="1"/>
          <p:nvPr/>
        </p:nvSpPr>
        <p:spPr>
          <a:xfrm>
            <a:off x="6483096" y="331927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Text 16"/>
          <p:cNvSpPr txBox="1"/>
          <p:nvPr/>
        </p:nvSpPr>
        <p:spPr>
          <a:xfrm>
            <a:off x="6483096" y="3995928"/>
            <a:ext cx="2103120" cy="365760"/>
          </a:xfrm>
          <a:prstGeom prst="rect">
            <a:avLst/>
          </a:prstGeom>
          <a:noFill/>
          <a:ln/>
        </p:spPr>
        <p:txBody>
          <a:bodyPr wrap="square" lIns="0" tIns="0" rIns="0" bIns="0" rtlCol="0" anchor="ctr"/>
          <a:lstStyle/>
          <a:p>
            <a:pPr indent="0" marL="0">
              <a:buNone/>
            </a:pPr>
            <a:r>
              <a:rPr lang="en-US" sz="1700" b="1" dirty="0">
                <a:solidFill>
                  <a:srgbClr val="5FD0D8"/>
                </a:solidFill>
                <a:latin typeface="Calibri" pitchFamily="34" charset="0"/>
                <a:ea typeface="Calibri" pitchFamily="34" charset="-122"/>
                <a:cs typeface="Calibri" pitchFamily="34" charset="-120"/>
              </a:rPr>
              <a:t>VÉRIFIER</a:t>
            </a:r>
            <a:endParaRPr lang="en-US" sz="1700" dirty="0"/>
          </a:p>
        </p:txBody>
      </p:sp>
      <p:sp>
        <p:nvSpPr>
          <p:cNvPr id="20" name="Text 17"/>
          <p:cNvSpPr txBox="1"/>
          <p:nvPr/>
        </p:nvSpPr>
        <p:spPr>
          <a:xfrm>
            <a:off x="6483096" y="4389120"/>
            <a:ext cx="2103120" cy="8686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CI sur les PR : vert ou rouge… et pourquoi</a:t>
            </a:r>
            <a:endParaRPr lang="en-US" sz="1500" dirty="0"/>
          </a:p>
        </p:txBody>
      </p:sp>
      <p:sp>
        <p:nvSpPr>
          <p:cNvPr id="21" name="Shape 18"/>
          <p:cNvSpPr/>
          <p:nvPr/>
        </p:nvSpPr>
        <p:spPr>
          <a:xfrm>
            <a:off x="9015984" y="3063240"/>
            <a:ext cx="2560320" cy="2331720"/>
          </a:xfrm>
          <a:prstGeom prst="roundRect">
            <a:avLst>
              <a:gd name="adj" fmla="val 3137"/>
            </a:avLst>
          </a:prstGeom>
          <a:solidFill>
            <a:srgbClr val="132D47"/>
          </a:solidFill>
          <a:ln w="19050">
            <a:solidFill>
              <a:srgbClr val="2E9E55"/>
            </a:solidFill>
            <a:prstDash val="solid"/>
          </a:ln>
        </p:spPr>
      </p:sp>
      <p:sp>
        <p:nvSpPr>
          <p:cNvPr id="22" name="Shape 19"/>
          <p:cNvSpPr/>
          <p:nvPr/>
        </p:nvSpPr>
        <p:spPr>
          <a:xfrm>
            <a:off x="9244584" y="3319272"/>
            <a:ext cx="548640" cy="548640"/>
          </a:xfrm>
          <a:prstGeom prst="ellipse">
            <a:avLst/>
          </a:prstGeom>
          <a:solidFill>
            <a:srgbClr val="2E9E55"/>
          </a:solidFill>
          <a:ln w="12700">
            <a:solidFill>
              <a:srgbClr val="2E9E55"/>
            </a:solidFill>
            <a:prstDash val="solid"/>
          </a:ln>
        </p:spPr>
      </p:sp>
      <p:sp>
        <p:nvSpPr>
          <p:cNvPr id="23" name="Text 20"/>
          <p:cNvSpPr txBox="1"/>
          <p:nvPr/>
        </p:nvSpPr>
        <p:spPr>
          <a:xfrm>
            <a:off x="9244584" y="331927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1"/>
          <p:cNvSpPr txBox="1"/>
          <p:nvPr/>
        </p:nvSpPr>
        <p:spPr>
          <a:xfrm>
            <a:off x="9244584" y="3995928"/>
            <a:ext cx="2103120" cy="365760"/>
          </a:xfrm>
          <a:prstGeom prst="rect">
            <a:avLst/>
          </a:prstGeom>
          <a:noFill/>
          <a:ln/>
        </p:spPr>
        <p:txBody>
          <a:bodyPr wrap="square" lIns="0" tIns="0" rIns="0" bIns="0" rtlCol="0" anchor="ctr"/>
          <a:lstStyle/>
          <a:p>
            <a:pPr indent="0" marL="0">
              <a:buNone/>
            </a:pPr>
            <a:r>
              <a:rPr lang="en-US" sz="1700" b="1" dirty="0">
                <a:solidFill>
                  <a:srgbClr val="7FD99B"/>
                </a:solidFill>
                <a:latin typeface="Calibri" pitchFamily="34" charset="0"/>
                <a:ea typeface="Calibri" pitchFamily="34" charset="-122"/>
                <a:cs typeface="Calibri" pitchFamily="34" charset="-120"/>
              </a:rPr>
              <a:t>DÉCIDER</a:t>
            </a:r>
            <a:endParaRPr lang="en-US" sz="1700" dirty="0"/>
          </a:p>
        </p:txBody>
      </p:sp>
      <p:sp>
        <p:nvSpPr>
          <p:cNvPr id="25" name="Text 22"/>
          <p:cNvSpPr txBox="1"/>
          <p:nvPr/>
        </p:nvSpPr>
        <p:spPr>
          <a:xfrm>
            <a:off x="9244584" y="4389120"/>
            <a:ext cx="2103120" cy="8686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Merge d'une PR verte : les alertes se ferment</a:t>
            </a:r>
            <a:endParaRPr lang="en-US" sz="1500" dirty="0"/>
          </a:p>
        </p:txBody>
      </p:sp>
      <p:sp>
        <p:nvSpPr>
          <p:cNvPr id="26" name="Text 23"/>
          <p:cNvSpPr txBox="1"/>
          <p:nvPr/>
        </p:nvSpPr>
        <p:spPr>
          <a:xfrm>
            <a:off x="731520" y="5760720"/>
            <a:ext cx="10515600" cy="365760"/>
          </a:xfrm>
          <a:prstGeom prst="rect">
            <a:avLst/>
          </a:prstGeom>
          <a:noFill/>
          <a:ln/>
        </p:spPr>
        <p:txBody>
          <a:bodyPr wrap="square" lIns="0" tIns="0" rIns="0" bIns="0" rtlCol="0" anchor="ctr"/>
          <a:lstStyle/>
          <a:p>
            <a:pPr indent="0" marL="0">
              <a:buNone/>
            </a:pPr>
            <a:r>
              <a:rPr lang="en-US" sz="1600" i="1" dirty="0">
                <a:solidFill>
                  <a:srgbClr val="B8C7D9"/>
                </a:solidFill>
                <a:latin typeface="Calibri" pitchFamily="34" charset="0"/>
                <a:ea typeface="Calibri" pitchFamily="34" charset="-122"/>
                <a:cs typeface="Calibri" pitchFamily="34" charset="-120"/>
              </a:rPr>
              <a:t>Fil rouge : une seule dépendance, axios, suivie de bout en bout.</a:t>
            </a:r>
            <a:endParaRPr lang="en-US" sz="1600" dirty="0"/>
          </a:p>
        </p:txBody>
      </p:sp>
      <p:sp>
        <p:nvSpPr>
          <p:cNvPr id="27" name="Text 24"/>
          <p:cNvSpPr txBox="1"/>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rgbClr val="B8C7D9"/>
                </a:solidFill>
                <a:latin typeface="Calibri" pitchFamily="34" charset="0"/>
                <a:ea typeface="Calibri" pitchFamily="34" charset="-122"/>
                <a:cs typeface="Calibri" pitchFamily="34" charset="-120"/>
              </a:rPr>
              <a:t>Dependabot · Cours DevOps · M1 SIGLIS</a:t>
            </a:r>
            <a:endParaRPr lang="en-US" sz="1000" dirty="0"/>
          </a:p>
        </p:txBody>
      </p:sp>
      <p:sp>
        <p:nvSpPr>
          <p:cNvPr id="28"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1000" dirty="0">
                <a:solidFill>
                  <a:srgbClr val="B8C7D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ctr"/>
          <a:lstStyle/>
          <a:p>
            <a:pPr indent="0" marL="0">
              <a:buNone/>
            </a:pPr>
            <a:r>
              <a:rPr lang="en-US" sz="1300" b="1" spc="300" kern="0" dirty="0">
                <a:solidFill>
                  <a:srgbClr val="1F7A3D"/>
                </a:solidFill>
                <a:latin typeface="Calibri" pitchFamily="34" charset="0"/>
                <a:ea typeface="Calibri" pitchFamily="34" charset="-122"/>
                <a:cs typeface="Calibri" pitchFamily="34" charset="-120"/>
              </a:rPr>
              <a:t>À RETENIR</a:t>
            </a:r>
            <a:endParaRPr lang="en-US" sz="1300" dirty="0"/>
          </a:p>
        </p:txBody>
      </p:sp>
      <p:sp>
        <p:nvSpPr>
          <p:cNvPr id="3" name="Text 1"/>
          <p:cNvSpPr txBox="1"/>
          <p:nvPr/>
        </p:nvSpPr>
        <p:spPr>
          <a:xfrm>
            <a:off x="548640" y="676656"/>
            <a:ext cx="11064240" cy="777240"/>
          </a:xfrm>
          <a:prstGeom prst="rect">
            <a:avLst/>
          </a:prstGeom>
          <a:noFill/>
          <a:ln/>
        </p:spPr>
        <p:txBody>
          <a:bodyPr wrap="square" lIns="0" tIns="0" rIns="0" bIns="0" rtlCol="0" anchor="ctr"/>
          <a:lstStyle/>
          <a:p>
            <a:pPr indent="0" marL="0">
              <a:buNone/>
            </a:pPr>
            <a:r>
              <a:rPr lang="en-US" sz="3400" b="1" dirty="0">
                <a:solidFill>
                  <a:srgbClr val="0B1F33"/>
                </a:solidFill>
                <a:latin typeface="Calibri" pitchFamily="34" charset="0"/>
                <a:ea typeface="Calibri" pitchFamily="34" charset="-122"/>
                <a:cs typeface="Calibri" pitchFamily="34" charset="-120"/>
              </a:rPr>
              <a:t>Ce qu'il faut retenir</a:t>
            </a:r>
            <a:endParaRPr lang="en-US" sz="3400" dirty="0"/>
          </a:p>
        </p:txBody>
      </p:sp>
      <p:sp>
        <p:nvSpPr>
          <p:cNvPr id="4" name="Shape 2"/>
          <p:cNvSpPr/>
          <p:nvPr/>
        </p:nvSpPr>
        <p:spPr>
          <a:xfrm>
            <a:off x="548640" y="1737360"/>
            <a:ext cx="3474720" cy="1645920"/>
          </a:xfrm>
          <a:prstGeom prst="roundRect">
            <a:avLst>
              <a:gd name="adj" fmla="val 4444"/>
            </a:avLst>
          </a:prstGeom>
          <a:solidFill>
            <a:srgbClr val="FBE9EA"/>
          </a:solidFill>
          <a:ln w="12700">
            <a:solidFill>
              <a:srgbClr val="FBE9EA"/>
            </a:solidFill>
            <a:prstDash val="solid"/>
          </a:ln>
        </p:spPr>
      </p:sp>
      <p:sp>
        <p:nvSpPr>
          <p:cNvPr id="5" name="Shape 3"/>
          <p:cNvSpPr/>
          <p:nvPr/>
        </p:nvSpPr>
        <p:spPr>
          <a:xfrm>
            <a:off x="777240" y="1965960"/>
            <a:ext cx="475488" cy="475488"/>
          </a:xfrm>
          <a:prstGeom prst="ellipse">
            <a:avLst/>
          </a:prstGeom>
          <a:solidFill>
            <a:srgbClr val="C7353F"/>
          </a:solidFill>
          <a:ln w="12700">
            <a:solidFill>
              <a:srgbClr val="C7353F"/>
            </a:solidFill>
            <a:prstDash val="solid"/>
          </a:ln>
        </p:spPr>
      </p:sp>
      <p:sp>
        <p:nvSpPr>
          <p:cNvPr id="6" name="Text 4"/>
          <p:cNvSpPr txBox="1"/>
          <p:nvPr/>
        </p:nvSpPr>
        <p:spPr>
          <a:xfrm>
            <a:off x="777240" y="196596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389888" y="1965960"/>
            <a:ext cx="2468880" cy="475488"/>
          </a:xfrm>
          <a:prstGeom prst="rect">
            <a:avLst/>
          </a:prstGeom>
          <a:noFill/>
          <a:ln/>
        </p:spPr>
        <p:txBody>
          <a:bodyPr wrap="square" lIns="0" tIns="0" rIns="0" bIns="0" rtlCol="0" anchor="ctr"/>
          <a:lstStyle/>
          <a:p>
            <a:pPr indent="0" marL="0">
              <a:buNone/>
            </a:pPr>
            <a:r>
              <a:rPr lang="en-US" sz="1900" b="1" dirty="0">
                <a:solidFill>
                  <a:srgbClr val="C7353F"/>
                </a:solidFill>
                <a:latin typeface="Calibri" pitchFamily="34" charset="0"/>
                <a:ea typeface="Calibri" pitchFamily="34" charset="-122"/>
                <a:cs typeface="Calibri" pitchFamily="34" charset="-120"/>
              </a:rPr>
              <a:t>Détecte et propose</a:t>
            </a:r>
            <a:endParaRPr lang="en-US" sz="1900" dirty="0"/>
          </a:p>
        </p:txBody>
      </p:sp>
      <p:sp>
        <p:nvSpPr>
          <p:cNvPr id="8" name="Text 6"/>
          <p:cNvSpPr txBox="1"/>
          <p:nvPr/>
        </p:nvSpPr>
        <p:spPr>
          <a:xfrm>
            <a:off x="777240" y="2560320"/>
            <a:ext cx="301752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Il ne teste pas et ne fusionne rien seul.</a:t>
            </a:r>
            <a:endParaRPr lang="en-US" sz="1400" dirty="0"/>
          </a:p>
        </p:txBody>
      </p:sp>
      <p:sp>
        <p:nvSpPr>
          <p:cNvPr id="9" name="Shape 7"/>
          <p:cNvSpPr/>
          <p:nvPr/>
        </p:nvSpPr>
        <p:spPr>
          <a:xfrm>
            <a:off x="4251960" y="1737360"/>
            <a:ext cx="3474720" cy="1645920"/>
          </a:xfrm>
          <a:prstGeom prst="roundRect">
            <a:avLst>
              <a:gd name="adj" fmla="val 4444"/>
            </a:avLst>
          </a:prstGeom>
          <a:solidFill>
            <a:srgbClr val="FDF3DC"/>
          </a:solidFill>
          <a:ln w="12700">
            <a:solidFill>
              <a:srgbClr val="FDF3DC"/>
            </a:solidFill>
            <a:prstDash val="solid"/>
          </a:ln>
        </p:spPr>
      </p:sp>
      <p:sp>
        <p:nvSpPr>
          <p:cNvPr id="10" name="Shape 8"/>
          <p:cNvSpPr/>
          <p:nvPr/>
        </p:nvSpPr>
        <p:spPr>
          <a:xfrm>
            <a:off x="4480560" y="1965960"/>
            <a:ext cx="475488" cy="475488"/>
          </a:xfrm>
          <a:prstGeom prst="ellipse">
            <a:avLst/>
          </a:prstGeom>
          <a:solidFill>
            <a:srgbClr val="E8A317"/>
          </a:solidFill>
          <a:ln w="12700">
            <a:solidFill>
              <a:srgbClr val="E8A317"/>
            </a:solidFill>
            <a:prstDash val="solid"/>
          </a:ln>
        </p:spPr>
      </p:sp>
      <p:sp>
        <p:nvSpPr>
          <p:cNvPr id="11" name="Text 9"/>
          <p:cNvSpPr txBox="1"/>
          <p:nvPr/>
        </p:nvSpPr>
        <p:spPr>
          <a:xfrm>
            <a:off x="4480560" y="1965960"/>
            <a:ext cx="475488" cy="475488"/>
          </a:xfrm>
          <a:prstGeom prst="rect">
            <a:avLst/>
          </a:prstGeom>
          <a:noFill/>
          <a:ln/>
        </p:spPr>
        <p:txBody>
          <a:bodyPr wrap="square" lIns="0" tIns="0" rIns="0" bIns="0" rtlCol="0" anchor="ctr"/>
          <a:lstStyle/>
          <a:p>
            <a:pPr algn="ctr" indent="0" marL="0">
              <a:buNone/>
            </a:pPr>
            <a:r>
              <a:rPr lang="en-US" sz="1700" b="1" dirty="0">
                <a:solidFill>
                  <a:srgbClr val="0B1F33"/>
                </a:solidFill>
                <a:latin typeface="Calibri" pitchFamily="34" charset="0"/>
                <a:ea typeface="Calibri" pitchFamily="34" charset="-122"/>
                <a:cs typeface="Calibri" pitchFamily="34" charset="-120"/>
              </a:rPr>
              <a:t>2</a:t>
            </a:r>
            <a:endParaRPr lang="en-US" sz="1700" dirty="0"/>
          </a:p>
        </p:txBody>
      </p:sp>
      <p:sp>
        <p:nvSpPr>
          <p:cNvPr id="12" name="Text 10"/>
          <p:cNvSpPr txBox="1"/>
          <p:nvPr/>
        </p:nvSpPr>
        <p:spPr>
          <a:xfrm>
            <a:off x="5093208" y="1965960"/>
            <a:ext cx="2468880" cy="475488"/>
          </a:xfrm>
          <a:prstGeom prst="rect">
            <a:avLst/>
          </a:prstGeom>
          <a:noFill/>
          <a:ln/>
        </p:spPr>
        <p:txBody>
          <a:bodyPr wrap="square" lIns="0" tIns="0" rIns="0" bIns="0" rtlCol="0" anchor="ctr"/>
          <a:lstStyle/>
          <a:p>
            <a:pPr indent="0" marL="0">
              <a:buNone/>
            </a:pPr>
            <a:r>
              <a:rPr lang="en-US" sz="1900" b="1" dirty="0">
                <a:solidFill>
                  <a:srgbClr val="9A5B00"/>
                </a:solidFill>
                <a:latin typeface="Calibri" pitchFamily="34" charset="0"/>
                <a:ea typeface="Calibri" pitchFamily="34" charset="-122"/>
                <a:cs typeface="Calibri" pitchFamily="34" charset="-120"/>
              </a:rPr>
              <a:t>Deux modes</a:t>
            </a:r>
            <a:endParaRPr lang="en-US" sz="1900" dirty="0"/>
          </a:p>
        </p:txBody>
      </p:sp>
      <p:sp>
        <p:nvSpPr>
          <p:cNvPr id="13" name="Text 11"/>
          <p:cNvSpPr txBox="1"/>
          <p:nvPr/>
        </p:nvSpPr>
        <p:spPr>
          <a:xfrm>
            <a:off x="4480560" y="2560320"/>
            <a:ext cx="301752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Sécurité : immédiat, sans config. Versions : planifié, via dependabot.yml.</a:t>
            </a:r>
            <a:endParaRPr lang="en-US" sz="1400" dirty="0"/>
          </a:p>
        </p:txBody>
      </p:sp>
      <p:sp>
        <p:nvSpPr>
          <p:cNvPr id="14" name="Shape 12"/>
          <p:cNvSpPr/>
          <p:nvPr/>
        </p:nvSpPr>
        <p:spPr>
          <a:xfrm>
            <a:off x="548640" y="3611880"/>
            <a:ext cx="3474720" cy="1645920"/>
          </a:xfrm>
          <a:prstGeom prst="roundRect">
            <a:avLst>
              <a:gd name="adj" fmla="val 4444"/>
            </a:avLst>
          </a:prstGeom>
          <a:solidFill>
            <a:srgbClr val="E2F3F4"/>
          </a:solidFill>
          <a:ln w="12700">
            <a:solidFill>
              <a:srgbClr val="E2F3F4"/>
            </a:solidFill>
            <a:prstDash val="solid"/>
          </a:ln>
        </p:spPr>
      </p:sp>
      <p:sp>
        <p:nvSpPr>
          <p:cNvPr id="15" name="Shape 13"/>
          <p:cNvSpPr/>
          <p:nvPr/>
        </p:nvSpPr>
        <p:spPr>
          <a:xfrm>
            <a:off x="777240" y="3840480"/>
            <a:ext cx="475488" cy="475488"/>
          </a:xfrm>
          <a:prstGeom prst="ellipse">
            <a:avLst/>
          </a:prstGeom>
          <a:solidFill>
            <a:srgbClr val="0E7C86"/>
          </a:solidFill>
          <a:ln w="12700">
            <a:solidFill>
              <a:srgbClr val="0E7C86"/>
            </a:solidFill>
            <a:prstDash val="solid"/>
          </a:ln>
        </p:spPr>
      </p:sp>
      <p:sp>
        <p:nvSpPr>
          <p:cNvPr id="16" name="Text 14"/>
          <p:cNvSpPr txBox="1"/>
          <p:nvPr/>
        </p:nvSpPr>
        <p:spPr>
          <a:xfrm>
            <a:off x="777240" y="38404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txBox="1"/>
          <p:nvPr/>
        </p:nvSpPr>
        <p:spPr>
          <a:xfrm>
            <a:off x="1389888" y="3840480"/>
            <a:ext cx="2468880" cy="475488"/>
          </a:xfrm>
          <a:prstGeom prst="rect">
            <a:avLst/>
          </a:prstGeom>
          <a:noFill/>
          <a:ln/>
        </p:spPr>
        <p:txBody>
          <a:bodyPr wrap="square" lIns="0" tIns="0" rIns="0" bIns="0" rtlCol="0" anchor="ctr"/>
          <a:lstStyle/>
          <a:p>
            <a:pPr indent="0" marL="0">
              <a:buNone/>
            </a:pPr>
            <a:r>
              <a:rPr lang="en-US" sz="1900" b="1" dirty="0">
                <a:solidFill>
                  <a:srgbClr val="0E7C86"/>
                </a:solidFill>
                <a:latin typeface="Calibri" pitchFamily="34" charset="0"/>
                <a:ea typeface="Calibri" pitchFamily="34" charset="-122"/>
                <a:cs typeface="Calibri" pitchFamily="34" charset="-120"/>
              </a:rPr>
              <a:t>Indissociable du CI</a:t>
            </a:r>
            <a:endParaRPr lang="en-US" sz="1900" dirty="0"/>
          </a:p>
        </p:txBody>
      </p:sp>
      <p:sp>
        <p:nvSpPr>
          <p:cNvPr id="18" name="Text 16"/>
          <p:cNvSpPr txBox="1"/>
          <p:nvPr/>
        </p:nvSpPr>
        <p:spPr>
          <a:xfrm>
            <a:off x="777240" y="4434840"/>
            <a:ext cx="301752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Chaque PR est testée par le pipeline ; l'équipe décide du merge.</a:t>
            </a:r>
            <a:endParaRPr lang="en-US" sz="1400" dirty="0"/>
          </a:p>
        </p:txBody>
      </p:sp>
      <p:sp>
        <p:nvSpPr>
          <p:cNvPr id="19" name="Shape 17"/>
          <p:cNvSpPr/>
          <p:nvPr/>
        </p:nvSpPr>
        <p:spPr>
          <a:xfrm>
            <a:off x="4251960" y="3611880"/>
            <a:ext cx="3474720" cy="1645920"/>
          </a:xfrm>
          <a:prstGeom prst="roundRect">
            <a:avLst>
              <a:gd name="adj" fmla="val 4444"/>
            </a:avLst>
          </a:prstGeom>
          <a:solidFill>
            <a:srgbClr val="E5F4EA"/>
          </a:solidFill>
          <a:ln w="12700">
            <a:solidFill>
              <a:srgbClr val="E5F4EA"/>
            </a:solidFill>
            <a:prstDash val="solid"/>
          </a:ln>
        </p:spPr>
      </p:sp>
      <p:sp>
        <p:nvSpPr>
          <p:cNvPr id="20" name="Shape 18"/>
          <p:cNvSpPr/>
          <p:nvPr/>
        </p:nvSpPr>
        <p:spPr>
          <a:xfrm>
            <a:off x="4480560" y="3840480"/>
            <a:ext cx="475488" cy="475488"/>
          </a:xfrm>
          <a:prstGeom prst="ellipse">
            <a:avLst/>
          </a:prstGeom>
          <a:solidFill>
            <a:srgbClr val="2E9E55"/>
          </a:solidFill>
          <a:ln w="12700">
            <a:solidFill>
              <a:srgbClr val="2E9E55"/>
            </a:solidFill>
            <a:prstDash val="solid"/>
          </a:ln>
        </p:spPr>
      </p:sp>
      <p:sp>
        <p:nvSpPr>
          <p:cNvPr id="21" name="Text 19"/>
          <p:cNvSpPr txBox="1"/>
          <p:nvPr/>
        </p:nvSpPr>
        <p:spPr>
          <a:xfrm>
            <a:off x="4480560" y="38404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2" name="Text 20"/>
          <p:cNvSpPr txBox="1"/>
          <p:nvPr/>
        </p:nvSpPr>
        <p:spPr>
          <a:xfrm>
            <a:off x="5093208" y="3840480"/>
            <a:ext cx="2468880" cy="475488"/>
          </a:xfrm>
          <a:prstGeom prst="rect">
            <a:avLst/>
          </a:prstGeom>
          <a:noFill/>
          <a:ln/>
        </p:spPr>
        <p:txBody>
          <a:bodyPr wrap="square" lIns="0" tIns="0" rIns="0" bIns="0" rtlCol="0" anchor="ctr"/>
          <a:lstStyle/>
          <a:p>
            <a:pPr indent="0" marL="0">
              <a:buNone/>
            </a:pPr>
            <a:r>
              <a:rPr lang="en-US" sz="1900" b="1" dirty="0">
                <a:solidFill>
                  <a:srgbClr val="1F7A3D"/>
                </a:solidFill>
                <a:latin typeface="Calibri" pitchFamily="34" charset="0"/>
                <a:ea typeface="Calibri" pitchFamily="34" charset="-122"/>
                <a:cs typeface="Calibri" pitchFamily="34" charset="-120"/>
              </a:rPr>
              <a:t>Se règle</a:t>
            </a:r>
            <a:endParaRPr lang="en-US" sz="1900" dirty="0"/>
          </a:p>
        </p:txBody>
      </p:sp>
      <p:sp>
        <p:nvSpPr>
          <p:cNvPr id="23" name="Text 21"/>
          <p:cNvSpPr txBox="1"/>
          <p:nvPr/>
        </p:nvSpPr>
        <p:spPr>
          <a:xfrm>
            <a:off x="4480560" y="4434840"/>
            <a:ext cx="3017520"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groups, ignore, limite de PR, cooldown : moins de bruit, moins de risque.</a:t>
            </a:r>
            <a:endParaRPr lang="en-US" sz="1400" dirty="0"/>
          </a:p>
        </p:txBody>
      </p:sp>
      <p:sp>
        <p:nvSpPr>
          <p:cNvPr id="24" name="Shape 22"/>
          <p:cNvSpPr/>
          <p:nvPr/>
        </p:nvSpPr>
        <p:spPr>
          <a:xfrm>
            <a:off x="8092440" y="1737360"/>
            <a:ext cx="3547872" cy="3520440"/>
          </a:xfrm>
          <a:prstGeom prst="roundRect">
            <a:avLst>
              <a:gd name="adj" fmla="val 2078"/>
            </a:avLst>
          </a:prstGeom>
          <a:solidFill>
            <a:srgbClr val="FFFFFF"/>
          </a:solidFill>
          <a:ln w="15875">
            <a:solidFill>
              <a:srgbClr val="C7353F"/>
            </a:solidFill>
            <a:prstDash val="solid"/>
          </a:ln>
        </p:spPr>
      </p:sp>
      <p:pic>
        <p:nvPicPr>
          <p:cNvPr id="25" name="Image 0" descr="preencoded.png">    </p:cNvPr>
          <p:cNvPicPr>
            <a:picLocks noChangeAspect="1"/>
          </p:cNvPicPr>
          <p:nvPr/>
        </p:nvPicPr>
        <p:blipFill>
          <a:blip r:embed="rId1"/>
          <a:stretch>
            <a:fillRect/>
          </a:stretch>
        </p:blipFill>
        <p:spPr>
          <a:xfrm>
            <a:off x="8321040" y="1965960"/>
            <a:ext cx="365760" cy="365760"/>
          </a:xfrm>
          <a:prstGeom prst="rect">
            <a:avLst/>
          </a:prstGeom>
        </p:spPr>
      </p:pic>
      <p:sp>
        <p:nvSpPr>
          <p:cNvPr id="26" name="Text 23"/>
          <p:cNvSpPr txBox="1"/>
          <p:nvPr/>
        </p:nvSpPr>
        <p:spPr>
          <a:xfrm>
            <a:off x="8805672" y="1938528"/>
            <a:ext cx="2651760" cy="420624"/>
          </a:xfrm>
          <a:prstGeom prst="rect">
            <a:avLst/>
          </a:prstGeom>
          <a:noFill/>
          <a:ln/>
        </p:spPr>
        <p:txBody>
          <a:bodyPr wrap="square" lIns="0" tIns="0" rIns="0" bIns="0" rtlCol="0" anchor="ctr"/>
          <a:lstStyle/>
          <a:p>
            <a:pPr indent="0" marL="0">
              <a:buNone/>
            </a:pPr>
            <a:r>
              <a:rPr lang="en-US" sz="1800" b="1" dirty="0">
                <a:solidFill>
                  <a:srgbClr val="C7353F"/>
                </a:solidFill>
                <a:latin typeface="Calibri" pitchFamily="34" charset="0"/>
                <a:ea typeface="Calibri" pitchFamily="34" charset="-122"/>
                <a:cs typeface="Calibri" pitchFamily="34" charset="-120"/>
              </a:rPr>
              <a:t>Points de vigilance</a:t>
            </a:r>
            <a:endParaRPr lang="en-US" sz="1800" dirty="0"/>
          </a:p>
        </p:txBody>
      </p:sp>
      <p:sp>
        <p:nvSpPr>
          <p:cNvPr id="27" name="Text 24"/>
          <p:cNvSpPr txBox="1"/>
          <p:nvPr/>
        </p:nvSpPr>
        <p:spPr>
          <a:xfrm>
            <a:off x="8321040" y="2514600"/>
            <a:ext cx="3136392" cy="2606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F2933"/>
                </a:solidFill>
                <a:latin typeface="Calibri" pitchFamily="34" charset="0"/>
                <a:ea typeface="Calibri" pitchFamily="34" charset="-122"/>
                <a:cs typeface="Calibri" pitchFamily="34" charset="-120"/>
              </a:rPr>
              <a:t>Bruit de PR</a:t>
            </a:r>
            <a:endParaRPr lang="en-US" sz="1350" dirty="0"/>
          </a:p>
          <a:p>
            <a:pPr marL="342900" indent="-342900">
              <a:spcAft>
                <a:spcPts val="700"/>
              </a:spcAft>
              <a:buSzPct val="100000"/>
              <a:buChar char="•"/>
            </a:pPr>
            <a:r>
              <a:rPr lang="en-US" sz="1350" dirty="0">
                <a:solidFill>
                  <a:srgbClr val="1F2933"/>
                </a:solidFill>
                <a:latin typeface="Calibri" pitchFamily="34" charset="0"/>
                <a:ea typeface="Calibri" pitchFamily="34" charset="-122"/>
                <a:cs typeface="Calibri" pitchFamily="34" charset="-120"/>
              </a:rPr>
              <a:t>Mises à jour cassantes, même de sécurité</a:t>
            </a:r>
            <a:endParaRPr lang="en-US" sz="1350" dirty="0"/>
          </a:p>
          <a:p>
            <a:pPr marL="342900" indent="-342900">
              <a:spcAft>
                <a:spcPts val="700"/>
              </a:spcAft>
              <a:buSzPct val="100000"/>
              <a:buChar char="•"/>
            </a:pPr>
            <a:r>
              <a:rPr lang="en-US" sz="1350" dirty="0">
                <a:solidFill>
                  <a:srgbClr val="1F2933"/>
                </a:solidFill>
                <a:latin typeface="Calibri" pitchFamily="34" charset="0"/>
                <a:ea typeface="Calibri" pitchFamily="34" charset="-122"/>
                <a:cs typeface="Calibri" pitchFamily="34" charset="-120"/>
              </a:rPr>
              <a:t>Alertes pas toujours pertinentes</a:t>
            </a:r>
            <a:endParaRPr lang="en-US" sz="1350" dirty="0"/>
          </a:p>
          <a:p>
            <a:pPr marL="342900" indent="-342900">
              <a:spcAft>
                <a:spcPts val="700"/>
              </a:spcAft>
              <a:buSzPct val="100000"/>
              <a:buChar char="•"/>
            </a:pPr>
            <a:r>
              <a:rPr lang="en-US" sz="1350" dirty="0">
                <a:solidFill>
                  <a:srgbClr val="1F2933"/>
                </a:solidFill>
                <a:latin typeface="Calibri" pitchFamily="34" charset="0"/>
                <a:ea typeface="Calibri" pitchFamily="34" charset="-122"/>
                <a:cs typeface="Calibri" pitchFamily="34" charset="-120"/>
              </a:rPr>
              <a:t>Couverture partielle : CDN, code copié, zero-day</a:t>
            </a:r>
            <a:endParaRPr lang="en-US" sz="1350" dirty="0"/>
          </a:p>
          <a:p>
            <a:pPr marL="342900" indent="-342900">
              <a:spcAft>
                <a:spcPts val="700"/>
              </a:spcAft>
              <a:buSzPct val="100000"/>
              <a:buChar char="•"/>
            </a:pPr>
            <a:r>
              <a:rPr lang="en-US" sz="1350" dirty="0">
                <a:solidFill>
                  <a:srgbClr val="1F2933"/>
                </a:solidFill>
                <a:latin typeface="Calibri" pitchFamily="34" charset="0"/>
                <a:ea typeface="Calibri" pitchFamily="34" charset="-122"/>
                <a:cs typeface="Calibri" pitchFamily="34" charset="-120"/>
              </a:rPr>
              <a:t>Versions piégées : axios compromis le 31/03/2026 → attente de 3 jours par défaut</a:t>
            </a:r>
            <a:endParaRPr lang="en-US" sz="1350" dirty="0"/>
          </a:p>
        </p:txBody>
      </p:sp>
      <p:sp>
        <p:nvSpPr>
          <p:cNvPr id="28" name="Text 25"/>
          <p:cNvSpPr txBox="1"/>
          <p:nvPr/>
        </p:nvSpPr>
        <p:spPr>
          <a:xfrm>
            <a:off x="548640" y="5577840"/>
            <a:ext cx="7315200" cy="548640"/>
          </a:xfrm>
          <a:prstGeom prst="rect">
            <a:avLst/>
          </a:prstGeom>
          <a:noFill/>
          <a:ln/>
        </p:spPr>
        <p:txBody>
          <a:bodyPr wrap="square" lIns="0" tIns="0" rIns="0" bIns="0" rtlCol="0" anchor="ctr"/>
          <a:lstStyle/>
          <a:p>
            <a:pPr indent="0" marL="0">
              <a:buNone/>
            </a:pPr>
            <a:r>
              <a:rPr lang="en-US" sz="2600" b="1" dirty="0">
                <a:solidFill>
                  <a:srgbClr val="0B1F33"/>
                </a:solidFill>
                <a:latin typeface="Calibri" pitchFamily="34" charset="0"/>
                <a:ea typeface="Calibri" pitchFamily="34" charset="-122"/>
                <a:cs typeface="Calibri" pitchFamily="34" charset="-120"/>
              </a:rPr>
              <a:t>Merci ! Des questions ?</a:t>
            </a:r>
            <a:endParaRPr lang="en-US" sz="2600" dirty="0"/>
          </a:p>
        </p:txBody>
      </p:sp>
      <p:sp>
        <p:nvSpPr>
          <p:cNvPr id="29" name="Text 26"/>
          <p:cNvSpPr txBox="1"/>
          <p:nvPr/>
        </p:nvSpPr>
        <p:spPr>
          <a:xfrm>
            <a:off x="548640" y="6419088"/>
            <a:ext cx="5486400" cy="256032"/>
          </a:xfrm>
          <a:prstGeom prst="rect">
            <a:avLst/>
          </a:prstGeom>
          <a:noFill/>
          <a:ln/>
        </p:spPr>
        <p:txBody>
          <a:bodyPr wrap="square" lIns="0" tIns="0" rIns="0" bIns="0" rtlCol="0" anchor="ctr"/>
          <a:lstStyle/>
          <a:p>
            <a:pPr indent="0" marL="0">
              <a:buNone/>
            </a:pPr>
            <a:r>
              <a:rPr lang="en-US" sz="1000" dirty="0">
                <a:solidFill>
                  <a:srgbClr val="5B6B7B"/>
                </a:solidFill>
                <a:latin typeface="Calibri" pitchFamily="34" charset="0"/>
                <a:ea typeface="Calibri" pitchFamily="34" charset="-122"/>
                <a:cs typeface="Calibri" pitchFamily="34" charset="-120"/>
              </a:rPr>
              <a:t>Dependabot · Cours DevOps · M1 SIGLIS</a:t>
            </a:r>
            <a:endParaRPr lang="en-US" sz="1000" dirty="0"/>
          </a:p>
        </p:txBody>
      </p:sp>
      <p:sp>
        <p:nvSpPr>
          <p:cNvPr id="30" name="Text 2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1000" dirty="0">
                <a:solidFill>
                  <a:srgbClr val="5B6B7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Dependabot</dc:title>
  <dc:subject>PptxGenJS Presentation</dc:subject>
  <dc:creator>Binôme M1 SIGLIS</dc:creator>
  <cp:lastModifiedBy>Binôme M1 SIGLIS</cp:lastModifiedBy>
  <cp:revision>1</cp:revision>
  <dcterms:created xsi:type="dcterms:W3CDTF">2026-09-25T13:58:38Z</dcterms:created>
  <dcterms:modified xsi:type="dcterms:W3CDTF">2026-09-25T13:58:38Z</dcterms:modified>
</cp:coreProperties>
</file>